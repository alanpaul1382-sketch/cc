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Calibri"/>
              </a:defRPr>
            </a:pPr>
            <a:r>
              <a:t>Emerging Technologies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Nanyang Polytechnic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3840480"/>
            <a:ext cx="3017520" cy="54864"/>
          </a:xfrm>
          <a:prstGeom prst="rect">
            <a:avLst/>
          </a:prstGeom>
          <a:solidFill>
            <a:srgbClr val="007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2F2F2"/>
                </a:solidFill>
                <a:latin typeface="Calibri"/>
              </a:defRPr>
            </a:pPr>
            <a:r>
              <a:t>Team Proposal  •  February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2F2F2"/>
                </a:solidFill>
                <a:latin typeface="Calibri"/>
              </a:defRPr>
            </a:pPr>
            <a:r>
              <a:t>Clifton (AI)  •  Collin (VR/AR)  •  Alex (5G &amp; Edge)  •  Declan (Blockchain)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2F2F2"/>
                </a:solidFill>
                <a:latin typeface="Calibri"/>
              </a:defRPr>
            </a:pPr>
            <a:r>
              <a:t>Sector: Education  |  Organisation: Nanyang Polytechnic (NYP)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Executive Summary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Organisation Overview &amp; Value Chain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Current Problems &amp; Challenges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Market Size &amp; Revenue Potential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Emerging Technology Solutions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    →  Artificial Intelligence (AI)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    →  Immersive Media (VR/AR)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    →  5G &amp; Edge Computing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    →  Blockchain Certificate Verification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Implementation Roadmap &amp; Technology Synergy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Conclusion &amp; Recommendations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7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NYP serves ~15,000 full-time students and thousands of CET learners annually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Four emerging technologies mapped to NYP's educational value chain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AI: Reduce admin costs by SGD 2–4M/yr; improve retention by 10–15%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VR/AR: Expand training capacity; generate SGD 2–5M/yr B2B licensing revenue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5G &amp; Edge: Smart-campus backbone; lower energy costs by 10–15%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Blockchain: Credential verification in seconds; cut manual labour by 50–70%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Total Year-1 investment: SGD 8.8–17.1M; projected returns: SGD 10.5–23M/yr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Breakeven within 1–2 years for most initiatives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7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Organisation Overview — Nanyang Polytechnic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One of Singapore's five government-funded polytechnics (est. 1992)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Located in Ang Mo Kio, Singapore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~15,000 full-time students + thousands of part-time/CET learners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Six schools: IT, Engineering, Business, Design &amp; Media, Health &amp; Social Sciences, Applied Science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Mission: Nurture industry-ready professionals through practice-oriented education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Annual operating budget: est. SGD 200–300M (MOE-funded)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7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NYP's Educational Value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BC0"/>
                </a:solidFill>
                <a:latin typeface="Calibri"/>
              </a:defRPr>
            </a:pPr>
            <a:r>
              <a:t>End-to-end activities delivering value to students, employers &amp; government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Student Recruitment &amp; Admissions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Curriculum Design &amp; Development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Teaching &amp; Learning Delivery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Student Support Services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Assessment &amp; Certification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Industry Partnerships &amp; Internships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Continuing Education &amp; Training (CET)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Campus Operations &amp; Infrastructure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7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Current Problems &amp;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BC0"/>
                </a:solidFill>
                <a:latin typeface="Calibri"/>
              </a:defRPr>
            </a:pPr>
            <a:r>
              <a:t>Teaching &amp;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Scalability of personalised learning (large class sizes)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Limited hands-on training opportunities (physical lab constraints)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Campus connectivity &amp; infrastructure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BC0"/>
                </a:solidFill>
                <a:latin typeface="Calibri"/>
              </a:defRPr>
            </a:pPr>
            <a:r>
              <a:t>Credentials &amp; Competition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Certificate fraud &amp; verification delays (3–10 working days)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Rising competition among polytechnics &amp; universities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Environmental &amp; sustainability concerns (SG Green Plan 2030)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7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Market Size &amp; Revenue Potential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BC0"/>
                </a:solidFill>
                <a:latin typeface="Calibri"/>
              </a:defRPr>
            </a:pPr>
            <a:r>
              <a:t>Revenue streams: AI-powered CET courses, VR content licensing, blockchain verification, smart-campus consulting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SG government allocates ~SGD 13B/yr to education (~15–20% of national budget)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Five polytechnics collectively enrol ~70,000 full-time students; NYP holds ~21% share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Global EdTech market: USD 340B (2024) → USD 605B by 2027 (16% CAGR)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Asia-Pacific EdTech: USD 115B (2024), growing at ~18% CAGR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Singapore EdTech: SGD 1.5–2B, driven by SkillsFuture &amp; IMDA initiatives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7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Artificial Intelligence (AI) — Clifton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BC0"/>
                </a:solidFill>
                <a:latin typeface="Calibri"/>
              </a:defRPr>
            </a:pPr>
            <a:r>
              <a:t>Key AI Applications for NYP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2B5C"/>
                </a:solidFill>
                <a:latin typeface="Calibri"/>
              </a:defRPr>
            </a:pPr>
            <a:r>
              <a:t>Adaptive Learning Platforms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Personalise learning paths; identify at-risk students early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2B5C"/>
                </a:solidFill>
                <a:latin typeface="Calibri"/>
              </a:defRPr>
            </a:pPr>
            <a:r>
              <a:t>AI Chatbots &amp; Virtual Assistants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24/7 student support; reduce admin workload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0233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2B5C"/>
                </a:solidFill>
                <a:latin typeface="Calibri"/>
              </a:defRPr>
            </a:pPr>
            <a:r>
              <a:t>Automated Assessment &amp; Feedback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89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NLP-based grading; auto-grade coding assignments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2B5C"/>
                </a:solidFill>
                <a:latin typeface="Calibri"/>
              </a:defRPr>
            </a:pPr>
            <a:r>
              <a:t>Predictive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394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Forecast student success; target interventions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7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AI — Impact &amp; ROI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BC0"/>
                </a:solidFill>
                <a:latin typeface="Calibri"/>
              </a:defRPr>
            </a:pPr>
            <a:r>
              <a:t>Benefits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Improve student retention by 10–15%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Reduce admin costs by SGD 2–4M/year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New CET revenue: SGD 5–10M/year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Personalised 24/7 learning &amp; support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Enhanced competitive positioning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BC0"/>
                </a:solidFill>
                <a:latin typeface="Calibri"/>
              </a:defRPr>
            </a:pPr>
            <a:r>
              <a:t>Financials &amp; Challenges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Year-1 investment: SGD 2.5–5M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Breakeven in Year 2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Five-year net return: ~SGD 15.6M (226% ROI)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Challenges: data privacy (PDPA), change management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Integration with existing LMS &amp; IT systems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7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Immersive Media (VR/AR) — Collin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BC0"/>
                </a:solidFill>
                <a:latin typeface="Calibri"/>
              </a:defRPr>
            </a:pPr>
            <a:r>
              <a:t>Key VR/AR Applications for NYP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2B5C"/>
                </a:solidFill>
                <a:latin typeface="Calibri"/>
              </a:defRPr>
            </a:pPr>
            <a:r>
              <a:t>Virtual Laboratories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Safe, repeatable lab simulations for engineering, healthcare &amp; sciences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2B5C"/>
                </a:solidFill>
                <a:latin typeface="Calibri"/>
              </a:defRPr>
            </a:pPr>
            <a:r>
              <a:t>Immersive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3D overlays of anatomy, architecture, machine components via 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0233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2B5C"/>
                </a:solidFill>
                <a:latin typeface="Calibri"/>
              </a:defRPr>
            </a:pPr>
            <a:r>
              <a:t>Virtual Campus Tours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89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Attract local &amp; international students with 360° campus experiences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2B5C"/>
                </a:solidFill>
                <a:latin typeface="Calibri"/>
              </a:defRPr>
            </a:pPr>
            <a:r>
              <a:t>Industry Training Simulations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394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Aviation, construction &amp; hospitality VR training for CET / B2B licensing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7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VR/AR — Impact &amp; ROI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BC0"/>
                </a:solidFill>
                <a:latin typeface="Calibri"/>
              </a:defRPr>
            </a:pPr>
            <a:r>
              <a:t>Benefits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Expand practical training beyond physical lab limits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Reduce equipment maintenance costs by 15–25%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75% better knowledge retention vs. traditional methods (PwC)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B2B licensing revenue: SGD 2–5M/year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Enhanced student recruitment via virtual tours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BC0"/>
                </a:solidFill>
                <a:latin typeface="Calibri"/>
              </a:defRPr>
            </a:pPr>
            <a:r>
              <a:t>Financials &amp; Challenges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Year-1 investment: SGD 2.3–4.6M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Breakeven in Year 2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Five-year net return: ~SGD 10.3M (198% ROI)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Challenges: high initial cost, content development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Motion sickness, hardware refresh every 2–3 years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7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5G &amp; Edge Computing — Alex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BC0"/>
                </a:solidFill>
                <a:latin typeface="Calibri"/>
              </a:defRPr>
            </a:pPr>
            <a:r>
              <a:t>Key 5G / Edge Applications for NYP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2B5C"/>
                </a:solidFill>
                <a:latin typeface="Calibri"/>
              </a:defRPr>
            </a:pPr>
            <a:r>
              <a:t>Smart Campus 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IoT sensors, smart energy management, parking &amp; navigation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2B5C"/>
                </a:solidFill>
                <a:latin typeface="Calibri"/>
              </a:defRPr>
            </a:pPr>
            <a:r>
              <a:t>Enhanced Online &amp; Hybrid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4K/8K streaming, real-time collaboration, remote lab access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0233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2B5C"/>
                </a:solidFill>
                <a:latin typeface="Calibri"/>
              </a:defRPr>
            </a:pPr>
            <a:r>
              <a:t>Enabler for VR/AR &amp;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89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High-bandwidth low-latency backbone for immersive &amp; AI workloads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2B5C"/>
                </a:solidFill>
                <a:latin typeface="Calibri"/>
              </a:defRPr>
            </a:pPr>
            <a:r>
              <a:t>Campus Security &amp; Safety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394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AI-powered surveillance, automated access control, emergency alerts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7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5G &amp; Edge Computing — Impact &amp; ROI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BC0"/>
                </a:solidFill>
                <a:latin typeface="Calibri"/>
              </a:defRPr>
            </a:pPr>
            <a:r>
              <a:t>Benefits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Modernised campus infrastructure for next-gen apps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10–15% energy cost savings via smart building management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Foundation for VR/AR, AI, and IoT initiatives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Improved campus safety &amp; security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Students gain hands-on 5G experience (employability)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BC0"/>
                </a:solidFill>
                <a:latin typeface="Calibri"/>
              </a:defRPr>
            </a:pPr>
            <a:r>
              <a:t>Financials &amp; Challenges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Year-1 investment: SGD 3–5.5M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Breakeven in Year 3–4 (infrastructure investment)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Five-year net return: ~SGD 4.8M (67% ROI)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Challenges: high infra costs, spectrum allocation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Cybersecurity risks, technical expertise needed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7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Blockchain Certificate Verification — Declan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BC0"/>
                </a:solidFill>
                <a:latin typeface="Calibri"/>
              </a:defRPr>
            </a:pPr>
            <a:r>
              <a:t>Key Blockchain Applications for NYP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2B5C"/>
                </a:solidFill>
                <a:latin typeface="Calibri"/>
              </a:defRPr>
            </a:pPr>
            <a:r>
              <a:t>Digital Diploma Issuance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Cryptographically signed certificates on blockchain; instant employer 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2B5C"/>
                </a:solidFill>
                <a:latin typeface="Calibri"/>
              </a:defRPr>
            </a:pPr>
            <a:r>
              <a:t>Micro-Credentials &amp; Skill Badges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Stackable, verifiable skill badges (Python, Data Analysis, etc.) on LinkedIn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0233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2B5C"/>
                </a:solidFill>
                <a:latin typeface="Calibri"/>
              </a:defRPr>
            </a:pPr>
            <a:r>
              <a:t>Streamlined Verification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89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Verification in seconds vs. 3–10 working days; zero manual processing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2B5C"/>
                </a:solidFill>
                <a:latin typeface="Calibri"/>
              </a:defRPr>
            </a:pPr>
            <a:r>
              <a:t>Academic Record Management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394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Tamper-proof transcripts; selective sharing; cross-institution credit transfer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7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Blockchain — Impact &amp; ROI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BC0"/>
                </a:solidFill>
                <a:latin typeface="Calibri"/>
              </a:defRPr>
            </a:pPr>
            <a:r>
              <a:t>Benefits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Eliminate manual verification workload (50–70% labour cut)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Tamper-proof credentials; protect institutional reputation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Align with SG OpenCerts &amp; Smart Nation initiatives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Portable, cross-border credentials for graduates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Employers verify in seconds, not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BC0"/>
                </a:solidFill>
                <a:latin typeface="Calibri"/>
              </a:defRPr>
            </a:pPr>
            <a:r>
              <a:t>Financials &amp; Challenges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Year-1 investment: SGD 1–2M (lowest of all four)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Breakeven in Year 3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Five-year net return: ~SGD 1.59M (88% ROI)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Challenges: stakeholder adoption, interoperability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User education for students, staff &amp; employers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7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Consolidated Investment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3716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Year-1 Investment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13716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Annual Returns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9" y="13716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Five-Year 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13716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Breakeven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371600"/>
            <a:ext cx="11155680" cy="457200"/>
          </a:xfrm>
          <a:prstGeom prst="rect">
            <a:avLst/>
          </a:prstGeom>
          <a:solidFill>
            <a:srgbClr val="007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173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Technology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14173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Year-1 Investment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14173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Annual Returns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9" y="14173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Five-Year Net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14173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Breakeven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1920240"/>
            <a:ext cx="11155680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9659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AI (Clifton)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19659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SGD 2.5–5M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19659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SGD 5–10M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19659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SGD 15.6M (226%)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19659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Year 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423160"/>
            <a:ext cx="11155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4688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VR/AR (Collin)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24688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SGD 2.3–4.6M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24688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SGD 2–5M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199" y="24688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SGD 10.3M (198%)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24688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Year 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2926080"/>
            <a:ext cx="11155680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29718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5G &amp; Edge (Alex)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0" y="29718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SGD 3–5.5M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0" y="29718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SGD 1.5–3M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199" y="29718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SGD 4.8M (67%)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09760" y="29718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Year 3–4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429000"/>
            <a:ext cx="11155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3474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Blockchain (Declan)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6080" y="3474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SGD 1–2M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0" y="3474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SGD 0.5–1M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199" y="3474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SGD 1.59M (88%)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09760" y="3474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Year 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931920"/>
            <a:ext cx="11155680" cy="4572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39776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TOTAL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26080" y="39776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SGD 8.8–17.1M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0640" y="39776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SGD 10.5–23M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199" y="39776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SGD 32.3M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9760" y="39776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Year 1–2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7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Three-Phase Implementation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155680" cy="457200"/>
          </a:xfrm>
          <a:prstGeom prst="rect">
            <a:avLst/>
          </a:prstGeom>
          <a:solidFill>
            <a:srgbClr val="007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Phase 1 — Year 1: 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 Deploy AI chatbot for student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6771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 Implement blockchain credentials (OpenCerts)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1518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 Begin 5G infrastructure planning &amp; 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6265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 Develop first VR lab prototypes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447288"/>
            <a:ext cx="11155680" cy="457200"/>
          </a:xfrm>
          <a:prstGeom prst="rect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4930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Phase 2 — Year 2: Expansion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995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 Scale AI adaptive learning across all schools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3434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 Launch 10+ VR virtual labs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69087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 Deploy 5G campus-wide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03834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 Expand blockchain to micro-credentials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522976"/>
            <a:ext cx="11155680" cy="4572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5686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Phase 3 — Year 3: Optimisation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607161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 Integrate all tech into cohesive smart-campus ecosystem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641908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 Monetise VR content &amp; blockchain verification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67665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 Comprehensive ROI evaluation &amp; strategy adjustment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7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Technology Synergy Ecosystem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BC0"/>
                </a:solidFill>
                <a:latin typeface="Calibri"/>
              </a:defRPr>
            </a:pPr>
            <a:r>
              <a:t>The four technologies reinforce one another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5G enables VR/AR — high-bandwidth, low-latency connectivity is essential for immersive experiences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AI enhances VR/AR — personalises VR/AR learning scenarios based on student performance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Blockchain secures AI-issued credentials — ensures integrity of AI-generated evaluations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Edge Computing supports all — low-latency processing for AI inference, VR rendering &amp; IoT data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Coordinated adoption creates a cohesive smart-campus ecosystem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7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Conclusion &amp;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Four technologies address NYP's core challenges across the entire value chain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Combined five-year net return of ~SGD 32.3M on SGD 8.8–17.1M investment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Phased three-year roadmap manages risk with quick wins first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Technology synergies create a multiplier effect on ROI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Positions NYP as Singapore's leading polytechnic in the digital age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 Recommendation: Approve Phase 1 funding and initiate pilot programmes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7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3383280"/>
            <a:ext cx="3017520" cy="54864"/>
          </a:xfrm>
          <a:prstGeom prst="rect">
            <a:avLst/>
          </a:prstGeom>
          <a:solidFill>
            <a:srgbClr val="007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2F2F2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2F2F2"/>
                </a:solidFill>
                <a:latin typeface="Calibri"/>
              </a:defRPr>
            </a:pPr>
            <a:r>
              <a:t>Clifton  •  Collin  •  Alex  •  Declan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