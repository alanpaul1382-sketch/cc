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Emerging Technologies for Nanyang Polytechnic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CCDD"/>
                </a:solidFill>
                <a:latin typeface="Calibri"/>
              </a:defRPr>
            </a:pPr>
            <a:r>
              <a:t>Competency Unit: Emerging Technologies in the Digital Economy</a:t>
            </a:r>
            <a:br/>
            <a:r>
              <a:t>Organization: Nanyang Polytechnic (NYP)  •  Sector: Education</a:t>
            </a:r>
            <a:br/>
            <a:r>
              <a:t>Team: Clifton (AI) • Collin (VR/AR) • Alex (5G &amp; Edge) • Declan (Blockchain)</a:t>
            </a:r>
            <a:br/>
            <a:r>
              <a:t>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1.  Executive Summary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2.  Organization Overview &amp; Value Chain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3.  Current Problems and Challenges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4.  Market Size &amp; Potential Revenue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5.  Technology Solutions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a) Artificial Intelligence (AI) — Clifton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b) Immersive Media (VR/AR) — Collin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c) 5G and Edge Computing — Alex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d) Blockchain-Based Certificate Verification — Declan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6.  Consolidated Investment &amp; ROI Summary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7.  Three-Phase Implementation Roadmap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8.  Technology Synergy Ecosystem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9. 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A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NYP serves ~15,000 full-time students and thousands of CET learners annually.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Four emerging technologies are proposed to address NYP's pressing challenges: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AI — Adaptive learning &amp; predictive analytics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VR/AR — Virtual labs &amp; immersive training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5G &amp; Edge Computing — Smart campus backbone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Blockchain — Tamper-proof digital credentialing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Total Year 1 investment: SGD 8.8–17.1 million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Projected annual returns: SGD 10.5–23 million (revenue + cost savings)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Breakeven within 1–2 years for most initiatives.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 phased 3-year implementation roadmap manages risk &amp; maximises synergies.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A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Organization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About Nanyang Polytechnic (NYP)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Established 1992  •  Located in Ang Mo Kio, Singapore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One of Singapore's five government-funded polytechnics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~15,000 full-time students; thousands of CET learners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6 Schools: IT, Engineering, Business, Design &amp; Media, Health &amp; Social Sciences, Applied Science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Mission: Nurture industry-ready professionals through practice-oriented education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Annual operating budget: ~SGD 200–300 million (MOE-funded)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NYP's Educational Value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1.  Student Recruitment &amp; Admissions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2.  Curriculum Design &amp; Development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3.  Teaching &amp; Learning Delivery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4.  Student Support Services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5.  Assessment &amp; Certification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6.  Industry Partnerships &amp; Internships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7.  Continuing Education &amp; Training (CET)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8.  Campus Operations &amp; Infrastructure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Each value-chain activity is an opportunity for technology-driven improvement.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A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Current Problems &amp; Challenges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Key Challenges Facing NYP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1.  Scalability of Personalized Learning — large class sizes, diverse student needs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2.  Limited Hands-On Training — costly physical labs, limited scheduling, COVID risk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3.  Campus Connectivity Limitations — bandwidth congestion, IoT device growth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4.  Certificate Fraud &amp; Verification Delays — manual process, 3–10 working days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5.  Rising Competition — 5 polytechnics + universities + private institutions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6.  Environmental &amp; Sustainability Concerns — carbon footprint, Singapore Green Plan 2030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A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Market Size &amp; Potential Revenue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Market Size &amp; Revenue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Education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SG govt allocates ~SGD 13B/year to education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Polytechnic sector: ~70,000 students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NYP's share: ~21% of polytechnic market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Global EdTech: USD 340B (2024) → USD 605B (2027)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Asia-Pacific EdTech: USD 115B, ~18% CAGR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SG EdTech: SGD 1.5–2B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Revenue Streams for NYP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AI-powered CET courses: SGD 5–10M/year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VR/AR B2B content licensing: SGD 2–5M/year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5G/IoT testbed partnerships: SGD 1–2M/year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Blockchain verification services: SGD 0.5–1M/year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Cost savings through automation (AI): SGD 2–4M/year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Smart energy management savings: 10–15%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A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Technology 1: Artificial Intelligence (AI) — Clifton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AI — How It Improves NYP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a) Adaptive Learning Platforms — personalized paths, real-time difficulty adjustment,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early at-risk student identification (e.g., DreamBox, Knewton)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b) AI Chatbots &amp; Virtual Assistants — 24/7 student support, reduced admin workload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(e.g., Georgia State Univ. "Pounce" reduced enrollment melt by 21%)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c) Automated Assessment &amp; Feedback — NLP-based essay grading, auto-graded coding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d) Predictive Analytics — attendance/grades/engagement data → targeted interventions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AI — Impacts, Benefits &amp;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Student retention improvement: 10–15%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Admin cost reduction: SGD 2–4M/year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New CET revenue: SGD 5–10M/year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24/7 chatbot support for students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Faster assignment feedback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AI-powered career guidance / job matching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Cost-Benefit &amp; ROI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Year 1 investment: ~SGD 4.5–6.5M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Breakeven in Year 2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5-year net return: ~SGD 15.6M (226% ROI)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Key challenges: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PDPA data privacy compliance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Change management for lecturers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Data quality &amp; governance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Integration with existing LMS/IT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A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Technology 2: Immersive Media (VR/AR) — Collin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VR/AR — How It Improves NYP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a) Virtual Laboratories — safe, repeatable experiments (engineering, healthcare, science)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(e.g., Labster — 3,000+ institutions, 200+ virtual lab experiments)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b) Immersive Learning — AR overlays of 3D models (anatomy, architecture, machines)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(e.g., Microsoft HoloLens in medical schools)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c) Virtual Campus Tours — 360° tours for prospective &amp; international students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d) Industry Training Simulations — aviation, construction, hospitality training for CET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Licensable to industry partners → new revenue stream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VR/AR — Impacts, Benefits &amp;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Expanded practical training capacity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Equipment maintenance savings: 15–25%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B2B licensing revenue: SGD 2–5M/year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75% better knowledge retention vs. traditional (PwC)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Enhanced student recruitment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Differentiation from competitors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Cost-Benefit &amp; ROI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Year 1 investment: ~SGD 2.3–4.1M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Breakeven in Year 2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5-year net return: ~SGD 10.3M (198% ROI)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Key challenges: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High upfront hardware/content costs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Specialized content development skills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Motion sickness / accessibility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Hardware refresh every 2–3 years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Pedagogical integration training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A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Technology 3: 5G &amp; Edge Computing — Alex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5G &amp; Edge Computing — How It Improves NYP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a) Smart Campus Infrastructure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IoT sensor networks, smart energy management (10–15% savings), smart parking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(e.g., NUS achieved 15% energy savings with IoT + edge computing)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b) Enhanced Online &amp; Hybrid Learning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4K/8K streaming, real-time collaboration, live remote lab access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c) Enabler for VR/AR &amp; AI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High bandwidth + low latency for VR; edge servers for real-time AI inference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d) Campus Security &amp; Safety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AI-powered surveillance, automated access control, emergency alerts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5G &amp; Edge — Impacts, Benefits &amp;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Modernized campus infrastructure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Energy savings: 10–15%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Foundation for VR/AR, AI, IoT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Seamless online/hybrid learning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5G speeds: up to 20 Gbps, ≤1 ms latency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1M devices/km² connectivity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Cost-Benefit &amp; ROI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Year 1 investment: ~SGD 5–7M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Breakeven in Year 3–4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5-year net return: ~SGD 4.8M (67% ROI)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(Infrastructure investment that accelerates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ROI of the other 3 technologies)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Key challenges: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High infrastructure CAPEX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Spectrum allocation (IMDA)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Expanded cybersecurity attack surface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Specialized IT skills required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A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Technology 4: Blockchain Certificate Verification — Declan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Blockchain — How It Improves NYP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a) Digital Diploma &amp; Certificate Issuance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Cryptographically signed, blockchain-stored, QR/URL-verifiable credentials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Builds on Singapore's OpenCerts ecosystem (opencerts.io)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b) Micro-Credentialing &amp; Skill Badges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Stackable, shareable on LinkedIn, granular skill portfolios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(e.g., MIT Blockcerts since 2017)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c) Streamlined Verification — from 3–10 days → seconds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Eliminates manual admin processing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d) Transcript &amp; Academic Record Management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  Selective sharing, credit transfer, SkillsFuture integration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Blockchain — Impacts, Benefits &amp;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Manual verification workload: −50–70%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Tamper-proof credentials (fraud eliminated)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Verification services revenue: SGD 0.5–1M/year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Instant employer verification (seconds)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Portable, cross-border credentials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Aligned with OpenCerts &amp; Smart 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Cost-Benefit &amp; ROI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Year 1 investment: ~SGD 0.8–1.5M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Breakeven in Year 3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5-year net return: ~SGD 1.59M (88% ROI)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(Low absolute cost; high strategic value)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Key challenges: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Employer / institution adoption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Blockchain platform interoperability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PDPA data privacy (off-chain PII)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  • Scalability of blockchain network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A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Consolidated Investment &amp; ROI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Consolidated Technology Investment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Total Year 1 Investment: SGD 8.8–17.1 million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Projected Annual Returns: SGD 10.5–23 million (revenue + cost savings)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Individual Technology ROI: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AI:         5-yr net ~SGD 15.6M  (226% ROI) — Breakeven Yr 2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VR/AR:      5-yr net ~SGD 10.3M  (198% ROI) — Breakeven Yr 2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5G/Edge:    5-yr net ~SGD 4.8M   ( 67% ROI) — Breakeven Yr 3–4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Blockchain:  5-yr net ~SGD 1.59M  ( 88% ROI) — Breakeven Yr 3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Overall breakeven within 1–2 years for most initiatives.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A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Implementation Roadmap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Three-Phase 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Phase 1 — Year 1: Foundation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Deploy AI chatbot for student services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Implement blockchain credential system (on OpenCerts)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Begin 5G infrastructure planning &amp; pilot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Develop first VR lab prototypes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Phase 2 — Year 2: Expansion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Scale AI adaptive learning across all schools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Launch 10+ VR virtual labs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Deploy 5G campus-wide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Expand blockchain to micro-credentials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Phase 3 — Year 3: Optimization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Integrate all technologies into cohesive smart campus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Monetize VR content &amp; blockchain verification services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Comprehensive ROI evaluation &amp; strategy adjustment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A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Technology Synergy Ecosystem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How the Four Technologies Reinforce Each Other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5G enables VR/AR — High-bandwidth, low-latency 5G is essential for seamless VR/AR.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AI enhances VR/AR — AI personalizes VR/AR learning scenarios per student performance.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Blockchain secures AI credentials — As AI-driven assessment grows, blockchain ensures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integrity and verifiability of AI-generated evaluations.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Edge Computing supports all — Edge servers provide the low-latency processing needed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by AI inference, VR rendering, and IoT data processing.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Together they form a cohesive smart-campus ecosystem.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A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2B5C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AI, VR/AR, 5G/Edge Computing, and Blockchain can strategically transform NYP: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Address current operational &amp; educational challenges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Enhance every stage of the educational value chain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Generate SGD 10.5–23M/year in revenue + cost savings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   • Position NYP as Singapore's leading digital-forward polytechnic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A phased 3-year roadmap manages risk while maximising synergies.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The four technologies are not independent — they create a synergistic ecosystem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that reinforces each solution and delivers compounding benefits.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CCDD"/>
                </a:solidFill>
                <a:latin typeface="Calibri"/>
              </a:defRPr>
            </a:pPr>
            <a:r>
              <a:t>Questions &amp; Discussion</a:t>
            </a:r>
            <a:br/>
            <a:br/>
            <a:r>
              <a:t>Team: Clifton (AI) • Collin (VR/AR) • Alex (5G &amp; Edge) • Declan (Blockchain)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