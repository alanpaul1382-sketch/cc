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009FDA"/>
            </a:solidFill>
          </c:spPr>
          <c:cat>
            <c:strRef>
              <c:f>Sheet1!$A$2:$A$4</c:f>
              <c:strCache>
                <c:ptCount val="3"/>
                <c:pt idx="0">
                  <c:v>Global
EdTech</c:v>
                </c:pt>
                <c:pt idx="1">
                  <c:v>Asia-
Pacific</c:v>
                </c:pt>
                <c:pt idx="2">
                  <c:v>Singapore
(SGD B)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340</c:v>
                </c:pt>
                <c:pt idx="1">
                  <c:v>115</c:v>
                </c:pt>
                <c:pt idx="2">
                  <c:v>1.75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 (Projected)</c:v>
                </c:pt>
              </c:strCache>
            </c:strRef>
          </c:tx>
          <c:spPr>
            <a:solidFill>
              <a:srgbClr val="0A1F44"/>
            </a:solidFill>
          </c:spPr>
          <c:cat>
            <c:strRef>
              <c:f>Sheet1!$A$2:$A$4</c:f>
              <c:strCache>
                <c:ptCount val="3"/>
                <c:pt idx="0">
                  <c:v>Global
EdTech</c:v>
                </c:pt>
                <c:pt idx="1">
                  <c:v>Asia-
Pacific</c:v>
                </c:pt>
                <c:pt idx="2">
                  <c:v>Singapore
(SGD B)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605</c:v>
                </c:pt>
                <c:pt idx="1">
                  <c:v>230</c:v>
                </c:pt>
                <c:pt idx="2">
                  <c:v>3.5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</c:v>
                </c:pt>
              </c:strCache>
            </c:strRef>
          </c:tx>
          <c:spPr>
            <a:solidFill>
              <a:srgbClr val="E14D4D"/>
            </a:solidFill>
          </c:spPr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3.75</c:v>
                </c:pt>
                <c:pt idx="1">
                  <c:v>1.5</c:v>
                </c:pt>
                <c:pt idx="2">
                  <c:v>1.5</c:v>
                </c:pt>
                <c:pt idx="3">
                  <c:v>1.5</c:v>
                </c:pt>
                <c:pt idx="4">
                  <c:v>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Returns</c:v>
                </c:pt>
              </c:strCache>
            </c:strRef>
          </c:tx>
          <c:spPr>
            <a:solidFill>
              <a:srgbClr val="00A65A"/>
            </a:solidFill>
          </c:spPr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2.0</c:v>
                </c:pt>
                <c:pt idx="1">
                  <c:v>6.5</c:v>
                </c:pt>
                <c:pt idx="2">
                  <c:v>7.5</c:v>
                </c:pt>
                <c:pt idx="3">
                  <c:v>8.0</c:v>
                </c:pt>
                <c:pt idx="4">
                  <c:v>8.5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</c:v>
                </c:pt>
              </c:strCache>
            </c:strRef>
          </c:tx>
          <c:spPr>
            <a:solidFill>
              <a:srgbClr val="E14D4D"/>
            </a:solidFill>
          </c:spPr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3.45</c:v>
                </c:pt>
                <c:pt idx="1">
                  <c:v>1.5</c:v>
                </c:pt>
                <c:pt idx="2">
                  <c:v>1.2</c:v>
                </c:pt>
                <c:pt idx="3">
                  <c:v>1.0</c:v>
                </c:pt>
                <c:pt idx="4">
                  <c:v>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Returns</c:v>
                </c:pt>
              </c:strCache>
            </c:strRef>
          </c:tx>
          <c:spPr>
            <a:solidFill>
              <a:srgbClr val="00B894"/>
            </a:solidFill>
          </c:spPr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1.0</c:v>
                </c:pt>
                <c:pt idx="1">
                  <c:v>4.0</c:v>
                </c:pt>
                <c:pt idx="2">
                  <c:v>5.5</c:v>
                </c:pt>
                <c:pt idx="3">
                  <c:v>6.0</c:v>
                </c:pt>
                <c:pt idx="4">
                  <c:v>6.5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</c:v>
                </c:pt>
              </c:strCache>
            </c:strRef>
          </c:tx>
          <c:spPr>
            <a:solidFill>
              <a:srgbClr val="E14D4D"/>
            </a:solidFill>
          </c:spPr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4.25</c:v>
                </c:pt>
                <c:pt idx="1">
                  <c:v>2.0</c:v>
                </c:pt>
                <c:pt idx="2">
                  <c:v>1.5</c:v>
                </c:pt>
                <c:pt idx="3">
                  <c:v>1.0</c:v>
                </c:pt>
                <c:pt idx="4">
                  <c:v>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Returns</c:v>
                </c:pt>
              </c:strCache>
            </c:strRef>
          </c:tx>
          <c:spPr>
            <a:solidFill>
              <a:srgbClr val="FD7936"/>
            </a:solidFill>
          </c:spPr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</c:v>
                </c:pt>
                <c:pt idx="1">
                  <c:v>2.0</c:v>
                </c:pt>
                <c:pt idx="2">
                  <c:v>3.5</c:v>
                </c:pt>
                <c:pt idx="3">
                  <c:v>4.5</c:v>
                </c:pt>
                <c:pt idx="4">
                  <c:v>5.0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</c:v>
                </c:pt>
              </c:strCache>
            </c:strRef>
          </c:tx>
          <c:spPr>
            <a:solidFill>
              <a:srgbClr val="E14D4D"/>
            </a:solidFill>
          </c:spPr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1.5</c:v>
                </c:pt>
                <c:pt idx="1">
                  <c:v>0.4</c:v>
                </c:pt>
                <c:pt idx="2">
                  <c:v>0.3</c:v>
                </c:pt>
                <c:pt idx="3">
                  <c:v>0.2</c:v>
                </c:pt>
                <c:pt idx="4">
                  <c:v>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Returns</c:v>
                </c:pt>
              </c:strCache>
            </c:strRef>
          </c:tx>
          <c:spPr>
            <a:solidFill>
              <a:srgbClr val="00CCD3"/>
            </a:solidFill>
          </c:spPr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</c:v>
                </c:pt>
                <c:pt idx="1">
                  <c:v>0.5</c:v>
                </c:pt>
                <c:pt idx="2">
                  <c:v>0.8</c:v>
                </c:pt>
                <c:pt idx="3">
                  <c:v>1.0</c:v>
                </c:pt>
                <c:pt idx="4">
                  <c:v>1.2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5-Year Net Return (SGD M)</c:v>
                </c:pt>
              </c:strCache>
            </c:strRef>
          </c:tx>
          <c:dPt>
            <c:idx val="0"/>
            <c:spPr>
              <a:solidFill>
                <a:srgbClr val="6C5CE7"/>
              </a:solidFill>
            </c:spPr>
          </c:dPt>
          <c:dPt>
            <c:idx val="1"/>
            <c:spPr>
              <a:solidFill>
                <a:srgbClr val="00B894"/>
              </a:solidFill>
            </c:spPr>
          </c:dPt>
          <c:dPt>
            <c:idx val="2"/>
            <c:spPr>
              <a:solidFill>
                <a:srgbClr val="FD7936"/>
              </a:solidFill>
            </c:spPr>
          </c:dPt>
          <c:dPt>
            <c:idx val="3"/>
            <c:spPr>
              <a:solidFill>
                <a:srgbClr val="00CCD3"/>
              </a:solidFill>
            </c:spPr>
          </c:dPt>
          <c:dLbls>
            <c:numFmt formatCode="0.0&quot;M&quot;" sourceLinked="0"/>
            <c:txPr>
              <a:bodyPr/>
              <a:lstStyle/>
              <a:p>
                <a:pPr>
                  <a:defRPr sz="10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AI</c:v>
                </c:pt>
                <c:pt idx="1">
                  <c:v>VR/AR</c:v>
                </c:pt>
                <c:pt idx="2">
                  <c:v>5G &amp; Edge</c:v>
                </c:pt>
                <c:pt idx="3">
                  <c:v>Blockchain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15.6</c:v>
                </c:pt>
                <c:pt idx="1">
                  <c:v>10.3</c:v>
                </c:pt>
                <c:pt idx="2">
                  <c:v>4.8</c:v>
                </c:pt>
                <c:pt idx="3">
                  <c:v>1.59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828800"/>
            <a:ext cx="7315200" cy="7315200"/>
          </a:xfrm>
          <a:prstGeom prst="ellipse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4572000"/>
            <a:ext cx="3657600" cy="3657600"/>
          </a:xfrm>
          <a:prstGeom prst="ellipse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1371600"/>
            <a:ext cx="182880" cy="18288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914400"/>
            <a:ext cx="182880" cy="18288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5486400"/>
            <a:ext cx="182880" cy="18288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5943600"/>
            <a:ext cx="182880" cy="18288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9FDA"/>
                </a:solidFill>
                <a:latin typeface="Calibri"/>
              </a:rPr>
              <a:t>TEAM PROPOSAL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1920240"/>
            <a:ext cx="1097280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19456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 Light"/>
              </a:rPr>
              <a:t>Emerging Technologies
for Nanyang Polytechnic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9ECEF"/>
                </a:solidFill>
                <a:latin typeface="Calibri"/>
              </a:rPr>
              <a:t>Competency Unit: Emerging Technologies in the Digital Economy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937760"/>
            <a:ext cx="2103120" cy="100584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5074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🤖  Clifton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40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4937760"/>
            <a:ext cx="2103120" cy="100584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5074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🥽  Collin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5440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VR/AR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4937760"/>
            <a:ext cx="2103120" cy="1005840"/>
          </a:xfrm>
          <a:prstGeom prst="round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5074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📡  Alex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5440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5G &amp; Edge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937760"/>
            <a:ext cx="2103120" cy="1005840"/>
          </a:xfrm>
          <a:prstGeom prst="roundRect">
            <a:avLst/>
          </a:prstGeom>
          <a:solidFill>
            <a:srgbClr val="00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5074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🔗  Declan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5440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Blockchain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6C757D"/>
                </a:solidFill>
                <a:latin typeface="Calibri"/>
              </a:rPr>
              <a:t>February 2026  |  Sector: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9FDA"/>
                </a:solidFill>
                <a:latin typeface="Calibri"/>
              </a:rPr>
              <a:t>Presentation Overview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B5C"/>
                </a:solidFill>
                <a:latin typeface="Calibri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Key findings &amp; investment highlights</a:t>
            </a:r>
          </a:p>
        </p:txBody>
      </p:sp>
      <p:sp>
        <p:nvSpPr>
          <p:cNvPr id="9" name="Oval 8"/>
          <p:cNvSpPr/>
          <p:nvPr/>
        </p:nvSpPr>
        <p:spPr>
          <a:xfrm>
            <a:off x="6309360" y="1600200"/>
            <a:ext cx="640080" cy="640080"/>
          </a:xfrm>
          <a:prstGeom prst="ellipse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554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B5C"/>
                </a:solidFill>
                <a:latin typeface="Calibri"/>
              </a:rPr>
              <a:t>Organisation &amp; Value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NYP profile, educational value chain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834640"/>
            <a:ext cx="640080" cy="640080"/>
          </a:xfrm>
          <a:prstGeom prst="ellipse">
            <a:avLst/>
          </a:prstGeom>
          <a:solidFill>
            <a:srgbClr val="E1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88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B5C"/>
                </a:solidFill>
                <a:latin typeface="Calibri"/>
              </a:rPr>
              <a:t>Problems &amp; Challenges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154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Six core challenges mapped to value chain</a:t>
            </a:r>
          </a:p>
        </p:txBody>
      </p:sp>
      <p:sp>
        <p:nvSpPr>
          <p:cNvPr id="15" name="Oval 14"/>
          <p:cNvSpPr/>
          <p:nvPr/>
        </p:nvSpPr>
        <p:spPr>
          <a:xfrm>
            <a:off x="6309360" y="2834640"/>
            <a:ext cx="640080" cy="640080"/>
          </a:xfrm>
          <a:prstGeom prst="ellipse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788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B5C"/>
                </a:solidFill>
                <a:latin typeface="Calibri"/>
              </a:rPr>
              <a:t>Market Opportunity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154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Market sizing &amp; revenue potential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069080"/>
            <a:ext cx="640080" cy="64008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23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B5C"/>
                </a:solidFill>
                <a:latin typeface="Calibri"/>
              </a:rPr>
              <a:t>Technology Solutions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AI · VR/AR · 5G &amp; Edge · Blockchain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4069080"/>
            <a:ext cx="640080" cy="640080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023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B5C"/>
                </a:solidFill>
                <a:latin typeface="Calibri"/>
              </a:rPr>
              <a:t>Investment &amp; ROI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Consolidated cost-benefit analysis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5303520"/>
            <a:ext cx="640080" cy="640080"/>
          </a:xfrm>
          <a:prstGeom prst="ellipse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2578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B5C"/>
                </a:solidFill>
                <a:latin typeface="Calibri"/>
              </a:rPr>
              <a:t>Implementation Roadmap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623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Three-phase plan &amp; technology synergy</a:t>
            </a:r>
          </a:p>
        </p:txBody>
      </p:sp>
      <p:sp>
        <p:nvSpPr>
          <p:cNvPr id="27" name="Oval 26"/>
          <p:cNvSpPr/>
          <p:nvPr/>
        </p:nvSpPr>
        <p:spPr>
          <a:xfrm>
            <a:off x="6309360" y="5303520"/>
            <a:ext cx="640080" cy="640080"/>
          </a:xfrm>
          <a:prstGeom prst="ellipse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2578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2B5C"/>
                </a:solidFill>
                <a:latin typeface="Calibri"/>
              </a:rPr>
              <a:t>Conclusion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5623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Recommendations &amp; next steps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9FDA"/>
                </a:solidFill>
                <a:latin typeface="Calibri"/>
              </a:rPr>
              <a:t>Four technologies, one smart campus vision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6517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2560320" cy="64008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9FDA"/>
                </a:solidFill>
                <a:latin typeface="Calibri"/>
              </a:rPr>
              <a:t>SGD 8.8–17.1M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C757D"/>
                </a:solidFill>
                <a:latin typeface="Calibri"/>
              </a:rPr>
              <a:t>Year 1 Investment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554480"/>
            <a:ext cx="26517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600200"/>
            <a:ext cx="2560320" cy="64008"/>
          </a:xfrm>
          <a:prstGeom prst="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828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A65A"/>
                </a:solidFill>
                <a:latin typeface="Calibri"/>
              </a:rPr>
              <a:t>SGD 10.5–23M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C757D"/>
                </a:solidFill>
                <a:latin typeface="Calibri"/>
              </a:rPr>
              <a:t>Projected Annual Returns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26517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600200"/>
            <a:ext cx="2560320" cy="6400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B700"/>
                </a:solidFill>
                <a:latin typeface="Calibri"/>
              </a:rPr>
              <a:t>1–2 Years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C757D"/>
                </a:solidFill>
                <a:latin typeface="Calibri"/>
              </a:rPr>
              <a:t>Breakeven Period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554480"/>
            <a:ext cx="26517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600200"/>
            <a:ext cx="2560320" cy="640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828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C5CE7"/>
                </a:solidFill>
                <a:latin typeface="Calibri"/>
              </a:rPr>
              <a:t>SGD 32.3M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C757D"/>
                </a:solidFill>
                <a:latin typeface="Calibri"/>
              </a:rPr>
              <a:t>Five-Year Net Return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017520"/>
            <a:ext cx="2651760" cy="137160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🤖 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611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Reduce admin costs by SGD 2–4M/yr
Improve retention 10–15%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3017520"/>
            <a:ext cx="2651760" cy="137160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🥽  VR/AR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611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Expand training capacity
SGD 2–5M/yr B2B licensing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017520"/>
            <a:ext cx="2651760" cy="1371600"/>
          </a:xfrm>
          <a:prstGeom prst="round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📡  5G &amp; Edge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611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Smart-campus backbone
Lower energy costs 10–15%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3017520"/>
            <a:ext cx="2651760" cy="1371600"/>
          </a:xfrm>
          <a:prstGeom prst="roundRect">
            <a:avLst/>
          </a:prstGeom>
          <a:solidFill>
            <a:srgbClr val="00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🔗  Blockchain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3611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Verify credentials in seconds
Cut manual labour 50–70%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754880"/>
            <a:ext cx="110642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8920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2B5C"/>
                </a:solidFill>
                <a:latin typeface="Calibri"/>
              </a:rPr>
              <a:t>💡  A phased three-year implementation roadmap manages risk while the four technologies reinforce one another to form a cohesive smart-campus ecosystem — positioning NYP as Singapore's leading polytechnic in the digital age.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Organisation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9FDA"/>
                </a:solidFill>
                <a:latin typeface="Calibri"/>
              </a:rPr>
              <a:t>Nanyang Polytechnic (NYP)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17320" y="1783080"/>
            <a:ext cx="777240" cy="77724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9FDA"/>
                </a:solidFill>
                <a:latin typeface="Calibri"/>
              </a:rPr>
              <a:t>Established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Calibri"/>
              </a:rPr>
              <a:t>1992
Ang Mo Kio, SG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55448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51960" y="1783080"/>
            <a:ext cx="777240" cy="777240"/>
          </a:xfrm>
          <a:prstGeom prst="ellipse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👩‍🎓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697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A65A"/>
                </a:solidFill>
                <a:latin typeface="Calibri"/>
              </a:rPr>
              <a:t>Students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971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Calibri"/>
              </a:rPr>
              <a:t>~15,000 FT
+ CET learners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86600" y="1783080"/>
            <a:ext cx="777240" cy="77724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🏛️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C5CE7"/>
                </a:solidFill>
                <a:latin typeface="Calibri"/>
              </a:rPr>
              <a:t>Schools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71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Calibri"/>
              </a:rPr>
              <a:t>6 Schools
across disciplines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55448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21240" y="1783080"/>
            <a:ext cx="777240" cy="777240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697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B700"/>
                </a:solidFill>
                <a:latin typeface="Calibri"/>
              </a:rPr>
              <a:t>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971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  <a:latin typeface="Calibri"/>
              </a:rPr>
              <a:t>SGD 200–300M
(MOE-funded)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657600"/>
            <a:ext cx="11064240" cy="822960"/>
          </a:xfrm>
          <a:prstGeom prst="round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794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🎯  Mission: To nurture industry-ready professionals through practice-oriented education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548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Calibri"/>
              </a:rPr>
              <a:t>▸  School of Information Technology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79" y="47548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Calibri"/>
              </a:rPr>
              <a:t>▸  School of Engineering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47548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Calibri"/>
              </a:rPr>
              <a:t>▸  School of Business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2578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Calibri"/>
              </a:rPr>
              <a:t>▸  School of Design &amp; Media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9" y="52578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Calibri"/>
              </a:rPr>
              <a:t>▸  School of Health &amp; Social Sciences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9" y="52578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  <a:latin typeface="Calibri"/>
              </a:rPr>
              <a:t>▸  School of Applied Science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NYP's Educational Value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9FDA"/>
                </a:solidFill>
                <a:latin typeface="Calibri"/>
              </a:rPr>
              <a:t>End-to-end activities delivering value to students, employers &amp; government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13258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" y="2057400"/>
            <a:ext cx="777240" cy="77724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01752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2B5C"/>
                </a:solidFill>
                <a:latin typeface="Calibri"/>
              </a:rPr>
              <a:t>Student
Recruitment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9FDA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10512" y="1828800"/>
            <a:ext cx="13258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66544" y="2057400"/>
            <a:ext cx="777240" cy="777240"/>
          </a:xfrm>
          <a:prstGeom prst="ellipse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6232" y="301752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2B5C"/>
                </a:solidFill>
                <a:latin typeface="Calibri"/>
              </a:rPr>
              <a:t>Curriculum
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2384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9FDA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55264" y="1828800"/>
            <a:ext cx="13258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11296" y="2057400"/>
            <a:ext cx="777240" cy="77724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0984" y="301752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2B5C"/>
                </a:solidFill>
                <a:latin typeface="Calibri"/>
              </a:rPr>
              <a:t>Teaching &amp;
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9FDA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0016" y="1828800"/>
            <a:ext cx="13258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56048" y="2057400"/>
            <a:ext cx="777240" cy="777240"/>
          </a:xfrm>
          <a:prstGeom prst="ellipse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5736" y="301752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2B5C"/>
                </a:solidFill>
                <a:latin typeface="Calibri"/>
              </a:rPr>
              <a:t>Student
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9FDA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1828800"/>
            <a:ext cx="13258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0" y="2057400"/>
            <a:ext cx="777240" cy="777240"/>
          </a:xfrm>
          <a:prstGeom prst="ellipse">
            <a:avLst/>
          </a:prstGeom>
          <a:solidFill>
            <a:srgbClr val="00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301752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2B5C"/>
                </a:solidFill>
                <a:latin typeface="Calibri"/>
              </a:rPr>
              <a:t>Assessment &amp;
Certification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9FDA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1828800"/>
            <a:ext cx="13258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845552" y="2057400"/>
            <a:ext cx="777240" cy="777240"/>
          </a:xfrm>
          <a:prstGeom prst="ellipse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01752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2B5C"/>
                </a:solidFill>
                <a:latin typeface="Calibri"/>
              </a:rPr>
              <a:t>Industry
Partnerships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1392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9FDA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34272" y="1828800"/>
            <a:ext cx="13258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290304" y="2057400"/>
            <a:ext cx="777240" cy="777240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9992" y="301752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2B5C"/>
                </a:solidFill>
                <a:latin typeface="Calibri"/>
              </a:rPr>
              <a:t>CET
Programs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96144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9FDA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79024" y="1828800"/>
            <a:ext cx="13258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735056" y="2057400"/>
            <a:ext cx="777240" cy="777240"/>
          </a:xfrm>
          <a:prstGeom prst="ellipse">
            <a:avLst/>
          </a:prstGeom>
          <a:solidFill>
            <a:srgbClr val="E1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🏗️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24744" y="3017520"/>
            <a:ext cx="1234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2B5C"/>
                </a:solidFill>
                <a:latin typeface="Calibri"/>
              </a:rPr>
              <a:t>Campus
Operations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389120"/>
            <a:ext cx="11064240" cy="731520"/>
          </a:xfrm>
          <a:prstGeom prst="roundRect">
            <a:avLst/>
          </a:prstGeom>
          <a:solidFill>
            <a:srgbClr val="D6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805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2B5C"/>
                </a:solidFill>
                <a:latin typeface="Calibri"/>
              </a:rPr>
              <a:t>Each activity represents an area where emerging technologies can create measurable improvements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Current Problems &amp;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9FDA"/>
                </a:solidFill>
                <a:latin typeface="Calibri"/>
              </a:rPr>
              <a:t>Six core challenges mapped to the value chain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5661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3474720" cy="64008"/>
          </a:xfrm>
          <a:prstGeom prst="rect">
            <a:avLst/>
          </a:prstGeom>
          <a:solidFill>
            <a:srgbClr val="E1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E1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830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2B5C"/>
                </a:solidFill>
                <a:latin typeface="Calibri"/>
              </a:rPr>
              <a:t>Scalability of
Personalised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Large class sizes limit individual attention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08960"/>
            <a:ext cx="2286000" cy="365760"/>
          </a:xfrm>
          <a:prstGeom prst="roundRect">
            <a:avLst/>
          </a:prstGeom>
          <a:solidFill>
            <a:srgbClr val="E1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363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↳ Teaching &amp; Learning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554480"/>
            <a:ext cx="35661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600200"/>
            <a:ext cx="3474720" cy="64008"/>
          </a:xfrm>
          <a:prstGeom prst="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4840" y="1783080"/>
            <a:ext cx="640080" cy="640080"/>
          </a:xfrm>
          <a:prstGeom prst="ellipse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7830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2B5C"/>
                </a:solidFill>
                <a:latin typeface="Calibri"/>
              </a:rPr>
              <a:t>Limited Hands-On
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514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Physical lab constraints &amp; costly equipment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108960"/>
            <a:ext cx="2286000" cy="365760"/>
          </a:xfrm>
          <a:prstGeom prst="round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1363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↳ Teaching &amp; Learning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554480"/>
            <a:ext cx="35661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00200"/>
            <a:ext cx="3474720" cy="64008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0" y="1783080"/>
            <a:ext cx="640080" cy="640080"/>
          </a:xfrm>
          <a:prstGeom prst="ellipse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17830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2B5C"/>
                </a:solidFill>
                <a:latin typeface="Calibri"/>
              </a:rPr>
              <a:t>Campus Connectivity
Limitations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514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Bandwidth bottlenecks during peak hours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108960"/>
            <a:ext cx="2286000" cy="365760"/>
          </a:xfrm>
          <a:prstGeom prst="round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1363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↳ Campus Operations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977639"/>
            <a:ext cx="35661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023359"/>
            <a:ext cx="3474720" cy="64008"/>
          </a:xfrm>
          <a:prstGeom prst="rect">
            <a:avLst/>
          </a:prstGeom>
          <a:solidFill>
            <a:srgbClr val="00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" y="4206239"/>
            <a:ext cx="640080" cy="640080"/>
          </a:xfrm>
          <a:prstGeom prst="ellipse">
            <a:avLst/>
          </a:prstGeom>
          <a:solidFill>
            <a:srgbClr val="00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4206239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2B5C"/>
                </a:solidFill>
                <a:latin typeface="Calibri"/>
              </a:rPr>
              <a:t>Certificate Fraud &amp;
Verification Delays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9377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3–10 working days for manual verification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532119"/>
            <a:ext cx="2286000" cy="365760"/>
          </a:xfrm>
          <a:prstGeom prst="roundRect">
            <a:avLst/>
          </a:prstGeom>
          <a:solidFill>
            <a:srgbClr val="00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559551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↳ Assessment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51960" y="3977639"/>
            <a:ext cx="35661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97680" y="4023359"/>
            <a:ext cx="3474720" cy="6400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434840" y="4206239"/>
            <a:ext cx="640080" cy="640080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206239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2B5C"/>
                </a:solidFill>
                <a:latin typeface="Calibri"/>
              </a:rPr>
              <a:t>Rising Competition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9377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Five polytechnics + universities competing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34840" y="5532119"/>
            <a:ext cx="2286000" cy="365760"/>
          </a:xfrm>
          <a:prstGeom prst="round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6280" y="5559551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↳ Recruitment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3977639"/>
            <a:ext cx="35661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92440" y="4023359"/>
            <a:ext cx="3474720" cy="64008"/>
          </a:xfrm>
          <a:prstGeom prst="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229600" y="4206239"/>
            <a:ext cx="640080" cy="640080"/>
          </a:xfrm>
          <a:prstGeom prst="ellipse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4206239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2B5C"/>
                </a:solidFill>
                <a:latin typeface="Calibri"/>
              </a:rPr>
              <a:t>Environmental &amp;
Sustainability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9377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Carbon footprint, SG Green Plan 2030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0" y="5532119"/>
            <a:ext cx="2286000" cy="365760"/>
          </a:xfrm>
          <a:prstGeom prst="round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5559551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↳ Campus Operations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Market Size &amp; Revenue Potential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9FDA"/>
                </a:solidFill>
                <a:latin typeface="Calibri"/>
              </a:rPr>
              <a:t>Singapore education &amp; global EdTech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9FDA"/>
                </a:solidFill>
                <a:latin typeface="Calibri"/>
              </a:rPr>
              <a:t>SGD 13B/yr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SG government education budget (15–20% of national budget)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9FDA"/>
                </a:solidFill>
                <a:latin typeface="Calibri"/>
              </a:rPr>
              <a:t>~70,000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Full-time polytechnic students across five institutions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9FDA"/>
                </a:solidFill>
                <a:latin typeface="Calibri"/>
              </a:rPr>
              <a:t>~21%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NYP's share of the polytechnic market (~15,000 students)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9FDA"/>
                </a:solidFill>
                <a:latin typeface="Calibri"/>
              </a:rPr>
              <a:t>USD 340B → 605B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Global EdTech market 2024 → 2027 (16% CAGR)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9FDA"/>
                </a:solidFill>
                <a:latin typeface="Calibri"/>
              </a:rPr>
              <a:t>SGD 1.5–2B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49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Singapore EdTech market (SkillsFuture &amp; IMDA driven)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400800" y="1463040"/>
          <a:ext cx="530352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48640" y="5303520"/>
            <a:ext cx="11064240" cy="731520"/>
          </a:xfrm>
          <a:prstGeom prst="roundRect">
            <a:avLst/>
          </a:prstGeom>
          <a:solidFill>
            <a:srgbClr val="D6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2B5C"/>
                </a:solidFill>
                <a:latin typeface="Calibri"/>
              </a:rPr>
              <a:t>Revenue Streams:  AI-powered CET courses  |  VR content licensing  |  Blockchain verification services  |  Smart-campus consulting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5029200"/>
            <a:ext cx="274320" cy="27432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5486400"/>
            <a:ext cx="182880" cy="18288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914400"/>
            <a:ext cx="137160" cy="13716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926080"/>
            <a:ext cx="914400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 Light"/>
              </a:rPr>
              <a:t>Technology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9FDA"/>
                </a:solidFill>
                <a:latin typeface="Calibri"/>
              </a:rPr>
              <a:t>Four emerging technologies mapped to NYP's value chain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Artificial Intelligence (AI)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9FDA"/>
                </a:solidFill>
                <a:latin typeface="Calibri"/>
              </a:rPr>
              <a:t>Clifton  |  Team 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C5CE7"/>
                </a:solidFill>
                <a:latin typeface="Calibri"/>
              </a:rPr>
              <a:t>AI Technologies for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▸  Machine Learning (ML) — Algorithms that improve through experience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▸  Natural Language Processing — Understanding &amp; generating human language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▸  Computer Vision — Interpreting visual information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▸  Generative AI — Content creation, Q&amp;A, creative tasks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508760"/>
            <a:ext cx="2560320" cy="640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C5CE7"/>
                </a:solidFill>
                <a:latin typeface="Calibri"/>
              </a:rPr>
              <a:t>🎯 Adaptive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Personalise learning paths;
identify at-risk students early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46304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81160" y="1508760"/>
            <a:ext cx="2560320" cy="640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C5CE7"/>
                </a:solidFill>
                <a:latin typeface="Calibri"/>
              </a:rPr>
              <a:t>💬 AI Chatbots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1031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24/7 student support;
reduce admin workload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56616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3611880"/>
            <a:ext cx="2560320" cy="640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C5CE7"/>
                </a:solidFill>
                <a:latin typeface="Calibri"/>
              </a:rPr>
              <a:t>📝 Auto 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062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NLP grading; auto-grade
coding assignments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356616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60" y="3611880"/>
            <a:ext cx="2560320" cy="640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C5CE7"/>
                </a:solidFill>
                <a:latin typeface="Calibri"/>
              </a:rPr>
              <a:t>📊 Predictive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42062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Forecast student success;
target interventions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72000"/>
            <a:ext cx="5394960" cy="118872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📌 Real-World Example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9834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Georgia State University's AI chatbot "Pounce" reduced
summer enrollment melt by 21% through proactive engagement.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AI — Impact, ROI &amp;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A65A"/>
                </a:solidFill>
                <a:latin typeface="Calibri"/>
              </a:rPr>
              <a:t>✅ 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▸  Improve student retention by 10–15%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▸  Reduce admin costs by SGD 2–4M/year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▸  New CET revenue: SGD 5–10M/year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▸  Personalised 24/7 learning &amp; support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▸  Enhanced competitive positioning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217920" y="1371600"/>
          <a:ext cx="54864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4480560"/>
            <a:ext cx="5486400" cy="100584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57200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Five-year net return: ~SGD 15.6M  |  226% ROI  |  Breakeven: Year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14D4D"/>
                </a:solidFill>
                <a:latin typeface="Calibri"/>
              </a:rPr>
              <a:t>⚠️  Key Challenges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46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▸  Data privacy &amp; PDPA compliance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▸  Resistance to change from staff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▸  Data quality &amp; governance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▸  Integration with existing LMS/IT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Immersive Media (VR/AR)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9FDA"/>
                </a:solidFill>
                <a:latin typeface="Calibri"/>
              </a:rPr>
              <a:t>Collin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894"/>
                </a:solidFill>
                <a:latin typeface="Calibri"/>
              </a:rPr>
              <a:t>VR/AR Technologies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▸  Virtual Reality (VR) — Fully immersive 3D environments (Meta Quest, HTC Vive)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▸  Augmented Reality (AR) — Digital overlays on real world (HoloLens, Vision Pro)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▸  Mixed Reality (MR) — Blends physical and digital interaction in real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508760"/>
            <a:ext cx="2560320" cy="6400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894"/>
                </a:solidFill>
                <a:latin typeface="Calibri"/>
              </a:rPr>
              <a:t>🔬 Virtual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Safe, repeatable simulations
for engineering &amp; healthcare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46304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81160" y="1508760"/>
            <a:ext cx="2560320" cy="6400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894"/>
                </a:solidFill>
                <a:latin typeface="Calibri"/>
              </a:rPr>
              <a:t>🌐 Immersive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1031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3D overlays of anatomy,
architecture, machines via 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56616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3611880"/>
            <a:ext cx="2560320" cy="6400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894"/>
                </a:solidFill>
                <a:latin typeface="Calibri"/>
              </a:rPr>
              <a:t>🏫 Virtual Campus Tours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062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Attract international students
with 360° experiences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356616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60" y="3611880"/>
            <a:ext cx="2560320" cy="64008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894"/>
                </a:solidFill>
                <a:latin typeface="Calibri"/>
              </a:rPr>
              <a:t>🏭 Industry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42062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Aviation, construction, hospitality
VR simulations for CET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657600"/>
            <a:ext cx="5394960" cy="82296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74903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📈  VR/AR training improves knowledge retention by 75%
     compared to traditional methods (PwC, 2022)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63440"/>
            <a:ext cx="53949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4709160"/>
            <a:ext cx="5303520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846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894"/>
                </a:solidFill>
                <a:latin typeface="Calibri"/>
              </a:rPr>
              <a:t>📌 Real-World Example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166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Labster: 3,000+ institutions, 200+ virtual lab experiments.
Microsoft HoloLens: 3D holographic anatomy in medical schools.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VR/AR — Impact, ROI &amp;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A65A"/>
                </a:solidFill>
                <a:latin typeface="Calibri"/>
              </a:rPr>
              <a:t>✅ 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▸  Expand practical training beyond physical lab limits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▸  Reduce equipment maintenance costs by 15–25%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▸  75% better knowledge retention vs. traditional methods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▸  B2B licensing revenue: SGD 2–5M/year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▸  Enhanced student recruitment via virtual tours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217920" y="1371600"/>
          <a:ext cx="54864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4480560"/>
            <a:ext cx="5486400" cy="100584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57200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Five-year net return: ~SGD 10.3M  |  198% ROI  |  Breakeven: Year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14D4D"/>
                </a:solidFill>
                <a:latin typeface="Calibri"/>
              </a:rPr>
              <a:t>⚠️  Key Challenges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46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▸  High initial HW/content investment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▸  Specialised content development skills needed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▸  Motion sickness &amp; accessibility concerns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▸  Hardware refresh every 2–3 years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5G &amp; Edge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9FDA"/>
                </a:solidFill>
                <a:latin typeface="Calibri"/>
              </a:rPr>
              <a:t>Alex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D7936"/>
                </a:solidFill>
                <a:latin typeface="Calibri"/>
              </a:rPr>
              <a:t>5G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7830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65960"/>
            <a:ext cx="1691640" cy="64008"/>
          </a:xfrm>
          <a:prstGeom prst="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D7936"/>
                </a:solidFill>
                <a:latin typeface="Calibri"/>
              </a:rPr>
              <a:t>⚡ 20 Gbps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  <a:latin typeface="Calibri"/>
              </a:rPr>
              <a:t>Ultra-high speed
(20× faster than 4G)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920240"/>
            <a:ext cx="17830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1965960"/>
            <a:ext cx="1691640" cy="64008"/>
          </a:xfrm>
          <a:prstGeom prst="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148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D7936"/>
                </a:solidFill>
                <a:latin typeface="Calibri"/>
              </a:rPr>
              <a:t>⏱️ 1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56032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  <a:latin typeface="Calibri"/>
              </a:rPr>
              <a:t>Ultra-low latency
(vs 30–50ms for 4G)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920240"/>
            <a:ext cx="17830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26280" y="1965960"/>
            <a:ext cx="1691640" cy="64008"/>
          </a:xfrm>
          <a:prstGeom prst="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148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D7936"/>
                </a:solidFill>
                <a:latin typeface="Calibri"/>
              </a:rPr>
              <a:t>📱 1M devices/km²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56032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  <a:latin typeface="Calibri"/>
              </a:rPr>
              <a:t>Massive connectivity
&amp; network slicing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46304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1508760"/>
            <a:ext cx="2560320" cy="64008"/>
          </a:xfrm>
          <a:prstGeom prst="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D7936"/>
                </a:solidFill>
                <a:latin typeface="Calibri"/>
              </a:rPr>
              <a:t>🏢 Smart Campus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1031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IoT sensors, smart energy,
parking &amp; navigation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46304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81160" y="1508760"/>
            <a:ext cx="2560320" cy="64008"/>
          </a:xfrm>
          <a:prstGeom prst="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D7936"/>
                </a:solidFill>
                <a:latin typeface="Calibri"/>
              </a:rPr>
              <a:t>📺 Hybrid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1031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4K/8K streaming, real-time
collaboration, remote labs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56616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46520" y="3611880"/>
            <a:ext cx="2560320" cy="64008"/>
          </a:xfrm>
          <a:prstGeom prst="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D7936"/>
                </a:solidFill>
                <a:latin typeface="Calibri"/>
              </a:rPr>
              <a:t>🔌 VR/AR &amp; AI Enabler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2062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High-bandwidth backbone
for immersive workloads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356616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81160" y="3611880"/>
            <a:ext cx="2560320" cy="64008"/>
          </a:xfrm>
          <a:prstGeom prst="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D7936"/>
                </a:solidFill>
                <a:latin typeface="Calibri"/>
              </a:rPr>
              <a:t>🔒 Campus Security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42062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AI surveillance, access
control, emergency alerts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840480"/>
            <a:ext cx="5394960" cy="1097280"/>
          </a:xfrm>
          <a:prstGeom prst="round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Edge Computing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251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Brings computation closer to data sources. Reduces latency,
improves response times, and supports real-time AI &amp; VR apps.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120640"/>
            <a:ext cx="53949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" y="5166360"/>
            <a:ext cx="5303520" cy="54864"/>
          </a:xfrm>
          <a:prstGeom prst="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257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2D2D"/>
                </a:solidFill>
                <a:latin typeface="Calibri"/>
              </a:rPr>
              <a:t>📌 NUS achieved 15% energy savings via smart building IoT + edge computing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5G &amp; Edge Computing — Impact, ROI &amp;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A65A"/>
                </a:solidFill>
                <a:latin typeface="Calibri"/>
              </a:rPr>
              <a:t>✅ 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▸  Modernised campus infrastructure for next-gen apps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▸  10–15% energy cost savings via smart building management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▸  Foundation for VR/AR, AI, and IoT initiatives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▸  Improved campus safety &amp; security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▸  Students gain hands-on 5G experience (employability)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217920" y="1371600"/>
          <a:ext cx="54864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4480560"/>
            <a:ext cx="5486400" cy="1005840"/>
          </a:xfrm>
          <a:prstGeom prst="round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57200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Five-year net return: ~SGD 4.8M  |  67% ROI  |  Breakeven: Year 3–4
Infrastructure investment enables &amp; accelerates ROI of other three technologies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14D4D"/>
                </a:solidFill>
                <a:latin typeface="Calibri"/>
              </a:rPr>
              <a:t>⚠️  Key Challenges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46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▸  High infrastructure costs; partner with telcos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▸  Spectrum allocation (IMDA regulatory approval)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▸  Cybersecurity risks with massive device connectivity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▸  Specialised technical expertise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Blockchain Certificate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9FDA"/>
                </a:solidFill>
                <a:latin typeface="Calibri"/>
              </a:rPr>
              <a:t>Declan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CCD3"/>
                </a:solidFill>
                <a:latin typeface="Calibri"/>
              </a:rPr>
              <a:t>How Blockchain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▸  Decentralised ledger across network of nodes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▸  Each block contains transactions + hash of previous block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▸  Consensus required to add blocks (tamper-proof)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▸  Once added, blocks cannot be modified or removed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508760"/>
            <a:ext cx="2560320" cy="64008"/>
          </a:xfrm>
          <a:prstGeom prst="rect">
            <a:avLst/>
          </a:prstGeom>
          <a:solidFill>
            <a:srgbClr val="00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CD3"/>
                </a:solidFill>
                <a:latin typeface="Calibri"/>
              </a:rPr>
              <a:t>📜 Digital Diplomas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Cryptographically signed on
blockchain; instant verification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46304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81160" y="1508760"/>
            <a:ext cx="2560320" cy="64008"/>
          </a:xfrm>
          <a:prstGeom prst="rect">
            <a:avLst/>
          </a:prstGeom>
          <a:solidFill>
            <a:srgbClr val="00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CD3"/>
                </a:solidFill>
                <a:latin typeface="Calibri"/>
              </a:rPr>
              <a:t>🏅 Micro-Credentials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1031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Stackable skill badges on
LinkedIn (Python, Data, etc.)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56616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3611880"/>
            <a:ext cx="2560320" cy="64008"/>
          </a:xfrm>
          <a:prstGeom prst="rect">
            <a:avLst/>
          </a:prstGeom>
          <a:solidFill>
            <a:srgbClr val="00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CD3"/>
                </a:solidFill>
                <a:latin typeface="Calibri"/>
              </a:rPr>
              <a:t>⚡ Fast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062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Seconds vs. 3–10 days;
zero manual processing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356616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60" y="3611880"/>
            <a:ext cx="2560320" cy="64008"/>
          </a:xfrm>
          <a:prstGeom prst="rect">
            <a:avLst/>
          </a:prstGeom>
          <a:solidFill>
            <a:srgbClr val="00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CD3"/>
                </a:solidFill>
                <a:latin typeface="Calibri"/>
              </a:rPr>
              <a:t>📋 Academic Records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42062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Tamper-proof transcripts;
cross-institution transfers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2B5C"/>
                </a:solidFill>
                <a:latin typeface="Calibri"/>
              </a:rPr>
              <a:t>Before vs After: Verification Process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389120"/>
            <a:ext cx="25603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434840"/>
            <a:ext cx="2468880" cy="54864"/>
          </a:xfrm>
          <a:prstGeom prst="rect">
            <a:avLst/>
          </a:prstGeom>
          <a:solidFill>
            <a:srgbClr val="E1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526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14D4D"/>
                </a:solidFill>
                <a:latin typeface="Calibri"/>
              </a:rPr>
              <a:t>❌ Before (Manual)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8463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2D2D"/>
                </a:solidFill>
                <a:latin typeface="Calibri"/>
              </a:rPr>
              <a:t>Email request → Admin check
→ Verify records → Send letter
⏱️ 3–10 working 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4754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9FDA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49039" y="4389120"/>
            <a:ext cx="25603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94760" y="4434840"/>
            <a:ext cx="2468880" cy="54864"/>
          </a:xfrm>
          <a:prstGeom prst="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0" y="4526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65A"/>
                </a:solidFill>
                <a:latin typeface="Calibri"/>
              </a:rPr>
              <a:t>✅ After (Blockchain)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48463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D2D2D"/>
                </a:solidFill>
                <a:latin typeface="Calibri"/>
              </a:rPr>
              <a:t>Input certificate hash
→ Blockchain confirms
⏱️ Seconds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Blockchain — Impact, ROI &amp;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A65A"/>
                </a:solidFill>
                <a:latin typeface="Calibri"/>
              </a:rPr>
              <a:t>✅ 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▸  Eliminate manual verification (50–70% labour cut)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▸  Tamper-proof credentials protect institutional reputation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▸  Align with SG OpenCerts &amp; Smart Nation initiatives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▸  Portable, cross-border credentials for graduates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▸  Employers verify in seconds, not days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217920" y="1371600"/>
          <a:ext cx="54864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4480560"/>
            <a:ext cx="5486400" cy="1005840"/>
          </a:xfrm>
          <a:prstGeom prst="roundRect">
            <a:avLst/>
          </a:prstGeom>
          <a:solidFill>
            <a:srgbClr val="00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57200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Five-year net return: ~SGD 1.59M  |  88% ROI  |  Breakeven: Year 3
Low cost; strategic value exceeds financial return (credibility, fraud elimination)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14D4D"/>
                </a:solidFill>
                <a:latin typeface="Calibri"/>
              </a:rPr>
              <a:t>⚠️  Key Challenges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46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▸  Stakeholder adoption (employers, institutions)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▸  Interoperability across blockchain platforms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▸  User education for students, staff &amp; employers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▸  Secure cryptographic hash implementation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5029200"/>
            <a:ext cx="274320" cy="274320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5486400"/>
            <a:ext cx="182880" cy="182880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914400"/>
            <a:ext cx="137160" cy="137160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926080"/>
            <a:ext cx="914400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 Light"/>
              </a:rPr>
              <a:t>Investment &amp;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9FDA"/>
                </a:solidFill>
                <a:latin typeface="Calibri"/>
              </a:rPr>
              <a:t>Consolidated financials, phased implementation, and technology synergy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Consolidated Investment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0058400" cy="4572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57276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Year-1 Investment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57276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Annual Returns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57276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5-Year 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5727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Breakeven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11680"/>
            <a:ext cx="10058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73152" cy="4572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7568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2D2D"/>
                </a:solidFill>
                <a:latin typeface="Calibri"/>
              </a:rPr>
              <a:t>🤖 AI (Clifton)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07568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SGD 2.5–5M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07568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SGD 5–10M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0756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SGD 15.6M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07568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Year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487168"/>
            <a:ext cx="10058400" cy="4572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487168"/>
            <a:ext cx="73152" cy="4572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55117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2D2D"/>
                </a:solidFill>
                <a:latin typeface="Calibri"/>
              </a:rPr>
              <a:t>🥽 VR/AR (Collin)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55117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SGD 2.3–4.6M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255117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SGD 2–5M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5511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SGD 10.3M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551176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Year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962656"/>
            <a:ext cx="10058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2962656"/>
            <a:ext cx="73152" cy="457200"/>
          </a:xfrm>
          <a:prstGeom prst="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0266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2D2D"/>
                </a:solidFill>
                <a:latin typeface="Calibri"/>
              </a:rPr>
              <a:t>📡 5G &amp; Edge (Alex)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02666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SGD 3–5.5M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302666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SGD 1.5–3M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302666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SGD 4.8M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026664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Yr 3–4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438144"/>
            <a:ext cx="10058400" cy="4572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3438144"/>
            <a:ext cx="73152" cy="457200"/>
          </a:xfrm>
          <a:prstGeom prst="rect">
            <a:avLst/>
          </a:prstGeom>
          <a:solidFill>
            <a:srgbClr val="00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50215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2D2D"/>
                </a:solidFill>
                <a:latin typeface="Calibri"/>
              </a:rPr>
              <a:t>🔗 Blockchain (Declan)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350215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SGD 1–2M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350215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SGD 0.5–1M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350215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SGD 1.59M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350215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Calibri"/>
              </a:rPr>
              <a:t>Year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913632"/>
            <a:ext cx="10058400" cy="5029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0050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40050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SGD 8.8–17.1M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4960" y="40050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SGD 10.5–23M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40050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SGD 32.3M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40050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Yr 1–2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6858000" y="3657600"/>
          <a:ext cx="41148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6858000" y="3383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2B5C"/>
                </a:solidFill>
                <a:latin typeface="Calibri"/>
              </a:rPr>
              <a:t>Five-Year Net Return Distribution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Three-Phase Implementation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9FDA"/>
                </a:solidFill>
                <a:latin typeface="Calibri"/>
              </a:rPr>
              <a:t>A phased approach to manage risk and maximise ROI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698480" cy="54864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11680" y="1828800"/>
            <a:ext cx="411480" cy="41148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29968" y="1856231"/>
            <a:ext cx="374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35661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514600"/>
            <a:ext cx="3474720" cy="73152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FDA"/>
                </a:solidFill>
                <a:latin typeface="Calibri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C757D"/>
                </a:solidFill>
                <a:latin typeface="Calibri"/>
              </a:rPr>
              <a:t>Year 1: 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290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D2D2D"/>
                </a:solidFill>
                <a:latin typeface="Calibri"/>
              </a:rPr>
              <a:t>🤖 Deploy AI chatbot for student services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D2D"/>
                </a:solidFill>
                <a:latin typeface="Calibri"/>
              </a:rPr>
              <a:t>🔗 Implement blockchain credentials (OpenCerts)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D2D"/>
                </a:solidFill>
                <a:latin typeface="Calibri"/>
              </a:rPr>
              <a:t>📡 Begin 5G infrastructure planning &amp; pilot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D2D"/>
                </a:solidFill>
                <a:latin typeface="Calibri"/>
              </a:rPr>
              <a:t>🥽 Develop first VR lab prototypes</a:t>
            </a:r>
          </a:p>
        </p:txBody>
      </p:sp>
      <p:sp>
        <p:nvSpPr>
          <p:cNvPr id="14" name="Oval 13"/>
          <p:cNvSpPr/>
          <p:nvPr/>
        </p:nvSpPr>
        <p:spPr>
          <a:xfrm>
            <a:off x="5806440" y="1828800"/>
            <a:ext cx="411480" cy="411480"/>
          </a:xfrm>
          <a:prstGeom prst="ellipse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4728" y="1856231"/>
            <a:ext cx="374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2468880"/>
            <a:ext cx="35661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2514600"/>
            <a:ext cx="3474720" cy="73152"/>
          </a:xfrm>
          <a:prstGeom prst="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A65A"/>
                </a:solidFill>
                <a:latin typeface="Calibri"/>
              </a:rPr>
              <a:t>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C757D"/>
                </a:solidFill>
                <a:latin typeface="Calibri"/>
              </a:rPr>
              <a:t>Year 2: Expansion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4290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D2D2D"/>
                </a:solidFill>
                <a:latin typeface="Calibri"/>
              </a:rPr>
              <a:t>🤖 Scale AI adaptive learning across all schools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D2D"/>
                </a:solidFill>
                <a:latin typeface="Calibri"/>
              </a:rPr>
              <a:t>🥽 Launch 10+ VR virtual labs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D2D"/>
                </a:solidFill>
                <a:latin typeface="Calibri"/>
              </a:rPr>
              <a:t>📡 Deploy 5G campus-wide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D2D"/>
                </a:solidFill>
                <a:latin typeface="Calibri"/>
              </a:rPr>
              <a:t>🔗 Expand blockchain to micro-credentials</a:t>
            </a:r>
          </a:p>
        </p:txBody>
      </p:sp>
      <p:sp>
        <p:nvSpPr>
          <p:cNvPr id="21" name="Oval 20"/>
          <p:cNvSpPr/>
          <p:nvPr/>
        </p:nvSpPr>
        <p:spPr>
          <a:xfrm>
            <a:off x="9601200" y="1828800"/>
            <a:ext cx="411480" cy="411480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19488" y="1856231"/>
            <a:ext cx="374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2468880"/>
            <a:ext cx="35661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2514600"/>
            <a:ext cx="3474720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B700"/>
                </a:solidFill>
                <a:latin typeface="Calibri"/>
              </a:rPr>
              <a:t>Phase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C757D"/>
                </a:solidFill>
                <a:latin typeface="Calibri"/>
              </a:rPr>
              <a:t>Year 3: Optimisation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4290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D2D2D"/>
                </a:solidFill>
                <a:latin typeface="Calibri"/>
              </a:rPr>
              <a:t>🔄 Integrate all tech into smart-campus ecosystem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D2D"/>
                </a:solidFill>
                <a:latin typeface="Calibri"/>
              </a:rPr>
              <a:t>💰 Monetise VR content &amp; blockchain services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D2D2D"/>
                </a:solidFill>
                <a:latin typeface="Calibri"/>
              </a:rPr>
              <a:t>📊 Comprehensive ROI evaluation &amp; strategy adjustment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Technology Synergy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9FDA"/>
                </a:solidFill>
                <a:latin typeface="Calibri"/>
              </a:rPr>
              <a:t>The four technologies reinforce one another</a:t>
            </a:r>
          </a:p>
        </p:txBody>
      </p:sp>
      <p:sp>
        <p:nvSpPr>
          <p:cNvPr id="6" name="Oval 5"/>
          <p:cNvSpPr/>
          <p:nvPr/>
        </p:nvSpPr>
        <p:spPr>
          <a:xfrm>
            <a:off x="4937760" y="2560320"/>
            <a:ext cx="2286000" cy="2286000"/>
          </a:xfrm>
          <a:prstGeom prst="ellipse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32004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Smart
Campus
Ecosystem</a:t>
            </a:r>
          </a:p>
        </p:txBody>
      </p:sp>
      <p:sp>
        <p:nvSpPr>
          <p:cNvPr id="8" name="Oval 7"/>
          <p:cNvSpPr/>
          <p:nvPr/>
        </p:nvSpPr>
        <p:spPr>
          <a:xfrm>
            <a:off x="2286000" y="1645920"/>
            <a:ext cx="1645920" cy="164592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🤖 AI</a:t>
            </a:r>
          </a:p>
        </p:txBody>
      </p:sp>
      <p:sp>
        <p:nvSpPr>
          <p:cNvPr id="9" name="Oval 8"/>
          <p:cNvSpPr/>
          <p:nvPr/>
        </p:nvSpPr>
        <p:spPr>
          <a:xfrm>
            <a:off x="8046720" y="1645920"/>
            <a:ext cx="1645920" cy="164592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🥽 VR/AR</a:t>
            </a:r>
          </a:p>
        </p:txBody>
      </p:sp>
      <p:sp>
        <p:nvSpPr>
          <p:cNvPr id="10" name="Oval 9"/>
          <p:cNvSpPr/>
          <p:nvPr/>
        </p:nvSpPr>
        <p:spPr>
          <a:xfrm>
            <a:off x="2286000" y="4389120"/>
            <a:ext cx="1645920" cy="1645920"/>
          </a:xfrm>
          <a:prstGeom prst="ellipse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📡 5G &amp;
Edge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0" y="4389120"/>
            <a:ext cx="1645920" cy="1645920"/>
          </a:xfrm>
          <a:prstGeom prst="ellipse">
            <a:avLst/>
          </a:prstGeom>
          <a:solidFill>
            <a:srgbClr val="00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🔗 Block-
chain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828800"/>
            <a:ext cx="2011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2024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Calibri"/>
              </a:rPr>
              <a:t>5G enables VR/AR:
High-bandwidth, low-latency
connectivity for immersive
experiences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1828800"/>
            <a:ext cx="2011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0" y="192024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Calibri"/>
              </a:rPr>
              <a:t>AI enhances VR/AR:
Personalises learning
scenarios based on
student performance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754880"/>
            <a:ext cx="2011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Calibri"/>
              </a:rPr>
              <a:t>Edge Computing
supports all:
Low-latency processing
for AI, VR &amp; IoT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4754880"/>
            <a:ext cx="2011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0" y="484632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Calibri"/>
              </a:rPr>
              <a:t>Blockchain secures
AI credentials:
Ensures integrity of
AI-generated evaluations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Conclusion &amp; Recommendations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00200"/>
            <a:ext cx="594360" cy="59436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2B5C"/>
                </a:solidFill>
                <a:latin typeface="Calibri"/>
              </a:rPr>
              <a:t>Comprehensive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019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Four technologies address NYP's core challenges across the entire value chain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560320"/>
            <a:ext cx="594360" cy="594360"/>
          </a:xfrm>
          <a:prstGeom prst="ellipse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14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2B5C"/>
                </a:solidFill>
                <a:latin typeface="Calibri"/>
              </a:rPr>
              <a:t>Strong ROI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8620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Combined five-year net return of ~SGD 32.3M on SGD 8.8–17.1M investment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594360" cy="59436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2B5C"/>
                </a:solidFill>
                <a:latin typeface="Calibri"/>
              </a:rPr>
              <a:t>Managed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22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Phased three-year roadmap with quick wins first (AI chatbot, blockchain)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480560"/>
            <a:ext cx="594360" cy="594360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2B5C"/>
                </a:solidFill>
                <a:latin typeface="Calibri"/>
              </a:rPr>
              <a:t>Synergy Multiplier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7823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Technology synergies create a multiplier effect on ROI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440680"/>
            <a:ext cx="594360" cy="594360"/>
          </a:xfrm>
          <a:prstGeom prst="ellipse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2B5C"/>
                </a:solidFill>
                <a:latin typeface="Calibri"/>
              </a:rPr>
              <a:t>Market Leadership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7424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Calibri"/>
              </a:rPr>
              <a:t>Positions NYP as Singapore's leading polytechnic in the digital 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554480"/>
            <a:ext cx="5303520" cy="4572000"/>
          </a:xfrm>
          <a:prstGeom prst="round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FDA"/>
                </a:solidFill>
                <a:latin typeface="Calibri"/>
              </a:rPr>
              <a:t>📋  Recommendation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2286000"/>
            <a:ext cx="1828800" cy="45720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75120" y="2606040"/>
            <a:ext cx="320040" cy="32004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26060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56032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Approve Phase 1 funding
(SGD 3–5M for AI + Blockchain pilots)</a:t>
            </a:r>
          </a:p>
        </p:txBody>
      </p:sp>
      <p:sp>
        <p:nvSpPr>
          <p:cNvPr id="26" name="Oval 25"/>
          <p:cNvSpPr/>
          <p:nvPr/>
        </p:nvSpPr>
        <p:spPr>
          <a:xfrm>
            <a:off x="6675120" y="3337559"/>
            <a:ext cx="320040" cy="32004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333755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291839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Establish Technology
Steering Committee</a:t>
            </a:r>
          </a:p>
        </p:txBody>
      </p:sp>
      <p:sp>
        <p:nvSpPr>
          <p:cNvPr id="29" name="Oval 28"/>
          <p:cNvSpPr/>
          <p:nvPr/>
        </p:nvSpPr>
        <p:spPr>
          <a:xfrm>
            <a:off x="6675120" y="4069080"/>
            <a:ext cx="320040" cy="32004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4069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02336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Begin 5G partnership
discussions with Singtel/StarHub</a:t>
            </a:r>
          </a:p>
        </p:txBody>
      </p:sp>
      <p:sp>
        <p:nvSpPr>
          <p:cNvPr id="32" name="Oval 31"/>
          <p:cNvSpPr/>
          <p:nvPr/>
        </p:nvSpPr>
        <p:spPr>
          <a:xfrm>
            <a:off x="6675120" y="4800600"/>
            <a:ext cx="320040" cy="32004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4800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75488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Commission VR lab
prototype development</a:t>
            </a:r>
          </a:p>
        </p:txBody>
      </p:sp>
      <p:sp>
        <p:nvSpPr>
          <p:cNvPr id="35" name="Oval 34"/>
          <p:cNvSpPr/>
          <p:nvPr/>
        </p:nvSpPr>
        <p:spPr>
          <a:xfrm>
            <a:off x="6675120" y="5532120"/>
            <a:ext cx="320040" cy="32004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5532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548640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Set up data governance
framework (PDPA compliance)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NYP Emerging Technologies Proposal  |  Feb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C757D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828800"/>
            <a:ext cx="7315200" cy="7315200"/>
          </a:xfrm>
          <a:prstGeom prst="ellipse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0" y="1371600"/>
            <a:ext cx="182880" cy="18288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914400"/>
            <a:ext cx="182880" cy="18288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5486400"/>
            <a:ext cx="182880" cy="18288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5943600"/>
            <a:ext cx="182880" cy="182880"/>
          </a:xfrm>
          <a:prstGeom prst="ellipse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200400"/>
            <a:ext cx="2103120" cy="54864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9FDA"/>
                </a:solidFill>
                <a:latin typeface="Calibri Light"/>
              </a:rPr>
              <a:t>Questions &amp; Discussion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754880"/>
            <a:ext cx="2103120" cy="100584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892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🤖  Clifton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257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4754880"/>
            <a:ext cx="2103120" cy="100584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4892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🥽  Collin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5257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VR/AR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4754880"/>
            <a:ext cx="2103120" cy="1005840"/>
          </a:xfrm>
          <a:prstGeom prst="roundRect">
            <a:avLst/>
          </a:prstGeom>
          <a:solidFill>
            <a:srgbClr val="FD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4892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📡  Alex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5257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5G &amp; Edge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754880"/>
            <a:ext cx="2103120" cy="1005840"/>
          </a:xfrm>
          <a:prstGeom prst="roundRect">
            <a:avLst/>
          </a:prstGeom>
          <a:solidFill>
            <a:srgbClr val="00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4892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🔗  Declan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5257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Blockchain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C757D"/>
                </a:solidFill>
                <a:latin typeface="Calibri"/>
              </a:rPr>
              <a:t>Nanyang Polytechnic  • 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