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EdTech Market Size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09FD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Global
EdTech</c:v>
                </c:pt>
                <c:pt idx="1">
                  <c:v>Asia-
Pacific</c:v>
                </c:pt>
                <c:pt idx="2">
                  <c:v>Singapore
(SGD B)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340</c:v>
                </c:pt>
                <c:pt idx="1">
                  <c:v>115</c:v>
                </c:pt>
                <c:pt idx="2">
                  <c:v>1.75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4EF-46AE-9E8B-61BBEDAE2F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 (Projected)</c:v>
                </c:pt>
              </c:strCache>
            </c:strRef>
          </c:tx>
          <c:spPr>
            <a:solidFill>
              <a:srgbClr val="0A1F4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Global
EdTech</c:v>
                </c:pt>
                <c:pt idx="1">
                  <c:v>Asia-
Pacific</c:v>
                </c:pt>
                <c:pt idx="2">
                  <c:v>Singapore
(SGD B)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605</c:v>
                </c:pt>
                <c:pt idx="1">
                  <c:v>230</c:v>
                </c:pt>
                <c:pt idx="2">
                  <c:v>3.5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4EF-46AE-9E8B-61BBEDAE2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Market</a:t>
                </a:r>
                <a:endParaRPr lang="en-SG" dirty="0"/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-2113994440"/>
        <c:crossesAt val="0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SG" dirty="0"/>
                  <a:t>Market Size</a:t>
                </a:r>
                <a:r>
                  <a:rPr lang="en-SG" baseline="0" dirty="0"/>
                  <a:t> (</a:t>
                </a:r>
                <a:r>
                  <a:rPr lang="en-SG" baseline="0" dirty="0" err="1"/>
                  <a:t>Bilions</a:t>
                </a:r>
                <a:r>
                  <a:rPr lang="en-SG" baseline="0" dirty="0"/>
                  <a:t>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AI Cost-Benefit Analysis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</c:v>
                </c:pt>
              </c:strCache>
            </c:strRef>
          </c:tx>
          <c:spPr>
            <a:solidFill>
              <a:srgbClr val="E14D4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3.75</c:v>
                </c:pt>
                <c:pt idx="1">
                  <c:v>1.5</c:v>
                </c:pt>
                <c:pt idx="2">
                  <c:v>1.5</c:v>
                </c:pt>
                <c:pt idx="3">
                  <c:v>1.5</c:v>
                </c:pt>
                <c:pt idx="4">
                  <c:v>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CC4-4102-BFD8-CFC2CFE3E4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rgbClr val="00A65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6.5</c:v>
                </c:pt>
                <c:pt idx="2">
                  <c:v>7.5</c:v>
                </c:pt>
                <c:pt idx="3">
                  <c:v>8</c:v>
                </c:pt>
                <c:pt idx="4">
                  <c:v>8.5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CC4-4102-BFD8-CFC2CFE3E4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Year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SGD (Millions)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34762594779819184"/>
          <c:y val="0.88586949092300982"/>
          <c:w val="0.30474810440361622"/>
          <c:h val="8.374856463254593E-2"/>
        </c:manualLayout>
      </c:layout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VR/AR Cost-Benefit Analysis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7.848972003499563E-2"/>
          <c:y val="6.9390105533683286E-2"/>
          <c:w val="0.85459463400408286"/>
          <c:h val="0.6476354029965004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</c:v>
                </c:pt>
              </c:strCache>
            </c:strRef>
          </c:tx>
          <c:spPr>
            <a:solidFill>
              <a:srgbClr val="E14D4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3.45</c:v>
                </c:pt>
                <c:pt idx="1">
                  <c:v>1.5</c:v>
                </c:pt>
                <c:pt idx="2">
                  <c:v>1.2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8C8-4293-9602-D2A22DD85F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rgbClr val="00B89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5.5</c:v>
                </c:pt>
                <c:pt idx="3">
                  <c:v>6</c:v>
                </c:pt>
                <c:pt idx="4">
                  <c:v>6.5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8C8-4293-9602-D2A22DD85F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Year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SGD (Millions)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762594779819184"/>
          <c:y val="0.91625143536745401"/>
          <c:w val="0.30474810440361622"/>
          <c:h val="8.374856463254593E-2"/>
        </c:manualLayout>
      </c:layout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5G &amp; Edge Computing Cost-Benefit Analysis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</c:v>
                </c:pt>
              </c:strCache>
            </c:strRef>
          </c:tx>
          <c:spPr>
            <a:solidFill>
              <a:srgbClr val="E14D4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4.25</c:v>
                </c:pt>
                <c:pt idx="1">
                  <c:v>2</c:v>
                </c:pt>
                <c:pt idx="2">
                  <c:v>1.5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6D3-478D-92FF-07456B83FA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rgbClr val="FD793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</c:v>
                </c:pt>
                <c:pt idx="1">
                  <c:v>2</c:v>
                </c:pt>
                <c:pt idx="2">
                  <c:v>3.5</c:v>
                </c:pt>
                <c:pt idx="3">
                  <c:v>4.5</c:v>
                </c:pt>
                <c:pt idx="4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6D3-478D-92FF-07456B83FA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Year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SGD (Millions)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Blockchain Cost-Benefit Analysis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</c:v>
                </c:pt>
              </c:strCache>
            </c:strRef>
          </c:tx>
          <c:spPr>
            <a:solidFill>
              <a:srgbClr val="E14D4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</c:v>
                </c:pt>
                <c:pt idx="1">
                  <c:v>0.4</c:v>
                </c:pt>
                <c:pt idx="2">
                  <c:v>0.3</c:v>
                </c:pt>
                <c:pt idx="3">
                  <c:v>0.2</c:v>
                </c:pt>
                <c:pt idx="4">
                  <c:v>0.2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944-45C9-BCC4-4EBAF731E4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rgbClr val="00CCD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</c:v>
                </c:pt>
                <c:pt idx="1">
                  <c:v>0.5</c:v>
                </c:pt>
                <c:pt idx="2">
                  <c:v>0.8</c:v>
                </c:pt>
                <c:pt idx="3">
                  <c:v>1</c:v>
                </c:pt>
                <c:pt idx="4">
                  <c:v>1.2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944-45C9-BCC4-4EBAF731E4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Year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SGD (Millions)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sz="1800" dirty="0"/>
              <a:t>5-Year Net Return (SGD Millions)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5-Year Net Return (SGD M)</c:v>
                </c:pt>
              </c:strCache>
            </c:strRef>
          </c:tx>
          <c:dPt>
            <c:idx val="0"/>
            <c:bubble3D val="0"/>
            <c:spPr>
              <a:solidFill>
                <a:srgbClr val="6C5CE7"/>
              </a:solidFill>
            </c:spPr>
            <c:extLst>
              <c:ext xmlns:c16="http://schemas.microsoft.com/office/drawing/2014/chart" uri="{C3380CC4-5D6E-409C-BE32-E72D297353CC}">
                <c16:uniqueId val="{00000001-C8D8-4657-96EA-9DD18DC683B7}"/>
              </c:ext>
            </c:extLst>
          </c:dPt>
          <c:dPt>
            <c:idx val="1"/>
            <c:bubble3D val="0"/>
            <c:spPr>
              <a:solidFill>
                <a:srgbClr val="00B894"/>
              </a:solidFill>
            </c:spPr>
            <c:extLst>
              <c:ext xmlns:c16="http://schemas.microsoft.com/office/drawing/2014/chart" uri="{C3380CC4-5D6E-409C-BE32-E72D297353CC}">
                <c16:uniqueId val="{00000003-C8D8-4657-96EA-9DD18DC683B7}"/>
              </c:ext>
            </c:extLst>
          </c:dPt>
          <c:dPt>
            <c:idx val="2"/>
            <c:bubble3D val="0"/>
            <c:spPr>
              <a:solidFill>
                <a:srgbClr val="FD7936"/>
              </a:solidFill>
            </c:spPr>
            <c:extLst>
              <c:ext xmlns:c16="http://schemas.microsoft.com/office/drawing/2014/chart" uri="{C3380CC4-5D6E-409C-BE32-E72D297353CC}">
                <c16:uniqueId val="{00000005-C8D8-4657-96EA-9DD18DC683B7}"/>
              </c:ext>
            </c:extLst>
          </c:dPt>
          <c:dPt>
            <c:idx val="3"/>
            <c:bubble3D val="0"/>
            <c:spPr>
              <a:solidFill>
                <a:srgbClr val="00CCD3"/>
              </a:solidFill>
            </c:spPr>
            <c:extLst>
              <c:ext xmlns:c16="http://schemas.microsoft.com/office/drawing/2014/chart" uri="{C3380CC4-5D6E-409C-BE32-E72D297353CC}">
                <c16:uniqueId val="{00000007-C8D8-4657-96EA-9DD18DC683B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AI</c:v>
                </c:pt>
                <c:pt idx="1">
                  <c:v>VR/AR</c:v>
                </c:pt>
                <c:pt idx="2">
                  <c:v>5G &amp; Edge</c:v>
                </c:pt>
                <c:pt idx="3">
                  <c:v>Blockchain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15.6</c:v>
                </c:pt>
                <c:pt idx="1">
                  <c:v>10.3</c:v>
                </c:pt>
                <c:pt idx="2">
                  <c:v>4.8</c:v>
                </c:pt>
                <c:pt idx="3">
                  <c:v>1.59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8D8-4657-96EA-9DD18DC683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l"/>
      <c:layout>
        <c:manualLayout>
          <c:xMode val="edge"/>
          <c:yMode val="edge"/>
          <c:x val="2.6614824806693246E-2"/>
          <c:y val="0.2989761609265576"/>
          <c:w val="0.21148540294448911"/>
          <c:h val="0.4641611761114614"/>
        </c:manualLayout>
      </c:layout>
      <c:overlay val="1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88358-CE1D-4105-A4E8-A5EFE35A96D8}" type="datetimeFigureOut">
              <a:rPr lang="en-SG" smtClean="0"/>
              <a:t>18/2/2026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5E3E3-35E6-4890-8A0A-99047F4971E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56455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5E3E3-35E6-4890-8A0A-99047F4971E8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85145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-1828800"/>
            <a:ext cx="7315200" cy="7315200"/>
          </a:xfrm>
          <a:prstGeom prst="ellipse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13716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0" y="9144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54864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0" y="59436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91440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TEAM PROPOSAL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920240"/>
            <a:ext cx="1097280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 Light"/>
              </a:rPr>
              <a:t>Emerging Technologies
for Nanyang Polytechnic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E9ECEF"/>
                </a:solidFill>
                <a:latin typeface="Calibri"/>
              </a:rPr>
              <a:t>Competency Unit: Emerging Technologies </a:t>
            </a:r>
            <a:r>
              <a:rPr lang="en-US" sz="1600" b="0" dirty="0">
                <a:solidFill>
                  <a:srgbClr val="E9ECEF"/>
                </a:solidFill>
                <a:latin typeface="Calibri"/>
              </a:rPr>
              <a:t>Synthesis</a:t>
            </a:r>
            <a:endParaRPr sz="1600" b="0" dirty="0">
              <a:solidFill>
                <a:srgbClr val="E9ECEF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97280" y="4937760"/>
            <a:ext cx="2148840" cy="10972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014109"/>
            <a:ext cx="242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Calibri"/>
              </a:rPr>
              <a:t>🤖  Clifton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 Chen Yi-231220B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03020" y="5486383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rgbClr val="FFFFFF"/>
                </a:solidFill>
              </a:rPr>
              <a:t>Artificial Intelligence (AI)</a:t>
            </a:r>
            <a:endParaRPr sz="14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74720" y="4937760"/>
            <a:ext cx="2057400" cy="109728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40184" y="4979257"/>
            <a:ext cx="1800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FFFFFF"/>
                </a:solidFill>
                <a:latin typeface="Calibri"/>
              </a:rPr>
              <a:t>🥽  Collin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 Koh Soon Ming -253991P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03320" y="5520529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Virtual/Augmented Reality – VR/AR</a:t>
            </a:r>
            <a:endParaRPr sz="14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52160" y="4937759"/>
            <a:ext cx="2103120" cy="1105989"/>
          </a:xfrm>
          <a:prstGeom prst="round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89320" y="4960267"/>
            <a:ext cx="1965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Calibri"/>
              </a:rPr>
              <a:t>📡  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Shin Thant Aung 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Alex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 – 243816M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57900" y="5609729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rgbClr val="FFFFFF"/>
                </a:solidFill>
              </a:rPr>
              <a:t>5G &amp; Edge Computing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937759"/>
            <a:ext cx="2103120" cy="1105989"/>
          </a:xfrm>
          <a:prstGeom prst="round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4930429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Calibri"/>
              </a:rPr>
              <a:t>🔗  Declan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 Chua Yuan Lok - 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12480" y="5576500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rgbClr val="FFFFFF"/>
                </a:solidFill>
              </a:rPr>
              <a:t>Blockchain</a:t>
            </a:r>
            <a:endParaRPr sz="14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65967" y="4114801"/>
            <a:ext cx="3448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0" dirty="0">
                <a:solidFill>
                  <a:srgbClr val="FFFF00"/>
                </a:solidFill>
                <a:latin typeface="Calibri"/>
              </a:rPr>
              <a:t> 19 </a:t>
            </a:r>
            <a:r>
              <a:rPr sz="1400" b="0" dirty="0">
                <a:solidFill>
                  <a:srgbClr val="FFFF00"/>
                </a:solidFill>
                <a:latin typeface="Calibri"/>
              </a:rPr>
              <a:t>February 2026  |  Sector: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Presentation Overview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Calibri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Key findings &amp; investment highlights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1600200"/>
            <a:ext cx="640080" cy="64008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554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Calibri"/>
              </a:rPr>
              <a:t>Organisation &amp; Value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NYP profile, educational value chain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834640"/>
            <a:ext cx="640080" cy="640080"/>
          </a:xfrm>
          <a:prstGeom prst="ellipse">
            <a:avLst/>
          </a:prstGeom>
          <a:solidFill>
            <a:srgbClr val="E1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88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Calibri"/>
              </a:rPr>
              <a:t>Problems &amp; Challenges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Six core challenges mapped to value chain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2834640"/>
            <a:ext cx="640080" cy="640080"/>
          </a:xfrm>
          <a:prstGeom prst="ellipse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88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Calibri"/>
              </a:rPr>
              <a:t>Market 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Market sizing &amp; revenue potential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069080"/>
            <a:ext cx="640080" cy="64008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23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Calibri"/>
              </a:rPr>
              <a:t>Technology Solutions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C757D"/>
                </a:solidFill>
                <a:latin typeface="Calibri"/>
              </a:rPr>
              <a:t>AI · VR/AR · 5G &amp; Edge · Blockchain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4069080"/>
            <a:ext cx="640080" cy="64008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023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Calibri"/>
              </a:rPr>
              <a:t>Investment &amp; ROI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Consolidated cost-benefit analysis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303520"/>
            <a:ext cx="640080" cy="640080"/>
          </a:xfrm>
          <a:prstGeom prst="ellipse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257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Calibri"/>
              </a:rPr>
              <a:t>Implementation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Three-phase plan &amp; technology synergy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5303520"/>
            <a:ext cx="640080" cy="640080"/>
          </a:xfrm>
          <a:prstGeom prst="ellipse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257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Calibri"/>
              </a:rPr>
              <a:t>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Recommendations &amp; next steps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Four technologies, one smart campus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517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2560320" cy="64008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24231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>
                <a:solidFill>
                  <a:srgbClr val="009FDA"/>
                </a:solidFill>
                <a:latin typeface="Calibri"/>
              </a:rPr>
              <a:t>SGD 8.8–17.1M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6C757D"/>
                </a:solidFill>
                <a:latin typeface="Calibri"/>
              </a:rPr>
              <a:t>Year 1 </a:t>
            </a:r>
            <a:r>
              <a:rPr sz="1400" b="0" dirty="0">
                <a:solidFill>
                  <a:srgbClr val="6C757D"/>
                </a:solidFill>
                <a:latin typeface="Calibri"/>
              </a:rPr>
              <a:t>Investment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54480"/>
            <a:ext cx="26517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600200"/>
            <a:ext cx="2560320" cy="64008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828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A65A"/>
                </a:solidFill>
                <a:latin typeface="Calibri"/>
              </a:rPr>
              <a:t>SGD 10.5–23M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33172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6C757D"/>
                </a:solidFill>
                <a:latin typeface="Calibri"/>
              </a:rPr>
              <a:t>Projected</a:t>
            </a:r>
            <a:r>
              <a:rPr sz="1300" b="0" dirty="0">
                <a:solidFill>
                  <a:srgbClr val="6C757D"/>
                </a:solidFill>
                <a:latin typeface="Calibri"/>
              </a:rPr>
              <a:t> Annual Returns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6517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2560320" cy="6400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B700"/>
                </a:solidFill>
                <a:latin typeface="Calibri"/>
              </a:rPr>
              <a:t>1–2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3172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6C757D"/>
                </a:solidFill>
                <a:latin typeface="Calibri"/>
              </a:rPr>
              <a:t>Breakeven </a:t>
            </a:r>
            <a:r>
              <a:rPr sz="1400" b="0" dirty="0">
                <a:solidFill>
                  <a:srgbClr val="6C757D"/>
                </a:solidFill>
                <a:latin typeface="Calibri"/>
              </a:rPr>
              <a:t>Period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554480"/>
            <a:ext cx="26517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1600200"/>
            <a:ext cx="2560320" cy="640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828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C5CE7"/>
                </a:solidFill>
                <a:latin typeface="Calibri"/>
              </a:rPr>
              <a:t>SGD 32.3M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3172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6C757D"/>
                </a:solidFill>
                <a:latin typeface="Calibri"/>
              </a:rPr>
              <a:t>Five-Year</a:t>
            </a:r>
            <a:r>
              <a:rPr sz="1300" b="0" dirty="0">
                <a:solidFill>
                  <a:srgbClr val="6C757D"/>
                </a:solidFill>
                <a:latin typeface="Calibri"/>
              </a:rPr>
              <a:t> Net Return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017520"/>
            <a:ext cx="2651760" cy="137160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3813" y="3140404"/>
            <a:ext cx="3112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Calibri"/>
              </a:rPr>
              <a:t>🤖  A</a:t>
            </a:r>
            <a:r>
              <a:rPr lang="en-US" sz="1800" b="1" dirty="0">
                <a:solidFill>
                  <a:srgbClr val="FFFFFF"/>
                </a:solidFill>
                <a:latin typeface="Calibri"/>
              </a:rPr>
              <a:t>rtificial </a:t>
            </a:r>
            <a:r>
              <a:rPr lang="en-US" sz="1600" b="1" dirty="0">
                <a:solidFill>
                  <a:srgbClr val="FFFFFF"/>
                </a:solidFill>
                <a:latin typeface="Calibri"/>
              </a:rPr>
              <a:t>Intelligence</a:t>
            </a:r>
            <a:r>
              <a:rPr lang="en-US" sz="1800" b="1" dirty="0">
                <a:solidFill>
                  <a:srgbClr val="FFFFFF"/>
                </a:solidFill>
                <a:latin typeface="Calibri"/>
              </a:rPr>
              <a:t> (AI)</a:t>
            </a:r>
            <a:endParaRPr sz="1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" y="3591851"/>
            <a:ext cx="228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alibri"/>
              </a:rPr>
              <a:t>Reduce admin costs by SGD 2–4M/yr
Improve retention 10–15%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017520"/>
            <a:ext cx="2651760" cy="137160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66160" y="3083560"/>
            <a:ext cx="2529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🥽  </a:t>
            </a:r>
            <a:r>
              <a:rPr lang="en-US" sz="1600" b="1" dirty="0">
                <a:solidFill>
                  <a:srgbClr val="FFFFFF"/>
                </a:solidFill>
                <a:latin typeface="Calibri"/>
              </a:rPr>
              <a:t>Virtual/Augmented Reality – VR/AR</a:t>
            </a:r>
            <a:endParaRPr sz="1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66160" y="3670310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alibri"/>
              </a:rPr>
              <a:t>Expand training capacity
SGD 2–5M/yr B2B licensing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017520"/>
            <a:ext cx="2651760" cy="1371600"/>
          </a:xfrm>
          <a:prstGeom prst="round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3171182"/>
            <a:ext cx="259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📡  5G &amp; Edge</a:t>
            </a:r>
            <a:r>
              <a:rPr lang="en-US" sz="1600" b="1" dirty="0">
                <a:solidFill>
                  <a:srgbClr val="FFFFFF"/>
                </a:solidFill>
                <a:latin typeface="Calibri"/>
              </a:rPr>
              <a:t> Computing </a:t>
            </a:r>
            <a:endParaRPr sz="1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16040" y="3606256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alibri"/>
              </a:rPr>
              <a:t>Smart-campus backbone
Lower energy costs 10–15%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3017520"/>
            <a:ext cx="2651760" cy="1371600"/>
          </a:xfrm>
          <a:prstGeom prst="round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35440" y="320040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🔗  Blockchain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3611880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alibri"/>
              </a:rPr>
              <a:t>Verify credentials in seconds
Cut manual </a:t>
            </a:r>
            <a:r>
              <a:rPr sz="1400" b="0" dirty="0" err="1">
                <a:solidFill>
                  <a:srgbClr val="FFFFFF"/>
                </a:solidFill>
                <a:latin typeface="Calibri"/>
              </a:rPr>
              <a:t>labour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50–70%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0642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9487" y="4916896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>
                <a:solidFill>
                  <a:srgbClr val="002B5C"/>
                </a:solidFill>
                <a:latin typeface="Calibri"/>
              </a:rPr>
              <a:t>💡  A phased three-year implementation roadmap manages risk while the four technologies reinforce one another to form a cohesive smart-campus ecosystem — positioning NYP as Singapore's leading polytechnic in the digital age.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Organisation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Nanyang Polytechnic (NYP)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85900" y="1714500"/>
            <a:ext cx="777240" cy="77724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dirty="0">
                <a:solidFill>
                  <a:srgbClr val="FFFFFF"/>
                </a:solidFill>
              </a:rPr>
              <a:t>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289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09FDA"/>
                </a:solidFill>
                <a:latin typeface="Calibri"/>
              </a:rPr>
              <a:t>Established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78348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2D2D2D"/>
                </a:solidFill>
                <a:latin typeface="Calibri"/>
              </a:rPr>
              <a:t>1992
Ang Mo Kio, S</a:t>
            </a:r>
            <a:r>
              <a:rPr lang="en-US" sz="1400" b="0" dirty="0">
                <a:solidFill>
                  <a:srgbClr val="2D2D2D"/>
                </a:solidFill>
                <a:latin typeface="Calibri"/>
              </a:rPr>
              <a:t>ingapore</a:t>
            </a:r>
            <a:endParaRPr sz="1400" b="0" dirty="0">
              <a:solidFill>
                <a:srgbClr val="2D2D2D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383280" y="155448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20540" y="1714500"/>
            <a:ext cx="777240" cy="777240"/>
          </a:xfrm>
          <a:prstGeom prst="ellipse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dirty="0">
                <a:solidFill>
                  <a:srgbClr val="FFFFFF"/>
                </a:solidFill>
              </a:rPr>
              <a:t>👩‍🎓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60426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0A65A"/>
                </a:solidFill>
                <a:latin typeface="Calibri"/>
              </a:rPr>
              <a:t>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868203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2D2D2D"/>
                </a:solidFill>
                <a:latin typeface="Calibri"/>
              </a:rPr>
              <a:t>~15,000 FT
+ CET learners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155180" y="1710154"/>
            <a:ext cx="777240" cy="7772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🏛️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9388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6C5CE7"/>
                </a:solidFill>
                <a:latin typeface="Calibri"/>
              </a:rPr>
              <a:t>Schools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68203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2D2D2D"/>
                </a:solidFill>
                <a:latin typeface="Calibri"/>
              </a:rPr>
              <a:t>6 Schools
across disciplines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55448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989820" y="1710154"/>
            <a:ext cx="777240" cy="77724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dirty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59153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B700"/>
                </a:solidFill>
                <a:latin typeface="Calibri"/>
              </a:rPr>
              <a:t>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78348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2D2D2D"/>
                </a:solidFill>
                <a:latin typeface="Calibri"/>
              </a:rPr>
              <a:t>SGD 200–300M
(MOE-funded)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57600"/>
            <a:ext cx="11064240" cy="822960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399" y="3799332"/>
            <a:ext cx="10332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chemeClr val="bg1"/>
                </a:solidFill>
                <a:latin typeface="Calibri"/>
              </a:rPr>
              <a:t>🎯  Mission: </a:t>
            </a:r>
            <a:r>
              <a:rPr lang="en-US" sz="1400" dirty="0">
                <a:solidFill>
                  <a:schemeClr val="bg1"/>
                </a:solidFill>
              </a:rPr>
              <a:t>Empowering Learners for Work &amp; Life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Co-creating with Industry for Growth &amp; Sustainability</a:t>
            </a:r>
          </a:p>
          <a:p>
            <a:pPr algn="ctr"/>
            <a:endParaRPr sz="14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4754880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▸  School of Information Technology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4754880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▸  School of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4754880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▸  School of Business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57800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▸  School of Design &amp; Media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9" y="5257800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▸  School of Health &amp; Social Sciences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5257800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▸  School of Applied Science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NYP's Educational Value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End-to-end activities delivering value to students, employers &amp; government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1325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21792" y="2057400"/>
            <a:ext cx="777240" cy="77724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017520"/>
            <a:ext cx="1234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02B5C"/>
                </a:solidFill>
                <a:latin typeface="Calibri"/>
              </a:rPr>
              <a:t>Student
Recruitment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FDA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10512" y="1828800"/>
            <a:ext cx="1325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66544" y="2057400"/>
            <a:ext cx="777240" cy="77724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2" y="3017520"/>
            <a:ext cx="1234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02B5C"/>
                </a:solidFill>
                <a:latin typeface="Calibri"/>
              </a:rPr>
              <a:t>Curriculum
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FDA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55264" y="1828800"/>
            <a:ext cx="1325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11296" y="2057400"/>
            <a:ext cx="777240" cy="7772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0984" y="3017520"/>
            <a:ext cx="1234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02B5C"/>
                </a:solidFill>
                <a:latin typeface="Calibri"/>
              </a:rPr>
              <a:t>Teaching &amp;
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FDA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0016" y="1828800"/>
            <a:ext cx="1325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56048" y="2057400"/>
            <a:ext cx="777240" cy="777240"/>
          </a:xfrm>
          <a:prstGeom prst="ellipse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5736" y="3017520"/>
            <a:ext cx="1234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02B5C"/>
                </a:solidFill>
                <a:latin typeface="Calibri"/>
              </a:rPr>
              <a:t>Student
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009FDA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828800"/>
            <a:ext cx="1325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00800" y="2057400"/>
            <a:ext cx="777240" cy="777240"/>
          </a:xfrm>
          <a:prstGeom prst="ellipse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3017520"/>
            <a:ext cx="1234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02B5C"/>
                </a:solidFill>
                <a:latin typeface="Calibri"/>
              </a:rPr>
              <a:t>Assessment &amp;
Certification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FDA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1828800"/>
            <a:ext cx="1325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845552" y="2057400"/>
            <a:ext cx="777240" cy="777240"/>
          </a:xfrm>
          <a:prstGeom prst="ellipse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017520"/>
            <a:ext cx="1234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02B5C"/>
                </a:solidFill>
                <a:latin typeface="Calibri"/>
              </a:rPr>
              <a:t>Industry
Partnerships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FDA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34272" y="1828800"/>
            <a:ext cx="1325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290304" y="2057400"/>
            <a:ext cx="777240" cy="77724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9992" y="3017520"/>
            <a:ext cx="1234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02B5C"/>
                </a:solidFill>
                <a:latin typeface="Calibri"/>
              </a:rPr>
              <a:t>CET
Programs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96144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FDA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79024" y="1828800"/>
            <a:ext cx="1325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735056" y="2057400"/>
            <a:ext cx="777240" cy="777240"/>
          </a:xfrm>
          <a:prstGeom prst="ellipse">
            <a:avLst/>
          </a:prstGeom>
          <a:solidFill>
            <a:srgbClr val="E1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24744" y="3017520"/>
            <a:ext cx="1234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02B5C"/>
                </a:solidFill>
                <a:latin typeface="Calibri"/>
              </a:rPr>
              <a:t>Campus
Operations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11064240" cy="731520"/>
          </a:xfrm>
          <a:prstGeom prst="roundRect">
            <a:avLst/>
          </a:prstGeom>
          <a:solidFill>
            <a:srgbClr val="D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9487" y="4592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002B5C"/>
                </a:solidFill>
                <a:latin typeface="Calibri"/>
              </a:rPr>
              <a:t>Each activity represents an area where emerging technologies can create measurable improvements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Current Problems &amp;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Six core challenges mapped to the value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3474720" cy="64008"/>
          </a:xfrm>
          <a:prstGeom prst="rect">
            <a:avLst/>
          </a:prstGeom>
          <a:solidFill>
            <a:srgbClr val="E1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E1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830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B5C"/>
                </a:solidFill>
                <a:latin typeface="Calibri"/>
              </a:rPr>
              <a:t>Scalability of
Personalised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Large class sizes limit individual attention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8960"/>
            <a:ext cx="2286000" cy="365760"/>
          </a:xfrm>
          <a:prstGeom prst="roundRect">
            <a:avLst/>
          </a:prstGeom>
          <a:solidFill>
            <a:srgbClr val="E1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1363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Calibri"/>
              </a:rPr>
              <a:t>↳ Teaching &amp; 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55448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600200"/>
            <a:ext cx="3474720" cy="64008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34840" y="1783080"/>
            <a:ext cx="640080" cy="640080"/>
          </a:xfrm>
          <a:prstGeom prst="ellipse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dirty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7830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B5C"/>
                </a:solidFill>
                <a:latin typeface="Calibri"/>
              </a:rPr>
              <a:t>Limited Hands-On
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51460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Physical lab constraints &amp; costly equipment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108960"/>
            <a:ext cx="2286000" cy="365760"/>
          </a:xfrm>
          <a:prstGeom prst="round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6280" y="31363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Calibri"/>
              </a:rPr>
              <a:t>↳ Teaching &amp; Learning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55448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92440" y="1600200"/>
            <a:ext cx="3474720" cy="64008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29600" y="1783080"/>
            <a:ext cx="640080" cy="64008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17830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B5C"/>
                </a:solidFill>
                <a:latin typeface="Calibri"/>
              </a:rPr>
              <a:t>Campus Connectivity
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51460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Bandwidth bottlenecks during peak hours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108960"/>
            <a:ext cx="2286000" cy="36576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31363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Calibri"/>
              </a:rPr>
              <a:t>↳ Campus Operations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77639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4023359"/>
            <a:ext cx="3474720" cy="64008"/>
          </a:xfrm>
          <a:prstGeom prst="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0080" y="4206239"/>
            <a:ext cx="640080" cy="640080"/>
          </a:xfrm>
          <a:prstGeom prst="ellipse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206239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B5C"/>
                </a:solidFill>
                <a:latin typeface="Calibri"/>
              </a:rPr>
              <a:t>Certificate Fraud &amp;
Verification Delays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37759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3–10 working days for manual verification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532119"/>
            <a:ext cx="2286000" cy="365760"/>
          </a:xfrm>
          <a:prstGeom prst="round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55955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Calibri"/>
              </a:rPr>
              <a:t>↳ Assessment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960" y="3977639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97680" y="4023359"/>
            <a:ext cx="3474720" cy="6400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434840" y="4206239"/>
            <a:ext cx="640080" cy="64008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206239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002B5C"/>
                </a:solidFill>
                <a:latin typeface="Calibri"/>
              </a:rPr>
              <a:t>Rising Competition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937759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Five polytechnics + universities competing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34840" y="5532119"/>
            <a:ext cx="2286000" cy="365760"/>
          </a:xfrm>
          <a:prstGeom prst="round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26280" y="5559551"/>
            <a:ext cx="2103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Calibri"/>
              </a:rPr>
              <a:t>↳ Recruitment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3977639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092440" y="4023359"/>
            <a:ext cx="3474720" cy="64008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229600" y="4206239"/>
            <a:ext cx="640080" cy="640080"/>
          </a:xfrm>
          <a:prstGeom prst="ellipse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4206239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002B5C"/>
                </a:solidFill>
                <a:latin typeface="Calibri"/>
              </a:rPr>
              <a:t>Environmental &amp;
Sustainability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937759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Carbon footprint, SG Green Plan 2030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5532119"/>
            <a:ext cx="2286000" cy="365760"/>
          </a:xfrm>
          <a:prstGeom prst="round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1040" y="555955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Calibri"/>
              </a:rPr>
              <a:t>↳ Campus Operations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Market Size &amp; Revenue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Singapore education &amp; global EdTech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9FDA"/>
                </a:solidFill>
                <a:latin typeface="Calibri"/>
              </a:rPr>
              <a:t>SGD 13B/yr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SG government education budget (15–20% of national budget)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FDA"/>
                </a:solidFill>
                <a:latin typeface="Calibri"/>
              </a:rPr>
              <a:t>~70,000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Full-time polytechnic students across five institutions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FDA"/>
                </a:solidFill>
                <a:latin typeface="Calibri"/>
              </a:rPr>
              <a:t>~21%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79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NYP's share of the polytechnic market (~15,000 students)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9FDA"/>
                </a:solidFill>
                <a:latin typeface="Calibri"/>
              </a:rPr>
              <a:t>USD 340B → 605B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" y="4480560"/>
            <a:ext cx="60062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dirty="0">
                <a:solidFill>
                  <a:srgbClr val="2D2D2D"/>
                </a:solidFill>
                <a:latin typeface="Calibri"/>
              </a:rPr>
              <a:t>Global EdTech market </a:t>
            </a:r>
            <a:r>
              <a:rPr sz="1400" b="0" dirty="0">
                <a:solidFill>
                  <a:srgbClr val="2D2D2D"/>
                </a:solidFill>
                <a:latin typeface="Calibri"/>
              </a:rPr>
              <a:t>2024</a:t>
            </a:r>
            <a:r>
              <a:rPr sz="1300" b="0" dirty="0">
                <a:solidFill>
                  <a:srgbClr val="2D2D2D"/>
                </a:solidFill>
                <a:latin typeface="Calibri"/>
              </a:rPr>
              <a:t> → </a:t>
            </a:r>
            <a:r>
              <a:rPr sz="1400" b="0" dirty="0">
                <a:solidFill>
                  <a:srgbClr val="2D2D2D"/>
                </a:solidFill>
                <a:latin typeface="Calibri"/>
              </a:rPr>
              <a:t>2027</a:t>
            </a:r>
            <a:r>
              <a:rPr sz="1300" b="0" dirty="0">
                <a:solidFill>
                  <a:srgbClr val="2D2D2D"/>
                </a:solidFill>
                <a:latin typeface="Calibri"/>
              </a:rPr>
              <a:t> (16% </a:t>
            </a:r>
            <a:r>
              <a:rPr lang="en-SG" sz="1400" b="0" dirty="0">
                <a:solidFill>
                  <a:srgbClr val="2D2D2D"/>
                </a:solidFill>
                <a:latin typeface="Calibri"/>
              </a:rPr>
              <a:t>C</a:t>
            </a:r>
            <a:r>
              <a:rPr lang="en-SG" sz="1400" dirty="0"/>
              <a:t>ompound Annual Growth Rate - CAGR</a:t>
            </a:r>
            <a:r>
              <a:rPr sz="1300" b="0" dirty="0">
                <a:solidFill>
                  <a:srgbClr val="2D2D2D"/>
                </a:solidFill>
                <a:latin typeface="Calibri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FDA"/>
                </a:solidFill>
                <a:latin typeface="Calibri"/>
              </a:rPr>
              <a:t>SGD 1.5–2B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4924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2D2D2D"/>
                </a:solidFill>
                <a:latin typeface="Calibri"/>
              </a:rPr>
              <a:t>Singapore EdTech market (</a:t>
            </a:r>
            <a:r>
              <a:rPr sz="1400" b="0" dirty="0" err="1">
                <a:solidFill>
                  <a:srgbClr val="2D2D2D"/>
                </a:solidFill>
                <a:latin typeface="Calibri"/>
              </a:rPr>
              <a:t>SkillsFuture</a:t>
            </a:r>
            <a:r>
              <a:rPr sz="1300" b="0" dirty="0">
                <a:solidFill>
                  <a:srgbClr val="2D2D2D"/>
                </a:solidFill>
                <a:latin typeface="Calibri"/>
              </a:rPr>
              <a:t> &amp; IMDA driven)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305276"/>
              </p:ext>
            </p:extLst>
          </p:nvPr>
        </p:nvGraphicFramePr>
        <p:xfrm>
          <a:off x="6339535" y="1609344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40080" y="5715000"/>
            <a:ext cx="11064240" cy="731520"/>
          </a:xfrm>
          <a:prstGeom prst="roundRect">
            <a:avLst/>
          </a:prstGeom>
          <a:solidFill>
            <a:srgbClr val="D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929487" y="5888736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02B5C"/>
                </a:solidFill>
                <a:latin typeface="Calibri"/>
              </a:rPr>
              <a:t>Revenue Streams:  AI-powered CET courses  |  VR content licensing  |  Blockchain verification services  |  Smart-campus consulting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5029200"/>
            <a:ext cx="274320" cy="27432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54864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914400"/>
            <a:ext cx="137160" cy="13716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2926080"/>
            <a:ext cx="914400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 Light"/>
              </a:rPr>
              <a:t>Technology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Four emerging technologies mapped to NYP's value 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Artificial Intelligence (AI)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Clifton </a:t>
            </a:r>
            <a:r>
              <a:rPr lang="en-US"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Chen Yi</a:t>
            </a:r>
            <a:r>
              <a:rPr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 |  Team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6C5CE7"/>
                </a:solidFill>
                <a:latin typeface="Calibri"/>
              </a:rPr>
              <a:t>AI Technologies for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30352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Machine Learning (ML) — Algorithms that improve through experience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Natural Language Processing — Understanding &amp; generating human language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Computer Vision — Interpreting visual information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Generative AI — Content creation, Q&amp;A, creative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46520" y="1508760"/>
            <a:ext cx="2560320" cy="640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C5CE7"/>
                </a:solidFill>
                <a:latin typeface="Calibri"/>
              </a:rPr>
              <a:t>🎯 Adaptive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228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2D2D2D"/>
                </a:solidFill>
                <a:latin typeface="Calibri"/>
              </a:rPr>
              <a:t>Personalise</a:t>
            </a:r>
            <a:r>
              <a:rPr sz="1400" b="0" dirty="0">
                <a:solidFill>
                  <a:srgbClr val="2D2D2D"/>
                </a:solidFill>
                <a:latin typeface="Calibri"/>
              </a:rPr>
              <a:t> learning paths;
identify at-risk students early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4630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281160" y="1508760"/>
            <a:ext cx="2560320" cy="640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C5CE7"/>
                </a:solidFill>
                <a:latin typeface="Calibri"/>
              </a:rPr>
              <a:t>💬 AI Chatbots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03120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24/7 student support;
reduce admin workload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6616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46520" y="3611880"/>
            <a:ext cx="2560320" cy="640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C5CE7"/>
                </a:solidFill>
                <a:latin typeface="Calibri"/>
              </a:rPr>
              <a:t>📝 Auto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06240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NLP grading; auto-grade
coding assignments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356616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81160" y="3611880"/>
            <a:ext cx="2560320" cy="640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C5CE7"/>
                </a:solidFill>
                <a:latin typeface="Calibri"/>
              </a:rPr>
              <a:t>📊 Predictive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206240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Forecast student success;
target interventions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067949"/>
            <a:ext cx="5394960" cy="118872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14781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Calibri"/>
              </a:rPr>
              <a:t>📌 Real-World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0344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alibri"/>
              </a:rPr>
              <a:t>Georgia State University's AI chatbot "Pounce" reduced
summer enrollment melt by 21% through proactive engagement.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AI — Impact, ROI &amp;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440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A65A"/>
                </a:solidFill>
                <a:latin typeface="Calibri"/>
              </a:rPr>
              <a:t>✅ 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36532"/>
            <a:ext cx="4572000" cy="179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Improve student retention by 10–15%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Reduce admin costs by SGD 2–4M/year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New C</a:t>
            </a:r>
            <a:r>
              <a:rPr lang="en-US" sz="1400" b="0" dirty="0">
                <a:solidFill>
                  <a:srgbClr val="2D2D2D"/>
                </a:solidFill>
                <a:latin typeface="Calibri"/>
              </a:rPr>
              <a:t>ontinuing Education and Training (CET)</a:t>
            </a:r>
            <a:r>
              <a:rPr sz="1400" b="0" dirty="0">
                <a:solidFill>
                  <a:srgbClr val="2D2D2D"/>
                </a:solidFill>
                <a:latin typeface="Calibri"/>
              </a:rPr>
              <a:t> revenue</a:t>
            </a:r>
            <a:r>
              <a:rPr lang="en-US" sz="1400" dirty="0">
                <a:solidFill>
                  <a:srgbClr val="2D2D2D"/>
                </a:solidFill>
                <a:latin typeface="Calibri"/>
              </a:rPr>
              <a:t>: </a:t>
            </a:r>
            <a:r>
              <a:rPr sz="1400" b="0" dirty="0">
                <a:solidFill>
                  <a:srgbClr val="2D2D2D"/>
                </a:solidFill>
                <a:latin typeface="Calibri"/>
              </a:rPr>
              <a:t>SGD 5–10M/year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</a:t>
            </a:r>
            <a:r>
              <a:rPr sz="1400" b="0" dirty="0" err="1">
                <a:solidFill>
                  <a:srgbClr val="2D2D2D"/>
                </a:solidFill>
                <a:latin typeface="Calibri"/>
              </a:rPr>
              <a:t>Personalised</a:t>
            </a:r>
            <a:r>
              <a:rPr sz="1400" b="0" dirty="0">
                <a:solidFill>
                  <a:srgbClr val="2D2D2D"/>
                </a:solidFill>
                <a:latin typeface="Calibri"/>
              </a:rPr>
              <a:t> 24/7 learning &amp; support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Enhanced competitive positioning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948644"/>
              </p:ext>
            </p:extLst>
          </p:nvPr>
        </p:nvGraphicFramePr>
        <p:xfrm>
          <a:off x="6095847" y="1527895"/>
          <a:ext cx="5486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4591135"/>
            <a:ext cx="5425135" cy="73897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78727" y="4769429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alibri"/>
              </a:rPr>
              <a:t>Five-year net return: ~SGD 15.6M  |  226% ROI  |  Breakeven: Year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213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E14D4D"/>
                </a:solidFill>
                <a:latin typeface="Calibri"/>
              </a:rPr>
              <a:t>⚠️  Key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60634"/>
            <a:ext cx="5029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Data privacy &amp; PDPA compliance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Resistance to change from staff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Data quality &amp; governance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Integration with existing </a:t>
            </a:r>
            <a:r>
              <a:rPr lang="en-US" sz="1400" b="0" dirty="0">
                <a:solidFill>
                  <a:srgbClr val="2D2D2D"/>
                </a:solidFill>
                <a:latin typeface="Calibri"/>
              </a:rPr>
              <a:t>Learning Management System/Information Technology (LMS/IT)</a:t>
            </a:r>
            <a:endParaRPr sz="1400" b="0" dirty="0">
              <a:solidFill>
                <a:srgbClr val="2D2D2D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0133"/>
            <a:ext cx="1130130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Calibri Light"/>
              </a:rPr>
              <a:t>Immersive Media (V</a:t>
            </a:r>
            <a:r>
              <a:rPr lang="en-US" sz="3400" b="1" dirty="0">
                <a:solidFill>
                  <a:srgbClr val="FFFFFF"/>
                </a:solidFill>
                <a:latin typeface="Calibri Light"/>
              </a:rPr>
              <a:t>irtual Reality/Augmented Reality </a:t>
            </a:r>
            <a:r>
              <a:rPr sz="3400" b="1" dirty="0">
                <a:solidFill>
                  <a:srgbClr val="FFFFFF"/>
                </a:solidFill>
                <a:latin typeface="Calibri Light"/>
              </a:rPr>
              <a:t>)</a:t>
            </a:r>
            <a:r>
              <a:rPr lang="en-US" sz="3400" b="1" dirty="0">
                <a:solidFill>
                  <a:srgbClr val="FFFFFF"/>
                </a:solidFill>
                <a:latin typeface="Calibri Light"/>
              </a:rPr>
              <a:t> – AR/VR</a:t>
            </a:r>
            <a:endParaRPr sz="3400" b="1" dirty="0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785368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Collin</a:t>
            </a:r>
            <a:r>
              <a:rPr lang="en-US"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 Koh Soon Ming</a:t>
            </a:r>
            <a:endParaRPr sz="1600" b="0" dirty="0">
              <a:solidFill>
                <a:schemeClr val="accent3">
                  <a:lumMod val="60000"/>
                  <a:lumOff val="40000"/>
                </a:schemeClr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B894"/>
                </a:solidFill>
                <a:latin typeface="Calibri"/>
              </a:rPr>
              <a:t>VR/AR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159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Virtual Reality (VR) — Fully immersive 3D environments (Meta Quest, HTC </a:t>
            </a:r>
            <a:r>
              <a:rPr sz="1400" b="0" dirty="0" err="1">
                <a:solidFill>
                  <a:srgbClr val="2D2D2D"/>
                </a:solidFill>
                <a:latin typeface="Calibri"/>
              </a:rPr>
              <a:t>Vive</a:t>
            </a:r>
            <a:r>
              <a:rPr sz="1400" b="0" dirty="0">
                <a:solidFill>
                  <a:srgbClr val="2D2D2D"/>
                </a:solidFill>
                <a:latin typeface="Calibri"/>
              </a:rPr>
              <a:t>)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Augmented Reality (AR) — Digital overlays on real world (HoloLens, Vision Pro)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Mixed Reality (MR) — Blends physical and digital interaction in real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46520" y="1508760"/>
            <a:ext cx="2560320" cy="640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894"/>
                </a:solidFill>
                <a:latin typeface="Calibri"/>
              </a:rPr>
              <a:t>🔬 Virtual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Safe, repeatable simulations
for engineering &amp; healthcare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4630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281160" y="1508760"/>
            <a:ext cx="2560320" cy="640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894"/>
                </a:solidFill>
                <a:latin typeface="Calibri"/>
              </a:rPr>
              <a:t>🌐 Immersive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03120"/>
            <a:ext cx="228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3D overlays of anatomy,
architecture, machines via 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6616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46520" y="3611880"/>
            <a:ext cx="2560320" cy="640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894"/>
                </a:solidFill>
                <a:latin typeface="Calibri"/>
              </a:rPr>
              <a:t>🏫 Virtual Campus Tours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27257"/>
            <a:ext cx="2468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Attract international students
with 360° experiences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356616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81160" y="3611880"/>
            <a:ext cx="2560320" cy="640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894"/>
                </a:solidFill>
                <a:latin typeface="Calibri"/>
              </a:rPr>
              <a:t>🏭 Industry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2615" y="4206240"/>
            <a:ext cx="228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Aviation, construction, hospitality
VR simulations for C</a:t>
            </a:r>
            <a:r>
              <a:rPr lang="en-US" sz="1400" b="0" dirty="0">
                <a:solidFill>
                  <a:srgbClr val="2D2D2D"/>
                </a:solidFill>
                <a:latin typeface="Calibri"/>
              </a:rPr>
              <a:t>ontinuing Education and Training (CET)</a:t>
            </a:r>
            <a:endParaRPr sz="1400" b="0" dirty="0">
              <a:solidFill>
                <a:srgbClr val="2D2D2D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4360" y="3683677"/>
            <a:ext cx="5394960" cy="82296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777240" y="381496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Calibri"/>
              </a:rPr>
              <a:t>📈  VR/AR training improves knowledge retention by 75%
     compared to traditional methods (PwC, 2022)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709160"/>
            <a:ext cx="53949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4757251"/>
            <a:ext cx="5303520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87036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B894"/>
                </a:solidFill>
                <a:latin typeface="Calibri"/>
              </a:rPr>
              <a:t>📌 Real-World 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51797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2D2D2D"/>
                </a:solidFill>
                <a:latin typeface="Calibri"/>
              </a:rPr>
              <a:t>Labster</a:t>
            </a:r>
            <a:r>
              <a:rPr sz="1400" b="0" dirty="0">
                <a:solidFill>
                  <a:srgbClr val="2D2D2D"/>
                </a:solidFill>
                <a:latin typeface="Calibri"/>
              </a:rPr>
              <a:t>: 3,000+ institutions, 200+ virtual lab experiments.
Microsoft HoloLens: 3D holographic anatomy in medical schools.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VR/AR — Impact, ROI &amp;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A65A"/>
                </a:solidFill>
                <a:latin typeface="Calibri"/>
              </a:rPr>
              <a:t>✅ 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09987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dirty="0">
                <a:solidFill>
                  <a:srgbClr val="2D2D2D"/>
                </a:solidFill>
                <a:latin typeface="Calibri"/>
              </a:rPr>
              <a:t>▸  Expand practical training beyond physical lab limits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2D2D2D"/>
                </a:solidFill>
                <a:latin typeface="Calibri"/>
              </a:rPr>
              <a:t>▸  Reduce equipment maintenance costs by 15–25%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2D2D2D"/>
                </a:solidFill>
                <a:latin typeface="Calibri"/>
              </a:rPr>
              <a:t>▸  75% better knowledge retention vs. traditional methods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2D2D2D"/>
                </a:solidFill>
                <a:latin typeface="Calibri"/>
              </a:rPr>
              <a:t>▸  B2B licensing revenue: SGD 2–5M/year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2D2D2D"/>
                </a:solidFill>
                <a:latin typeface="Calibri"/>
              </a:rPr>
              <a:t>▸  Enhanced student recruitment via virtual tours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280403"/>
              </p:ext>
            </p:extLst>
          </p:nvPr>
        </p:nvGraphicFramePr>
        <p:xfrm>
          <a:off x="6217920" y="1463040"/>
          <a:ext cx="5486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4572000"/>
            <a:ext cx="5486400" cy="100584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4754880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Five-year net return: ~SGD 10.3M  |  198% ROI  |  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Breakeven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: Year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1997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E14D4D"/>
                </a:solidFill>
                <a:latin typeface="Calibri"/>
              </a:rPr>
              <a:t>⚠️  Key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72263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High initial HW/content investment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</a:t>
            </a:r>
            <a:r>
              <a:rPr sz="1400" b="0" dirty="0" err="1">
                <a:solidFill>
                  <a:srgbClr val="2D2D2D"/>
                </a:solidFill>
                <a:latin typeface="Calibri"/>
              </a:rPr>
              <a:t>Specialised</a:t>
            </a:r>
            <a:r>
              <a:rPr sz="1400" b="0" dirty="0">
                <a:solidFill>
                  <a:srgbClr val="2D2D2D"/>
                </a:solidFill>
                <a:latin typeface="Calibri"/>
              </a:rPr>
              <a:t> content development skills needed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Motion sickness &amp; accessibility concerns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Hardware refresh every 2–3 years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5G &amp; Edge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Shint</a:t>
            </a:r>
            <a:r>
              <a:rPr lang="en-US"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 Thant Aung Alex </a:t>
            </a:r>
            <a:endParaRPr sz="1600" b="0" dirty="0">
              <a:solidFill>
                <a:schemeClr val="accent3">
                  <a:lumMod val="60000"/>
                  <a:lumOff val="40000"/>
                </a:schemeClr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D7936"/>
                </a:solidFill>
                <a:latin typeface="Calibri"/>
              </a:rPr>
              <a:t>5G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7830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1691640" cy="64008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D7936"/>
                </a:solidFill>
                <a:latin typeface="Calibri"/>
              </a:rPr>
              <a:t>⚡ 20 Gbps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2D2D2D"/>
                </a:solidFill>
                <a:latin typeface="Calibri"/>
              </a:rPr>
              <a:t>Ultra-high speed
(20× faster than 4G)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920240"/>
            <a:ext cx="17830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06040" y="1965960"/>
            <a:ext cx="1691640" cy="64008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2148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D7936"/>
                </a:solidFill>
                <a:latin typeface="Calibri"/>
              </a:rPr>
              <a:t>⏱️ 1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560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2D2D2D"/>
                </a:solidFill>
                <a:latin typeface="Calibri"/>
              </a:rPr>
              <a:t>Ultra-low latency
(vs 30–50ms for 4G)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92024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26280" y="1965960"/>
            <a:ext cx="1691640" cy="64008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5987" y="2172700"/>
            <a:ext cx="2150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FD7936"/>
                </a:solidFill>
                <a:latin typeface="Calibri"/>
              </a:rPr>
              <a:t>📱 1M devices/km²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5067" y="2560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2D2D2D"/>
                </a:solidFill>
                <a:latin typeface="Calibri"/>
              </a:rPr>
              <a:t>Massive connectivity
&amp; network slicing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4630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46520" y="1508760"/>
            <a:ext cx="2560320" cy="64008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D7936"/>
                </a:solidFill>
                <a:latin typeface="Calibri"/>
              </a:rPr>
              <a:t>🏢 Smart Campus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103120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IoT sensors, smart energy,
parking &amp; navigation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4630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81160" y="1508760"/>
            <a:ext cx="2560320" cy="64008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D7936"/>
                </a:solidFill>
                <a:latin typeface="Calibri"/>
              </a:rPr>
              <a:t>📺 Hybrid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103120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4K/8K streaming, real-time
collaboration, remote labs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56616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46520" y="3611880"/>
            <a:ext cx="2560320" cy="64008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D7936"/>
                </a:solidFill>
                <a:latin typeface="Calibri"/>
              </a:rPr>
              <a:t>🔌 VR/AR &amp; AI Enabler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206240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High-bandwidth backbone
for immersive workloads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56616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281160" y="3611880"/>
            <a:ext cx="2560320" cy="64008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1832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D7936"/>
                </a:solidFill>
                <a:latin typeface="Calibri"/>
              </a:rPr>
              <a:t>🔒 Campus Security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206240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AI surveillance, access
control, emergency alerts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840480"/>
            <a:ext cx="5394960" cy="1097280"/>
          </a:xfrm>
          <a:prstGeom prst="round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Calibri"/>
              </a:rPr>
              <a:t>Edge Computing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25196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alibri"/>
              </a:rPr>
              <a:t>Brings computation closer to data sources. Reduces latency,
improves response times, and supports real-time AI &amp; VR apps.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120640"/>
            <a:ext cx="53949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" y="5166360"/>
            <a:ext cx="5303520" cy="54864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525780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D2D2D"/>
                </a:solidFill>
                <a:latin typeface="Calibri"/>
              </a:rPr>
              <a:t>📌 NUS achieved 15% energy savings via smart building IoT + edge computing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5G &amp; Edge Computing — Impact, ROI &amp;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246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A65A"/>
                </a:solidFill>
                <a:latin typeface="Calibri"/>
              </a:rPr>
              <a:t>✅ 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04907"/>
            <a:ext cx="502920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</a:t>
            </a:r>
            <a:r>
              <a:rPr sz="1400" b="0" dirty="0" err="1">
                <a:solidFill>
                  <a:srgbClr val="2D2D2D"/>
                </a:solidFill>
                <a:latin typeface="Calibri"/>
              </a:rPr>
              <a:t>Modernised</a:t>
            </a:r>
            <a:r>
              <a:rPr sz="1400" b="0" dirty="0">
                <a:solidFill>
                  <a:srgbClr val="2D2D2D"/>
                </a:solidFill>
                <a:latin typeface="Calibri"/>
              </a:rPr>
              <a:t> campus infrastructure for next-gen apps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10–15% energy cost savings via smart building management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Foundation for VR/AR, AI, and IoT initiatives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Improved campus safety &amp; security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Students gain hands-on 5G experience (employability)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912957"/>
              </p:ext>
            </p:extLst>
          </p:nvPr>
        </p:nvGraphicFramePr>
        <p:xfrm>
          <a:off x="6217920" y="1463040"/>
          <a:ext cx="5486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4562856"/>
            <a:ext cx="5486400" cy="1005840"/>
          </a:xfrm>
          <a:prstGeom prst="round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344920" y="4724876"/>
            <a:ext cx="5232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alibri"/>
              </a:rPr>
              <a:t>Five-year net return: ~SGD 4.8M  |  67% ROI  |  Breakeven: Year 3–4
Infrastructure investment enables &amp; accelerates ROI of other three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5158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E14D4D"/>
                </a:solidFill>
                <a:latin typeface="Calibri"/>
              </a:rPr>
              <a:t>⚠️  Key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High infrastructure costs; partner with telcos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Spectrum allocation (IMDA regulatory approval)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Cybersecurity risks with massive device connectivity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</a:t>
            </a:r>
            <a:r>
              <a:rPr sz="1400" b="0" dirty="0" err="1">
                <a:solidFill>
                  <a:srgbClr val="2D2D2D"/>
                </a:solidFill>
                <a:latin typeface="Calibri"/>
              </a:rPr>
              <a:t>Specialised</a:t>
            </a:r>
            <a:r>
              <a:rPr sz="1400" b="0" dirty="0">
                <a:solidFill>
                  <a:srgbClr val="2D2D2D"/>
                </a:solidFill>
                <a:latin typeface="Calibri"/>
              </a:rPr>
              <a:t> technical expertise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Blockchain Certificate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Declan</a:t>
            </a:r>
            <a:r>
              <a:rPr lang="en-US"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 Chua Yuan Lok</a:t>
            </a:r>
            <a:endParaRPr sz="1600" b="0" dirty="0">
              <a:solidFill>
                <a:schemeClr val="accent3">
                  <a:lumMod val="60000"/>
                  <a:lumOff val="40000"/>
                </a:schemeClr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CCD3"/>
                </a:solidFill>
                <a:latin typeface="Calibri"/>
              </a:rPr>
              <a:t>How Blockchain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</a:t>
            </a:r>
            <a:r>
              <a:rPr sz="1400" b="0" dirty="0" err="1">
                <a:solidFill>
                  <a:srgbClr val="2D2D2D"/>
                </a:solidFill>
                <a:latin typeface="Calibri"/>
              </a:rPr>
              <a:t>Decentralised</a:t>
            </a:r>
            <a:r>
              <a:rPr sz="1400" b="0" dirty="0">
                <a:solidFill>
                  <a:srgbClr val="2D2D2D"/>
                </a:solidFill>
                <a:latin typeface="Calibri"/>
              </a:rPr>
              <a:t> ledger across network of nodes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Each block contains transactions + hash of previous block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Consensus required to add blocks (tamper-proof)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Once added, blocks cannot be modified or removed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46520" y="1508760"/>
            <a:ext cx="2560320" cy="64008"/>
          </a:xfrm>
          <a:prstGeom prst="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CD3"/>
                </a:solidFill>
                <a:latin typeface="Calibri"/>
              </a:rPr>
              <a:t>📜 Digital Diplomas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228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Cryptographically signed on
blockchain; instant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4630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281160" y="1508760"/>
            <a:ext cx="2560320" cy="64008"/>
          </a:xfrm>
          <a:prstGeom prst="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CD3"/>
                </a:solidFill>
                <a:latin typeface="Calibri"/>
              </a:rPr>
              <a:t>🏅 Micro-Credentials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03120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Stackable skill badges on
LinkedIn (Python, Data, etc.)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6616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46520" y="3611880"/>
            <a:ext cx="2560320" cy="64008"/>
          </a:xfrm>
          <a:prstGeom prst="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CD3"/>
                </a:solidFill>
                <a:latin typeface="Calibri"/>
              </a:rPr>
              <a:t>⚡ Fast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06240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Seconds vs. 3–10 days;
zero manual processing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356616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81160" y="3611880"/>
            <a:ext cx="2560320" cy="64008"/>
          </a:xfrm>
          <a:prstGeom prst="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CD3"/>
                </a:solidFill>
                <a:latin typeface="Calibri"/>
              </a:rPr>
              <a:t>📋 Academic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206240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Tamper-proof transcripts;
cross-institution transfers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174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002B5C"/>
                </a:solidFill>
                <a:latin typeface="Calibri"/>
              </a:rPr>
              <a:t>Before vs After: Verification Process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" y="4002384"/>
            <a:ext cx="2537460" cy="155543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4380" y="4050792"/>
            <a:ext cx="2354580" cy="54864"/>
          </a:xfrm>
          <a:prstGeom prst="rect">
            <a:avLst/>
          </a:prstGeom>
          <a:solidFill>
            <a:srgbClr val="E1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4172783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E14D4D"/>
                </a:solidFill>
                <a:latin typeface="Calibri"/>
              </a:rPr>
              <a:t>❌ Before (Manual)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1" y="4552286"/>
            <a:ext cx="24688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Email request → Admin</a:t>
            </a:r>
            <a:r>
              <a:rPr lang="en-US" sz="1400" b="0" dirty="0">
                <a:solidFill>
                  <a:srgbClr val="2D2D2D"/>
                </a:solidFill>
                <a:latin typeface="Calibri"/>
              </a:rPr>
              <a:t>istrator</a:t>
            </a:r>
            <a:r>
              <a:rPr sz="1400" b="0" dirty="0">
                <a:solidFill>
                  <a:srgbClr val="2D2D2D"/>
                </a:solidFill>
                <a:latin typeface="Calibri"/>
              </a:rPr>
              <a:t> check</a:t>
            </a:r>
            <a:r>
              <a:rPr lang="en-US" sz="1400" b="0" dirty="0">
                <a:solidFill>
                  <a:srgbClr val="2D2D2D"/>
                </a:solidFill>
                <a:latin typeface="Calibri"/>
              </a:rPr>
              <a:t>s</a:t>
            </a:r>
            <a:r>
              <a:rPr sz="1400" b="0" dirty="0">
                <a:solidFill>
                  <a:srgbClr val="2D2D2D"/>
                </a:solidFill>
                <a:latin typeface="Calibri"/>
              </a:rPr>
              <a:t>
→ Verify records → Send letter
⏱️ 3–10 working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4689" y="455228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009FDA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49039" y="4002384"/>
            <a:ext cx="2346961" cy="168362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825240" y="4053100"/>
            <a:ext cx="2194560" cy="76975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23360" y="4206240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A65A"/>
                </a:solidFill>
                <a:latin typeface="Calibri"/>
              </a:rPr>
              <a:t>✅ After (Blockchain)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96689" y="4559413"/>
            <a:ext cx="2194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Input certificate hash
→ Blockchain confirms
⏱️ Seconds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Blockchain — Impact, ROI &amp;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808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A65A"/>
                </a:solidFill>
                <a:latin typeface="Calibri"/>
              </a:rPr>
              <a:t>✅ 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42498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dirty="0">
                <a:solidFill>
                  <a:srgbClr val="2D2D2D"/>
                </a:solidFill>
                <a:latin typeface="Calibri"/>
              </a:rPr>
              <a:t>▸  Eliminate manual verification (50–70% </a:t>
            </a:r>
            <a:r>
              <a:rPr sz="1500" b="0" dirty="0" err="1">
                <a:solidFill>
                  <a:srgbClr val="2D2D2D"/>
                </a:solidFill>
                <a:latin typeface="Calibri"/>
              </a:rPr>
              <a:t>labour</a:t>
            </a:r>
            <a:r>
              <a:rPr sz="1500" b="0" dirty="0">
                <a:solidFill>
                  <a:srgbClr val="2D2D2D"/>
                </a:solidFill>
                <a:latin typeface="Calibri"/>
              </a:rPr>
              <a:t> cut)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2D2D2D"/>
                </a:solidFill>
                <a:latin typeface="Calibri"/>
              </a:rPr>
              <a:t>▸  Tamper-proof credentials protect institutional reputation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2D2D2D"/>
                </a:solidFill>
                <a:latin typeface="Calibri"/>
              </a:rPr>
              <a:t>▸  Align with SG </a:t>
            </a:r>
            <a:r>
              <a:rPr sz="1500" b="0" dirty="0" err="1">
                <a:solidFill>
                  <a:srgbClr val="2D2D2D"/>
                </a:solidFill>
                <a:latin typeface="Calibri"/>
              </a:rPr>
              <a:t>OpenCerts</a:t>
            </a:r>
            <a:r>
              <a:rPr sz="1500" b="0" dirty="0">
                <a:solidFill>
                  <a:srgbClr val="2D2D2D"/>
                </a:solidFill>
                <a:latin typeface="Calibri"/>
              </a:rPr>
              <a:t> &amp; Smart Nation initiatives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2D2D2D"/>
                </a:solidFill>
                <a:latin typeface="Calibri"/>
              </a:rPr>
              <a:t>▸  Portable, cross-border credentials for graduates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2D2D2D"/>
                </a:solidFill>
                <a:latin typeface="Calibri"/>
              </a:rPr>
              <a:t>▸  Employers verify in seconds, not days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059783"/>
              </p:ext>
            </p:extLst>
          </p:nvPr>
        </p:nvGraphicFramePr>
        <p:xfrm>
          <a:off x="6095847" y="1567011"/>
          <a:ext cx="5486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095847" y="4628728"/>
            <a:ext cx="5486400" cy="1005840"/>
          </a:xfrm>
          <a:prstGeom prst="round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278727" y="4747515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alibri"/>
              </a:rPr>
              <a:t>Five-year net return: ~SGD 1.59M  |  88% ROI  |  Breakeven: Year 3
Low cost; strategic value exceeds financial return (credibility, fraud elimination)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2834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E14D4D"/>
                </a:solidFill>
                <a:latin typeface="Calibri"/>
              </a:rPr>
              <a:t>⚠️  Key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85547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Stakeholder adoption (employers, institutions)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Interoperability across blockchain platforms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User education for students, staff &amp; employers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▸  Secure cryptographic hash implementation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5029200"/>
            <a:ext cx="274320" cy="27432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5486400"/>
            <a:ext cx="182880" cy="18288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914400"/>
            <a:ext cx="137160" cy="13716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2926080"/>
            <a:ext cx="914400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 Light"/>
              </a:rPr>
              <a:t>Investment &amp;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Consolidated financials, phased implementation, and technology synergy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Consolidated Investment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058400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572768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Year-1 Investment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572768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Annual Returns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572768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5-Year 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572768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Breakeven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10058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73152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640080" y="2075688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D2D2D"/>
                </a:solidFill>
                <a:latin typeface="Calibri"/>
              </a:rPr>
              <a:t>🤖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075688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SGD 2.5–5M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075688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SGD 5–10M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075688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SGD 15.6M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075688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Year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87168"/>
            <a:ext cx="10058400" cy="4572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Rectangle 18"/>
          <p:cNvSpPr/>
          <p:nvPr/>
        </p:nvSpPr>
        <p:spPr>
          <a:xfrm>
            <a:off x="548640" y="2487168"/>
            <a:ext cx="73152" cy="4572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640080" y="2551176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D2D2D"/>
                </a:solidFill>
                <a:latin typeface="Calibri"/>
              </a:rPr>
              <a:t>🥽 VR/</a:t>
            </a:r>
            <a:r>
              <a:rPr lang="en-US" sz="1400" b="1" dirty="0">
                <a:solidFill>
                  <a:srgbClr val="2D2D2D"/>
                </a:solidFill>
                <a:latin typeface="Calibri"/>
              </a:rPr>
              <a:t>AR </a:t>
            </a:r>
            <a:endParaRPr sz="1400" b="1" dirty="0">
              <a:solidFill>
                <a:srgbClr val="2D2D2D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83280" y="2551176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SGD 2.3–4.6M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551176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SGD 2–5M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551176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SGD 10.3M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551176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Year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62656"/>
            <a:ext cx="10058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6" name="Rectangle 25"/>
          <p:cNvSpPr/>
          <p:nvPr/>
        </p:nvSpPr>
        <p:spPr>
          <a:xfrm>
            <a:off x="548640" y="2962656"/>
            <a:ext cx="73152" cy="457200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TextBox 26"/>
          <p:cNvSpPr txBox="1"/>
          <p:nvPr/>
        </p:nvSpPr>
        <p:spPr>
          <a:xfrm>
            <a:off x="640080" y="3026664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D2D2D"/>
                </a:solidFill>
                <a:latin typeface="Calibri"/>
              </a:rPr>
              <a:t>📡 5G &amp; </a:t>
            </a:r>
            <a:r>
              <a:rPr lang="en-US" sz="1400" b="1" dirty="0">
                <a:solidFill>
                  <a:srgbClr val="2D2D2D"/>
                </a:solidFill>
                <a:latin typeface="Calibri"/>
              </a:rPr>
              <a:t>Edge Computing</a:t>
            </a:r>
            <a:endParaRPr sz="1400" b="1" dirty="0">
              <a:solidFill>
                <a:srgbClr val="2D2D2D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83280" y="3026664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SGD 3–5.5M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026664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SGD 1.5–3M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026664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SGD 4.8M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026664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Yr 3–4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438144"/>
            <a:ext cx="10058400" cy="4572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3" name="Rectangle 32"/>
          <p:cNvSpPr/>
          <p:nvPr/>
        </p:nvSpPr>
        <p:spPr>
          <a:xfrm>
            <a:off x="548640" y="3438144"/>
            <a:ext cx="73152" cy="457200"/>
          </a:xfrm>
          <a:prstGeom prst="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4" name="TextBox 33"/>
          <p:cNvSpPr txBox="1"/>
          <p:nvPr/>
        </p:nvSpPr>
        <p:spPr>
          <a:xfrm>
            <a:off x="640080" y="3502152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D2D2D"/>
                </a:solidFill>
                <a:latin typeface="Calibri"/>
              </a:rPr>
              <a:t>🔗 Blockchain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502152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SGD 1–2M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502152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SGD 0.5–1M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502152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SGD 1.59M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502152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Year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913632"/>
            <a:ext cx="10058400" cy="5029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0" name="TextBox 39"/>
          <p:cNvSpPr txBox="1"/>
          <p:nvPr/>
        </p:nvSpPr>
        <p:spPr>
          <a:xfrm>
            <a:off x="640080" y="4005072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4005072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SGD 8.8–17.1M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4005072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SGD 10.5–23M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4005072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SGD 32.3M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005072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Yr 1–2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954522"/>
              </p:ext>
            </p:extLst>
          </p:nvPr>
        </p:nvGraphicFramePr>
        <p:xfrm>
          <a:off x="3430540" y="4483982"/>
          <a:ext cx="4294599" cy="2244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457200" y="5111496"/>
            <a:ext cx="31072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02B5C"/>
                </a:solidFill>
                <a:latin typeface="Calibri"/>
              </a:rPr>
              <a:t>Five-Year Net Return Distribution</a:t>
            </a:r>
            <a:r>
              <a:rPr lang="en-US" sz="1400" b="1" dirty="0">
                <a:solidFill>
                  <a:srgbClr val="002B5C"/>
                </a:solidFill>
                <a:latin typeface="Calibri"/>
              </a:rPr>
              <a:t> across the 4 technologies</a:t>
            </a:r>
            <a:endParaRPr sz="1400" b="1" dirty="0">
              <a:solidFill>
                <a:srgbClr val="002B5C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Three-Phase 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A phased approach to manage risk and </a:t>
            </a:r>
            <a:r>
              <a:rPr sz="1600" b="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maximise</a:t>
            </a:r>
            <a:r>
              <a:rPr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 R</a:t>
            </a:r>
            <a:r>
              <a:rPr lang="en-US"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eturn Of Investment (R</a:t>
            </a:r>
            <a:r>
              <a:rPr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OI</a:t>
            </a:r>
            <a:r>
              <a:rPr lang="en-US"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)</a:t>
            </a:r>
            <a:endParaRPr sz="1600" b="0" dirty="0">
              <a:solidFill>
                <a:schemeClr val="accent3">
                  <a:lumMod val="60000"/>
                  <a:lumOff val="40000"/>
                </a:schemeClr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698480" cy="54864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11680" y="1828800"/>
            <a:ext cx="411480" cy="4114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29968" y="1856231"/>
            <a:ext cx="374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35661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3474720" cy="73152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FDA"/>
                </a:solidFill>
                <a:latin typeface="Calibri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C757D"/>
                </a:solidFill>
                <a:latin typeface="Calibri"/>
              </a:rPr>
              <a:t>Year 1: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29000"/>
            <a:ext cx="32004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🤖 Deploy AI chatbot for student services</a:t>
            </a: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🔗 Implement blockchain credentials (</a:t>
            </a:r>
            <a:r>
              <a:rPr sz="1400" b="0" dirty="0" err="1">
                <a:solidFill>
                  <a:srgbClr val="2D2D2D"/>
                </a:solidFill>
                <a:latin typeface="Calibri"/>
              </a:rPr>
              <a:t>OpenCerts</a:t>
            </a:r>
            <a:r>
              <a:rPr sz="1400" b="0" dirty="0">
                <a:solidFill>
                  <a:srgbClr val="2D2D2D"/>
                </a:solidFill>
                <a:latin typeface="Calibri"/>
              </a:rPr>
              <a:t>)</a:t>
            </a: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📡 Begin 5G infrastructure planning &amp; pilot</a:t>
            </a: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🥽 Develop first VR lab prototypes</a:t>
            </a:r>
          </a:p>
        </p:txBody>
      </p:sp>
      <p:sp>
        <p:nvSpPr>
          <p:cNvPr id="14" name="Oval 13"/>
          <p:cNvSpPr/>
          <p:nvPr/>
        </p:nvSpPr>
        <p:spPr>
          <a:xfrm>
            <a:off x="5806440" y="1828800"/>
            <a:ext cx="411480" cy="411480"/>
          </a:xfrm>
          <a:prstGeom prst="ellipse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24728" y="1856231"/>
            <a:ext cx="374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468880"/>
            <a:ext cx="35661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0" y="2514600"/>
            <a:ext cx="3474720" cy="73152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A65A"/>
                </a:solidFill>
                <a:latin typeface="Calibri"/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6C757D"/>
                </a:solidFill>
                <a:latin typeface="Calibri"/>
              </a:rPr>
              <a:t>Year 2: 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429000"/>
            <a:ext cx="320040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🤖 Scale AI adaptive learning across all schools</a:t>
            </a: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🥽 Launch 10+ VR virtual labs</a:t>
            </a: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📡 Deploy 5G campus-wide</a:t>
            </a: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🔗 Expand blockchain to micro-credentials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0" y="1828800"/>
            <a:ext cx="411480" cy="41148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19488" y="1856231"/>
            <a:ext cx="374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468880"/>
            <a:ext cx="35661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92440" y="2514600"/>
            <a:ext cx="3474720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B700"/>
                </a:solidFill>
                <a:latin typeface="Calibri"/>
              </a:rP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6C757D"/>
                </a:solidFill>
                <a:latin typeface="Calibri"/>
              </a:rPr>
              <a:t>Year 3: </a:t>
            </a:r>
            <a:r>
              <a:rPr sz="1400" b="1" dirty="0" err="1">
                <a:solidFill>
                  <a:srgbClr val="6C757D"/>
                </a:solidFill>
                <a:latin typeface="Calibri"/>
              </a:rPr>
              <a:t>Optimisation</a:t>
            </a:r>
            <a:endParaRPr sz="1400" b="1" dirty="0">
              <a:solidFill>
                <a:srgbClr val="6C757D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0" y="3429000"/>
            <a:ext cx="32004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🔄 Integrate all tech into smart-campus ecosystem</a:t>
            </a: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💰 </a:t>
            </a:r>
            <a:r>
              <a:rPr sz="1400" b="0" dirty="0" err="1">
                <a:solidFill>
                  <a:srgbClr val="2D2D2D"/>
                </a:solidFill>
                <a:latin typeface="Calibri"/>
              </a:rPr>
              <a:t>Monetise</a:t>
            </a:r>
            <a:r>
              <a:rPr sz="1400" b="0" dirty="0">
                <a:solidFill>
                  <a:srgbClr val="2D2D2D"/>
                </a:solidFill>
                <a:latin typeface="Calibri"/>
              </a:rPr>
              <a:t> VR content &amp; blockchain services</a:t>
            </a: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2D2D2D"/>
                </a:solidFill>
                <a:latin typeface="Calibri"/>
              </a:rPr>
              <a:t>📊 Comprehensive ROI evaluation &amp; strategy adjustment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Technology Synergy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</a:rPr>
              <a:t>The four technologies reinforce one another</a:t>
            </a:r>
          </a:p>
        </p:txBody>
      </p:sp>
      <p:sp>
        <p:nvSpPr>
          <p:cNvPr id="6" name="Oval 5"/>
          <p:cNvSpPr/>
          <p:nvPr/>
        </p:nvSpPr>
        <p:spPr>
          <a:xfrm>
            <a:off x="4937760" y="2560320"/>
            <a:ext cx="2286000" cy="2286000"/>
          </a:xfrm>
          <a:prstGeom prst="ellipse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0" y="32004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Smart
Campus
Ecosystem</a:t>
            </a:r>
          </a:p>
        </p:txBody>
      </p:sp>
      <p:sp>
        <p:nvSpPr>
          <p:cNvPr id="8" name="Oval 7"/>
          <p:cNvSpPr/>
          <p:nvPr/>
        </p:nvSpPr>
        <p:spPr>
          <a:xfrm>
            <a:off x="2499360" y="1915668"/>
            <a:ext cx="1645920" cy="164592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🤖 AI</a:t>
            </a:r>
          </a:p>
        </p:txBody>
      </p:sp>
      <p:sp>
        <p:nvSpPr>
          <p:cNvPr id="9" name="Oval 8"/>
          <p:cNvSpPr/>
          <p:nvPr/>
        </p:nvSpPr>
        <p:spPr>
          <a:xfrm>
            <a:off x="8066187" y="1915668"/>
            <a:ext cx="1645920" cy="164592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🥽 VR/AR</a:t>
            </a:r>
          </a:p>
        </p:txBody>
      </p:sp>
      <p:sp>
        <p:nvSpPr>
          <p:cNvPr id="10" name="Oval 9"/>
          <p:cNvSpPr/>
          <p:nvPr/>
        </p:nvSpPr>
        <p:spPr>
          <a:xfrm>
            <a:off x="2499360" y="4434840"/>
            <a:ext cx="1645920" cy="1645920"/>
          </a:xfrm>
          <a:prstGeom prst="ellipse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📡 5G &amp;
Edge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0" y="4430267"/>
            <a:ext cx="1645920" cy="1645920"/>
          </a:xfrm>
          <a:prstGeom prst="ellipse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🔗 Block-
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" y="1920240"/>
            <a:ext cx="2072640" cy="16413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054164"/>
            <a:ext cx="1828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5G enables VR/AR:
High-bandwidth, low-latency
connectivity for immersive
experiences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14560" y="1915668"/>
            <a:ext cx="2011680" cy="16413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06000" y="2171576"/>
            <a:ext cx="1828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AI enhances VR/AR:
</a:t>
            </a:r>
            <a:r>
              <a:rPr sz="1400" b="0" dirty="0" err="1">
                <a:solidFill>
                  <a:srgbClr val="2D2D2D"/>
                </a:solidFill>
                <a:latin typeface="Calibri"/>
              </a:rPr>
              <a:t>Personalises</a:t>
            </a:r>
            <a:r>
              <a:rPr sz="1400" b="0" dirty="0">
                <a:solidFill>
                  <a:srgbClr val="2D2D2D"/>
                </a:solidFill>
                <a:latin typeface="Calibri"/>
              </a:rPr>
              <a:t> learning
scenarios based on
student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434840"/>
            <a:ext cx="20116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668452"/>
            <a:ext cx="18288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Edge Computing
supports all:
Low-latency processing
for AI, VR &amp; IoT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14561" y="4310040"/>
            <a:ext cx="2011679" cy="17661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60" y="4568684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Blockchain secures
AI credentials:
Ensures integrity of
AI-generated evaluations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20</a:t>
            </a: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3534ADE4-48BA-538C-AF24-6CD207CA3A0C}"/>
              </a:ext>
            </a:extLst>
          </p:cNvPr>
          <p:cNvSpPr/>
          <p:nvPr/>
        </p:nvSpPr>
        <p:spPr>
          <a:xfrm rot="14533226">
            <a:off x="7429921" y="2650365"/>
            <a:ext cx="430107" cy="832104"/>
          </a:xfrm>
          <a:prstGeom prst="down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DF88B6E5-CCDE-3608-0D4F-F0D4FFB8E386}"/>
              </a:ext>
            </a:extLst>
          </p:cNvPr>
          <p:cNvSpPr/>
          <p:nvPr/>
        </p:nvSpPr>
        <p:spPr>
          <a:xfrm rot="18107008">
            <a:off x="7384199" y="4113935"/>
            <a:ext cx="430107" cy="832104"/>
          </a:xfrm>
          <a:prstGeom prst="down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D009CF5E-3E24-CED5-E4F5-E990ECA7D7F9}"/>
              </a:ext>
            </a:extLst>
          </p:cNvPr>
          <p:cNvSpPr/>
          <p:nvPr/>
        </p:nvSpPr>
        <p:spPr>
          <a:xfrm rot="3271811">
            <a:off x="4375233" y="4115316"/>
            <a:ext cx="430107" cy="832104"/>
          </a:xfrm>
          <a:prstGeom prst="down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6D3ED736-8F54-F3AB-F087-316C5161C384}"/>
              </a:ext>
            </a:extLst>
          </p:cNvPr>
          <p:cNvSpPr/>
          <p:nvPr/>
        </p:nvSpPr>
        <p:spPr>
          <a:xfrm rot="7344179">
            <a:off x="4372352" y="2648984"/>
            <a:ext cx="430107" cy="832104"/>
          </a:xfrm>
          <a:prstGeom prst="down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Conclusion &amp; Recommendations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594360" cy="59436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B5C"/>
                </a:solidFill>
                <a:latin typeface="Calibri"/>
              </a:rPr>
              <a:t>Comprehensive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01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Four technologies address NYP's core challenges across the entire value chain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60320"/>
            <a:ext cx="594360" cy="594360"/>
          </a:xfrm>
          <a:prstGeom prst="ellipse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B5C"/>
                </a:solidFill>
                <a:latin typeface="Calibri"/>
              </a:rPr>
              <a:t>Strong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862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Combined five-year net return of ~SGD 32.3M on SGD 8.8–17.1M investment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594360" cy="59436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B5C"/>
                </a:solidFill>
                <a:latin typeface="Calibri"/>
              </a:rPr>
              <a:t>Managed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22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Phased three-year roadmap with quick wins first (AI chatbot, blockchain)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480560"/>
            <a:ext cx="594360" cy="59436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B5C"/>
                </a:solidFill>
                <a:latin typeface="Calibri"/>
              </a:rPr>
              <a:t>Synergy Multiplier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7823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Calibri"/>
              </a:rPr>
              <a:t>Technology synergies create a multiplier effect on ROI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440680"/>
            <a:ext cx="594360" cy="594360"/>
          </a:xfrm>
          <a:prstGeom prst="ellipse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B5C"/>
                </a:solidFill>
                <a:latin typeface="Calibri"/>
              </a:rPr>
              <a:t>Market 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742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Positions NYP as Singapore's leading polytechnic in the digital 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554480"/>
            <a:ext cx="5303520" cy="4572000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FDA"/>
                </a:solidFill>
                <a:latin typeface="Calibri"/>
              </a:rPr>
              <a:t>📋  Recommendation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2286000"/>
            <a:ext cx="1828800" cy="4572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675120" y="2606040"/>
            <a:ext cx="320040" cy="32004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0840" y="2606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56032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alibri"/>
              </a:rPr>
              <a:t>Approve Phase 1 funding
(SGD 3–5M for AI + Blockchain pilots)</a:t>
            </a:r>
          </a:p>
        </p:txBody>
      </p:sp>
      <p:sp>
        <p:nvSpPr>
          <p:cNvPr id="26" name="Oval 25"/>
          <p:cNvSpPr/>
          <p:nvPr/>
        </p:nvSpPr>
        <p:spPr>
          <a:xfrm>
            <a:off x="6675120" y="3337559"/>
            <a:ext cx="320040" cy="32004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40" y="33375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291839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alibri"/>
              </a:rPr>
              <a:t>Establish Technology
Steering Committee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4069080"/>
            <a:ext cx="320040" cy="32004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0840" y="4069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0233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Begin 5G partnership
discussions with Singtel/StarHub</a:t>
            </a:r>
          </a:p>
        </p:txBody>
      </p:sp>
      <p:sp>
        <p:nvSpPr>
          <p:cNvPr id="32" name="Oval 31"/>
          <p:cNvSpPr/>
          <p:nvPr/>
        </p:nvSpPr>
        <p:spPr>
          <a:xfrm>
            <a:off x="6675120" y="4800600"/>
            <a:ext cx="320040" cy="32004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4800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75488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Commission VR lab
prototype development</a:t>
            </a:r>
          </a:p>
        </p:txBody>
      </p:sp>
      <p:sp>
        <p:nvSpPr>
          <p:cNvPr id="35" name="Oval 34"/>
          <p:cNvSpPr/>
          <p:nvPr/>
        </p:nvSpPr>
        <p:spPr>
          <a:xfrm>
            <a:off x="6675120" y="5532120"/>
            <a:ext cx="320040" cy="32004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0840" y="5532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4864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Set up data governance
framework (PDPA compliance)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-1828800"/>
            <a:ext cx="7315200" cy="7315200"/>
          </a:xfrm>
          <a:prstGeom prst="ellipse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828800" y="13716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9144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4864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0" y="59436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200400"/>
            <a:ext cx="2103120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 Light"/>
              </a:rPr>
              <a:t>Questions &amp; Discussion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754880"/>
            <a:ext cx="2103120" cy="100584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4892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🤖  Clifton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57800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alibri"/>
              </a:rPr>
              <a:t>A</a:t>
            </a:r>
            <a:r>
              <a:rPr lang="en-US" sz="1400" b="0" dirty="0">
                <a:solidFill>
                  <a:srgbClr val="FFFFFF"/>
                </a:solidFill>
                <a:latin typeface="Calibri"/>
              </a:rPr>
              <a:t>rtificial Intelligence (AI)</a:t>
            </a:r>
            <a:endParaRPr sz="14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74720" y="4754880"/>
            <a:ext cx="2103120" cy="100584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4892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🥽  Collin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5257800"/>
            <a:ext cx="2057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alibri"/>
              </a:rPr>
              <a:t>V</a:t>
            </a:r>
            <a:r>
              <a:rPr lang="en-US" sz="1400" b="0" dirty="0">
                <a:solidFill>
                  <a:srgbClr val="FFFFFF"/>
                </a:solidFill>
                <a:latin typeface="Calibri"/>
              </a:rPr>
              <a:t>irtual Reality / Augmented Reality</a:t>
            </a:r>
            <a:endParaRPr sz="14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852160" y="4754880"/>
            <a:ext cx="2103120" cy="1005840"/>
          </a:xfrm>
          <a:prstGeom prst="round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89320" y="4892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📡  Alex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5257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alibri"/>
              </a:rPr>
              <a:t>5G &amp; Edge</a:t>
            </a:r>
            <a:r>
              <a:rPr lang="en-US" sz="1400" b="0" dirty="0">
                <a:solidFill>
                  <a:srgbClr val="FFFFFF"/>
                </a:solidFill>
                <a:latin typeface="Calibri"/>
              </a:rPr>
              <a:t> Computing</a:t>
            </a:r>
            <a:endParaRPr sz="14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9600" y="4754880"/>
            <a:ext cx="2103120" cy="1005840"/>
          </a:xfrm>
          <a:prstGeom prst="round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4892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🔗  Declan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5257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alibri"/>
              </a:rPr>
              <a:t>Blockchain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06240"/>
            <a:ext cx="10332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FFFF00"/>
                </a:solidFill>
                <a:latin typeface="Calibri"/>
              </a:rPr>
              <a:t>Nanyang Polytechnic  • </a:t>
            </a:r>
            <a:r>
              <a:rPr lang="en-US" sz="1600" dirty="0">
                <a:solidFill>
                  <a:srgbClr val="FFFF00"/>
                </a:solidFill>
                <a:latin typeface="Calibri"/>
              </a:rPr>
              <a:t> </a:t>
            </a:r>
            <a:r>
              <a:rPr lang="en-US" sz="1600" b="0" dirty="0">
                <a:solidFill>
                  <a:srgbClr val="FFFF00"/>
                </a:solidFill>
                <a:latin typeface="Calibri"/>
              </a:rPr>
              <a:t>19 </a:t>
            </a:r>
            <a:r>
              <a:rPr sz="1600" b="0" dirty="0">
                <a:solidFill>
                  <a:srgbClr val="FFFF00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2244</Words>
  <Application>Microsoft Office PowerPoint</Application>
  <PresentationFormat>Widescreen</PresentationFormat>
  <Paragraphs>422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Clifton Chen</dc:creator>
  <cp:keywords/>
  <dc:description>generated using python-pptx</dc:description>
  <cp:lastModifiedBy>Clifton Chen</cp:lastModifiedBy>
  <cp:revision>7</cp:revision>
  <dcterms:created xsi:type="dcterms:W3CDTF">2013-01-27T09:14:16Z</dcterms:created>
  <dcterms:modified xsi:type="dcterms:W3CDTF">2026-02-18T16:34:10Z</dcterms:modified>
  <cp:category/>
</cp:coreProperties>
</file>