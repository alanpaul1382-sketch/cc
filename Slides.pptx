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Slides/notesSlide1.xml" ContentType="application/vnd.openxmlformats-officedocument.presentationml.notes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90" d="100"/>
          <a:sy n="90" d="100"/>
        </p:scale>
        <p:origin x="370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lang="en-SG"/>
              <a:t>EdTech Market Size Comparison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009FDA"/>
            </a:solidFill>
          </c:spPr>
          <c:invertIfNegative val="1"/>
          <c:dLbls>
            <c:spPr>
              <a:noFill/>
              <a:ln>
                <a:noFill/>
              </a:ln>
              <a:effectLst/>
            </c:sp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Sheet1!$A$2:$A$4</c:f>
              <c:strCache>
                <c:ptCount val="3"/>
                <c:pt idx="0">
                  <c:v>Global
EdTech</c:v>
                </c:pt>
                <c:pt idx="1">
                  <c:v>Asia-
Pacific</c:v>
                </c:pt>
                <c:pt idx="2">
                  <c:v>Singapore
(SGD B)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340</c:v>
                </c:pt>
                <c:pt idx="1">
                  <c:v>115</c:v>
                </c:pt>
                <c:pt idx="2">
                  <c:v>1.75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D4EF-46AE-9E8B-61BBEDAE2FC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2027 (Projected)</c:v>
                </c:pt>
              </c:strCache>
            </c:strRef>
          </c:tx>
          <c:spPr>
            <a:solidFill>
              <a:srgbClr val="0A1F44"/>
            </a:solidFill>
          </c:spPr>
          <c:invertIfNegative val="1"/>
          <c:dLbls>
            <c:spPr>
              <a:noFill/>
              <a:ln>
                <a:noFill/>
              </a:ln>
              <a:effectLst/>
            </c:sp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Sheet1!$A$2:$A$4</c:f>
              <c:strCache>
                <c:ptCount val="3"/>
                <c:pt idx="0">
                  <c:v>Global
EdTech</c:v>
                </c:pt>
                <c:pt idx="1">
                  <c:v>Asia-
Pacific</c:v>
                </c:pt>
                <c:pt idx="2">
                  <c:v>Singapore
(SGD B)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605</c:v>
                </c:pt>
                <c:pt idx="1">
                  <c:v>230</c:v>
                </c:pt>
                <c:pt idx="2">
                  <c:v>3.5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D4EF-46AE-9E8B-61BBEDAE2FC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/>
                </a:pPr>
                <a:r>
                  <a:rPr lang="en-US" dirty="0"/>
                  <a:t>Market</a:t>
                </a:r>
                <a:endParaRPr lang="en-SG" dirty="0"/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crossAx val="-2113994440"/>
        <c:crossesAt val="0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title>
          <c:tx>
            <c:rich>
              <a:bodyPr/>
              <a:lstStyle/>
              <a:p>
                <a:pPr>
                  <a:defRPr/>
                </a:pPr>
                <a:r>
                  <a:rPr lang="en-SG" dirty="0"/>
                  <a:t>Market Size</a:t>
                </a:r>
                <a:r>
                  <a:rPr lang="en-SG" baseline="0" dirty="0"/>
                  <a:t> (</a:t>
                </a:r>
                <a:r>
                  <a:rPr lang="en-SG" baseline="0" dirty="0" err="1"/>
                  <a:t>Bilions</a:t>
                </a:r>
                <a:r>
                  <a:rPr lang="en-SG" baseline="0" dirty="0"/>
                  <a:t>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1100"/>
          </a:pPr>
          <a:endParaRPr lang="en-US"/>
        </a:p>
      </c:txPr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lang="en-SG" sz="1400"/>
              <a:t>AI Cost-Benefit Analysis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Investment</c:v>
                </c:pt>
              </c:strCache>
            </c:strRef>
          </c:tx>
          <c:spPr>
            <a:solidFill>
              <a:srgbClr val="E14D4D"/>
            </a:solidFill>
          </c:spPr>
          <c:invertIfNegative val="1"/>
          <c:dLbls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1400"/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Sheet1!$A$2:$A$6</c:f>
              <c:strCache>
                <c:ptCount val="5"/>
                <c:pt idx="0">
                  <c:v>Year 1</c:v>
                </c:pt>
                <c:pt idx="1">
                  <c:v>Year 2</c:v>
                </c:pt>
                <c:pt idx="2">
                  <c:v>Year 3</c:v>
                </c:pt>
                <c:pt idx="3">
                  <c:v>Year 4</c:v>
                </c:pt>
                <c:pt idx="4">
                  <c:v>Year 5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3.75</c:v>
                </c:pt>
                <c:pt idx="1">
                  <c:v>1.5</c:v>
                </c:pt>
                <c:pt idx="2">
                  <c:v>1.5</c:v>
                </c:pt>
                <c:pt idx="3">
                  <c:v>1.5</c:v>
                </c:pt>
                <c:pt idx="4">
                  <c:v>1.5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9CC4-4102-BFD8-CFC2CFE3E48A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Returns</c:v>
                </c:pt>
              </c:strCache>
            </c:strRef>
          </c:tx>
          <c:spPr>
            <a:solidFill>
              <a:srgbClr val="00A65A"/>
            </a:solidFill>
          </c:spPr>
          <c:invertIfNegative val="1"/>
          <c:dLbls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1400"/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Sheet1!$A$2:$A$6</c:f>
              <c:strCache>
                <c:ptCount val="5"/>
                <c:pt idx="0">
                  <c:v>Year 1</c:v>
                </c:pt>
                <c:pt idx="1">
                  <c:v>Year 2</c:v>
                </c:pt>
                <c:pt idx="2">
                  <c:v>Year 3</c:v>
                </c:pt>
                <c:pt idx="3">
                  <c:v>Year 4</c:v>
                </c:pt>
                <c:pt idx="4">
                  <c:v>Year 5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</c:v>
                </c:pt>
                <c:pt idx="1">
                  <c:v>6.5</c:v>
                </c:pt>
                <c:pt idx="2">
                  <c:v>7.5</c:v>
                </c:pt>
                <c:pt idx="3">
                  <c:v>8</c:v>
                </c:pt>
                <c:pt idx="4">
                  <c:v>8.5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9CC4-4102-BFD8-CFC2CFE3E48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 lang="en-SG" sz="1400"/>
                  <a:t>Year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400"/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title>
          <c:tx>
            <c:rich>
              <a:bodyPr/>
              <a:lstStyle/>
              <a:p>
                <a:r>
                  <a:rPr lang="en-SG" sz="1400"/>
                  <a:t>SGD (Millions)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400"/>
            </a:pPr>
            <a:endParaRPr lang="en-US"/>
          </a:p>
        </c:txPr>
        <c:crossAx val="-2068027336"/>
        <c:crosses val="autoZero"/>
        <c:crossBetween val="between"/>
      </c:valAx>
    </c:plotArea>
    <c:legend>
      <c:legendPos val="b"/>
      <c:layout>
        <c:manualLayout>
          <c:xMode val="edge"/>
          <c:yMode val="edge"/>
          <c:x val="0.34762594779819184"/>
          <c:y val="0.88586949092300982"/>
          <c:w val="0.41817403032954215"/>
          <c:h val="8.374856463254593E-2"/>
        </c:manualLayout>
      </c:layout>
      <c:overlay val="0"/>
      <c:txPr>
        <a:bodyPr/>
        <a:lstStyle/>
        <a:p>
          <a:pPr>
            <a:defRPr sz="1400"/>
          </a:pPr>
          <a:endParaRPr lang="en-US"/>
        </a:p>
      </c:txPr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lang="en-SG"/>
              <a:t>VR/AR Cost-Benefit Analysis</a:t>
            </a:r>
          </a:p>
        </c:rich>
      </c:tx>
      <c:overlay val="0"/>
    </c:title>
    <c:autoTitleDeleted val="0"/>
    <c:plotArea>
      <c:layout>
        <c:manualLayout>
          <c:layoutTarget val="inner"/>
          <c:xMode val="edge"/>
          <c:yMode val="edge"/>
          <c:x val="7.848972003499563E-2"/>
          <c:y val="6.9390105533683286E-2"/>
          <c:w val="0.85459463400408286"/>
          <c:h val="0.64763540299650046"/>
        </c:manualLayout>
      </c:layout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Investment</c:v>
                </c:pt>
              </c:strCache>
            </c:strRef>
          </c:tx>
          <c:spPr>
            <a:solidFill>
              <a:srgbClr val="E14D4D"/>
            </a:solidFill>
          </c:spPr>
          <c:invertIfNegative val="1"/>
          <c:dLbls>
            <c:spPr>
              <a:noFill/>
              <a:ln>
                <a:noFill/>
              </a:ln>
              <a:effectLst/>
            </c:sp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Sheet1!$A$2:$A$6</c:f>
              <c:strCache>
                <c:ptCount val="5"/>
                <c:pt idx="0">
                  <c:v>Year 1</c:v>
                </c:pt>
                <c:pt idx="1">
                  <c:v>Year 2</c:v>
                </c:pt>
                <c:pt idx="2">
                  <c:v>Year 3</c:v>
                </c:pt>
                <c:pt idx="3">
                  <c:v>Year 4</c:v>
                </c:pt>
                <c:pt idx="4">
                  <c:v>Year 5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3.45</c:v>
                </c:pt>
                <c:pt idx="1">
                  <c:v>1.5</c:v>
                </c:pt>
                <c:pt idx="2">
                  <c:v>1.2</c:v>
                </c:pt>
                <c:pt idx="3">
                  <c:v>1</c:v>
                </c:pt>
                <c:pt idx="4">
                  <c:v>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D8C8-4293-9602-D2A22DD85F8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Returns</c:v>
                </c:pt>
              </c:strCache>
            </c:strRef>
          </c:tx>
          <c:spPr>
            <a:solidFill>
              <a:srgbClr val="00B894"/>
            </a:solidFill>
          </c:spPr>
          <c:invertIfNegative val="1"/>
          <c:dLbls>
            <c:spPr>
              <a:noFill/>
              <a:ln>
                <a:noFill/>
              </a:ln>
              <a:effectLst/>
            </c:sp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Sheet1!$A$2:$A$6</c:f>
              <c:strCache>
                <c:ptCount val="5"/>
                <c:pt idx="0">
                  <c:v>Year 1</c:v>
                </c:pt>
                <c:pt idx="1">
                  <c:v>Year 2</c:v>
                </c:pt>
                <c:pt idx="2">
                  <c:v>Year 3</c:v>
                </c:pt>
                <c:pt idx="3">
                  <c:v>Year 4</c:v>
                </c:pt>
                <c:pt idx="4">
                  <c:v>Year 5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</c:v>
                </c:pt>
                <c:pt idx="1">
                  <c:v>4</c:v>
                </c:pt>
                <c:pt idx="2">
                  <c:v>5.5</c:v>
                </c:pt>
                <c:pt idx="3">
                  <c:v>6</c:v>
                </c:pt>
                <c:pt idx="4">
                  <c:v>6.5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D8C8-4293-9602-D2A22DD85F8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 lang="en-SG"/>
                  <a:t>Year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title>
          <c:tx>
            <c:rich>
              <a:bodyPr/>
              <a:lstStyle/>
              <a:p>
                <a:r>
                  <a:rPr lang="en-SG" dirty="0"/>
                  <a:t>SGD (Millions)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nextTo"/>
        <c:crossAx val="-2068027336"/>
        <c:crosses val="autoZero"/>
        <c:crossBetween val="midCat"/>
      </c:valAx>
    </c:plotArea>
    <c:legend>
      <c:legendPos val="b"/>
      <c:layout>
        <c:manualLayout>
          <c:xMode val="edge"/>
          <c:yMode val="edge"/>
          <c:x val="0.34762594779819184"/>
          <c:y val="0.91625143536745401"/>
          <c:w val="0.30474810440361622"/>
          <c:h val="8.374856463254593E-2"/>
        </c:manualLayout>
      </c:layout>
      <c:overlay val="0"/>
      <c:txPr>
        <a:bodyPr/>
        <a:lstStyle/>
        <a:p>
          <a:pPr>
            <a:defRPr sz="1100"/>
          </a:pPr>
          <a:endParaRPr lang="en-US"/>
        </a:p>
      </c:txPr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lang="en-US" sz="1400"/>
              <a:t>5G &amp; Edge Computing Cost-Benefit Analysis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Investment</c:v>
                </c:pt>
              </c:strCache>
            </c:strRef>
          </c:tx>
          <c:spPr>
            <a:solidFill>
              <a:srgbClr val="E14D4D"/>
            </a:solidFill>
          </c:spPr>
          <c:invertIfNegative val="1"/>
          <c:dLbls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1400"/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Sheet1!$A$2:$A$6</c:f>
              <c:strCache>
                <c:ptCount val="5"/>
                <c:pt idx="0">
                  <c:v>Year 1</c:v>
                </c:pt>
                <c:pt idx="1">
                  <c:v>Year 2</c:v>
                </c:pt>
                <c:pt idx="2">
                  <c:v>Year 3</c:v>
                </c:pt>
                <c:pt idx="3">
                  <c:v>Year 4</c:v>
                </c:pt>
                <c:pt idx="4">
                  <c:v>Year 5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4.25</c:v>
                </c:pt>
                <c:pt idx="1">
                  <c:v>2</c:v>
                </c:pt>
                <c:pt idx="2">
                  <c:v>1.5</c:v>
                </c:pt>
                <c:pt idx="3">
                  <c:v>1</c:v>
                </c:pt>
                <c:pt idx="4">
                  <c:v>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16D3-478D-92FF-07456B83FA1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Returns</c:v>
                </c:pt>
              </c:strCache>
            </c:strRef>
          </c:tx>
          <c:spPr>
            <a:solidFill>
              <a:srgbClr val="FD7936"/>
            </a:solidFill>
          </c:spPr>
          <c:invertIfNegative val="1"/>
          <c:dLbls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1400"/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Sheet1!$A$2:$A$6</c:f>
              <c:strCache>
                <c:ptCount val="5"/>
                <c:pt idx="0">
                  <c:v>Year 1</c:v>
                </c:pt>
                <c:pt idx="1">
                  <c:v>Year 2</c:v>
                </c:pt>
                <c:pt idx="2">
                  <c:v>Year 3</c:v>
                </c:pt>
                <c:pt idx="3">
                  <c:v>Year 4</c:v>
                </c:pt>
                <c:pt idx="4">
                  <c:v>Year 5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0.5</c:v>
                </c:pt>
                <c:pt idx="1">
                  <c:v>2</c:v>
                </c:pt>
                <c:pt idx="2">
                  <c:v>3.5</c:v>
                </c:pt>
                <c:pt idx="3">
                  <c:v>4.5</c:v>
                </c:pt>
                <c:pt idx="4">
                  <c:v>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16D3-478D-92FF-07456B83FA1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 lang="en-SG" sz="1400"/>
                  <a:t>Year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400"/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title>
          <c:tx>
            <c:rich>
              <a:bodyPr/>
              <a:lstStyle/>
              <a:p>
                <a:r>
                  <a:rPr lang="en-SG" sz="1400"/>
                  <a:t>SGD (Millions)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400"/>
            </a:pPr>
            <a:endParaRPr lang="en-US"/>
          </a:p>
        </c:txPr>
        <c:crossAx val="-2068027336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1400"/>
          </a:pPr>
          <a:endParaRPr lang="en-US"/>
        </a:p>
      </c:txPr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lang="en-SG" sz="1400"/>
              <a:t>Blockchain Cost-Benefit Analysis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Investment</c:v>
                </c:pt>
              </c:strCache>
            </c:strRef>
          </c:tx>
          <c:spPr>
            <a:solidFill>
              <a:srgbClr val="E14D4D"/>
            </a:solidFill>
          </c:spPr>
          <c:invertIfNegative val="1"/>
          <c:dLbls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1400"/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Sheet1!$A$2:$A$6</c:f>
              <c:strCache>
                <c:ptCount val="5"/>
                <c:pt idx="0">
                  <c:v>Year 1</c:v>
                </c:pt>
                <c:pt idx="1">
                  <c:v>Year 2</c:v>
                </c:pt>
                <c:pt idx="2">
                  <c:v>Year 3</c:v>
                </c:pt>
                <c:pt idx="3">
                  <c:v>Year 4</c:v>
                </c:pt>
                <c:pt idx="4">
                  <c:v>Year 5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1.5</c:v>
                </c:pt>
                <c:pt idx="1">
                  <c:v>0.4</c:v>
                </c:pt>
                <c:pt idx="2">
                  <c:v>0.3</c:v>
                </c:pt>
                <c:pt idx="3">
                  <c:v>0.2</c:v>
                </c:pt>
                <c:pt idx="4">
                  <c:v>0.2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9944-45C9-BCC4-4EBAF731E4E1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Returns</c:v>
                </c:pt>
              </c:strCache>
            </c:strRef>
          </c:tx>
          <c:spPr>
            <a:solidFill>
              <a:srgbClr val="00CCD3"/>
            </a:solidFill>
          </c:spPr>
          <c:invertIfNegative val="1"/>
          <c:dLbls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1400"/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Sheet1!$A$2:$A$6</c:f>
              <c:strCache>
                <c:ptCount val="5"/>
                <c:pt idx="0">
                  <c:v>Year 1</c:v>
                </c:pt>
                <c:pt idx="1">
                  <c:v>Year 2</c:v>
                </c:pt>
                <c:pt idx="2">
                  <c:v>Year 3</c:v>
                </c:pt>
                <c:pt idx="3">
                  <c:v>Year 4</c:v>
                </c:pt>
                <c:pt idx="4">
                  <c:v>Year 5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0.2</c:v>
                </c:pt>
                <c:pt idx="1">
                  <c:v>0.5</c:v>
                </c:pt>
                <c:pt idx="2">
                  <c:v>0.8</c:v>
                </c:pt>
                <c:pt idx="3">
                  <c:v>1</c:v>
                </c:pt>
                <c:pt idx="4">
                  <c:v>1.2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9944-45C9-BCC4-4EBAF731E4E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 lang="en-SG" sz="1400"/>
                  <a:t>Year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400"/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title>
          <c:tx>
            <c:rich>
              <a:bodyPr/>
              <a:lstStyle/>
              <a:p>
                <a:r>
                  <a:rPr lang="en-SG" sz="1400"/>
                  <a:t>SGD (Millions)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legend>
      <c:legendPos val="b"/>
      <c:layout>
        <c:manualLayout>
          <c:xMode val="edge"/>
          <c:yMode val="edge"/>
          <c:x val="0.30609397783610381"/>
          <c:y val="0.86146277613735778"/>
          <c:w val="0.38781204432779237"/>
          <c:h val="9.9474723862642167E-2"/>
        </c:manualLayout>
      </c:layout>
      <c:overlay val="0"/>
      <c:txPr>
        <a:bodyPr/>
        <a:lstStyle/>
        <a:p>
          <a:pPr>
            <a:defRPr sz="1400"/>
          </a:pPr>
          <a:endParaRPr lang="en-US"/>
        </a:p>
      </c:txPr>
    </c:legend>
    <c:plotVisOnly val="1"/>
    <c:dispBlanksAs val="gap"/>
    <c:showDLblsOverMax val="1"/>
  </c:chart>
  <c:txPr>
    <a:bodyPr/>
    <a:lstStyle/>
    <a:p>
      <a:pPr>
        <a:defRPr sz="16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1"/>
  <c:style val="2"/>
  <c:chart>
    <c:title>
      <c:tx>
        <c:rich>
          <a:bodyPr/>
          <a:lstStyle/>
          <a:p>
            <a:pPr>
              <a:defRPr sz="1400"/>
            </a:pPr>
            <a:r>
              <a:rPr lang="en-US" sz="1400" dirty="0"/>
              <a:t>5-Year Net Return (SGD Millions)</a:t>
            </a:r>
          </a:p>
        </c:rich>
      </c:tx>
      <c:overlay val="0"/>
    </c:title>
    <c:autoTitleDeleted val="0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5-Year Net Return (SGD M)</c:v>
                </c:pt>
              </c:strCache>
            </c:strRef>
          </c:tx>
          <c:spPr>
            <a:ln>
              <a:solidFill>
                <a:schemeClr val="bg2"/>
              </a:solidFill>
            </a:ln>
          </c:spPr>
          <c:dPt>
            <c:idx val="0"/>
            <c:bubble3D val="0"/>
            <c:spPr>
              <a:solidFill>
                <a:schemeClr val="accent3">
                  <a:lumMod val="40000"/>
                  <a:lumOff val="60000"/>
                </a:schemeClr>
              </a:solidFill>
              <a:ln>
                <a:solidFill>
                  <a:schemeClr val="accent3">
                    <a:lumMod val="40000"/>
                    <a:lumOff val="60000"/>
                  </a:schemeClr>
                </a:solidFill>
              </a:ln>
            </c:spPr>
            <c:extLst>
              <c:ext xmlns:c16="http://schemas.microsoft.com/office/drawing/2014/chart" uri="{C3380CC4-5D6E-409C-BE32-E72D297353CC}">
                <c16:uniqueId val="{00000001-C8D8-4657-96EA-9DD18DC683B7}"/>
              </c:ext>
            </c:extLst>
          </c:dPt>
          <c:dPt>
            <c:idx val="1"/>
            <c:bubble3D val="0"/>
            <c:spPr>
              <a:solidFill>
                <a:srgbClr val="00B894"/>
              </a:solidFill>
              <a:ln>
                <a:solidFill>
                  <a:schemeClr val="bg2"/>
                </a:solidFill>
              </a:ln>
            </c:spPr>
            <c:extLst>
              <c:ext xmlns:c16="http://schemas.microsoft.com/office/drawing/2014/chart" uri="{C3380CC4-5D6E-409C-BE32-E72D297353CC}">
                <c16:uniqueId val="{00000003-C8D8-4657-96EA-9DD18DC683B7}"/>
              </c:ext>
            </c:extLst>
          </c:dPt>
          <c:dPt>
            <c:idx val="2"/>
            <c:bubble3D val="0"/>
            <c:spPr>
              <a:solidFill>
                <a:srgbClr val="FD7936"/>
              </a:solidFill>
              <a:ln>
                <a:solidFill>
                  <a:schemeClr val="bg2"/>
                </a:solidFill>
              </a:ln>
            </c:spPr>
            <c:extLst>
              <c:ext xmlns:c16="http://schemas.microsoft.com/office/drawing/2014/chart" uri="{C3380CC4-5D6E-409C-BE32-E72D297353CC}">
                <c16:uniqueId val="{00000005-C8D8-4657-96EA-9DD18DC683B7}"/>
              </c:ext>
            </c:extLst>
          </c:dPt>
          <c:dPt>
            <c:idx val="3"/>
            <c:bubble3D val="0"/>
            <c:spPr>
              <a:solidFill>
                <a:srgbClr val="00CCD3"/>
              </a:solidFill>
              <a:ln>
                <a:solidFill>
                  <a:schemeClr val="bg2"/>
                </a:solidFill>
              </a:ln>
            </c:spPr>
            <c:extLst>
              <c:ext xmlns:c16="http://schemas.microsoft.com/office/drawing/2014/chart" uri="{C3380CC4-5D6E-409C-BE32-E72D297353CC}">
                <c16:uniqueId val="{00000007-C8D8-4657-96EA-9DD18DC683B7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1400"/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Sheet1!$A$2:$A$5</c:f>
              <c:strCache>
                <c:ptCount val="4"/>
                <c:pt idx="0">
                  <c:v>AI</c:v>
                </c:pt>
                <c:pt idx="1">
                  <c:v>VR/AR</c:v>
                </c:pt>
                <c:pt idx="2">
                  <c:v>5G &amp; Edge</c:v>
                </c:pt>
                <c:pt idx="3">
                  <c:v>Blockchain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15.6</c:v>
                </c:pt>
                <c:pt idx="1">
                  <c:v>10.3</c:v>
                </c:pt>
                <c:pt idx="2">
                  <c:v>4.8</c:v>
                </c:pt>
                <c:pt idx="3">
                  <c:v>1.59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C8D8-4657-96EA-9DD18DC683B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</c:plotArea>
    <c:legend>
      <c:legendPos val="l"/>
      <c:layout>
        <c:manualLayout>
          <c:xMode val="edge"/>
          <c:yMode val="edge"/>
          <c:x val="2.6614824806693246E-2"/>
          <c:y val="0.22540234981651111"/>
          <c:w val="0.25584344428897787"/>
          <c:h val="0.62828737012618063"/>
        </c:manualLayout>
      </c:layout>
      <c:overlay val="1"/>
      <c:txPr>
        <a:bodyPr/>
        <a:lstStyle/>
        <a:p>
          <a:pPr>
            <a:defRPr sz="1400"/>
          </a:pPr>
          <a:endParaRPr lang="en-US"/>
        </a:p>
      </c:txPr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SG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1488358-CE1D-4105-A4E8-A5EFE35A96D8}" type="datetimeFigureOut">
              <a:rPr lang="en-SG" smtClean="0"/>
              <a:t>19/2/2026</a:t>
            </a:fld>
            <a:endParaRPr lang="en-SG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SG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S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D15E3E3-35E6-4890-8A0A-99047F4971E8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4564550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D15E3E3-35E6-4890-8A0A-99047F4971E8}" type="slidenum">
              <a:rPr lang="en-SG" smtClean="0"/>
              <a:t>14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48851451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chart" Target="../charts/chart3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chart" Target="../charts/chart5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chart" Target="../charts/chart6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9144000" y="-1828800"/>
            <a:ext cx="7315200" cy="7315200"/>
          </a:xfrm>
          <a:prstGeom prst="ellipse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-2743200" y="3657600"/>
            <a:ext cx="6400800" cy="6400800"/>
          </a:xfrm>
          <a:prstGeom prst="ellipse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0058400" y="4572000"/>
            <a:ext cx="3657600" cy="3657600"/>
          </a:xfrm>
          <a:prstGeom prst="ellipse">
            <a:avLst/>
          </a:prstGeom>
          <a:solidFill>
            <a:srgbClr val="005B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828800" y="1371600"/>
            <a:ext cx="182880" cy="182880"/>
          </a:xfrm>
          <a:prstGeom prst="ellipse">
            <a:avLst/>
          </a:prstGeom>
          <a:solidFill>
            <a:srgbClr val="009F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10058400" y="914400"/>
            <a:ext cx="182880" cy="182880"/>
          </a:xfrm>
          <a:prstGeom prst="ellipse">
            <a:avLst/>
          </a:prstGeom>
          <a:solidFill>
            <a:srgbClr val="009F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914400" y="5486400"/>
            <a:ext cx="182880" cy="182880"/>
          </a:xfrm>
          <a:prstGeom prst="ellipse">
            <a:avLst/>
          </a:prstGeom>
          <a:solidFill>
            <a:srgbClr val="009F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10972800" y="5943600"/>
            <a:ext cx="182880" cy="182880"/>
          </a:xfrm>
          <a:prstGeom prst="ellipse">
            <a:avLst/>
          </a:prstGeom>
          <a:solidFill>
            <a:srgbClr val="009F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05840" y="914400"/>
            <a:ext cx="100584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dirty="0">
                <a:solidFill>
                  <a:schemeClr val="accent3">
                    <a:lumMod val="60000"/>
                    <a:lumOff val="40000"/>
                  </a:schemeClr>
                </a:solidFill>
                <a:latin typeface="Calibri"/>
              </a:rPr>
              <a:t>TEAM PROPOSAL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97280" y="1920240"/>
            <a:ext cx="1097280" cy="54864"/>
          </a:xfrm>
          <a:prstGeom prst="rect">
            <a:avLst/>
          </a:prstGeom>
          <a:solidFill>
            <a:srgbClr val="009F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97280" y="2194560"/>
            <a:ext cx="9144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Calibri Light"/>
              </a:rPr>
              <a:t>Emerging Technologies
for Nanyang Polytechnic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114800"/>
            <a:ext cx="9144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dirty="0">
                <a:solidFill>
                  <a:srgbClr val="E9ECEF"/>
                </a:solidFill>
                <a:latin typeface="Calibri"/>
              </a:rPr>
              <a:t>Competency Unit: Emerging Technologies </a:t>
            </a:r>
            <a:r>
              <a:rPr lang="en-US" sz="1600" b="0" dirty="0">
                <a:solidFill>
                  <a:srgbClr val="E9ECEF"/>
                </a:solidFill>
                <a:latin typeface="Calibri"/>
              </a:rPr>
              <a:t>Synthesis</a:t>
            </a:r>
            <a:endParaRPr sz="1600" b="0" dirty="0">
              <a:solidFill>
                <a:srgbClr val="E9ECEF"/>
              </a:solidFill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1097280" y="4937760"/>
            <a:ext cx="2148840" cy="1097280"/>
          </a:xfrm>
          <a:prstGeom prst="roundRect">
            <a:avLst/>
          </a:prstGeom>
          <a:solidFill>
            <a:srgbClr val="6C5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05840" y="5014109"/>
            <a:ext cx="24231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dirty="0">
                <a:solidFill>
                  <a:srgbClr val="FFFFFF"/>
                </a:solidFill>
                <a:latin typeface="Calibri"/>
              </a:rPr>
              <a:t>🤖  Clifton</a:t>
            </a:r>
            <a:r>
              <a:rPr lang="en-US" sz="1400" b="1" dirty="0">
                <a:solidFill>
                  <a:srgbClr val="FFFFFF"/>
                </a:solidFill>
                <a:latin typeface="Calibri"/>
              </a:rPr>
              <a:t> Chen Yi-231220B</a:t>
            </a:r>
            <a:endParaRPr sz="1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1303020" y="5486383"/>
            <a:ext cx="18288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1400" b="1" dirty="0">
                <a:solidFill>
                  <a:srgbClr val="FFFFFF"/>
                </a:solidFill>
              </a:rPr>
              <a:t>Artificial Intelligence (AI)</a:t>
            </a:r>
            <a:endParaRPr sz="1400" b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3474720" y="4937760"/>
            <a:ext cx="2057400" cy="1097280"/>
          </a:xfrm>
          <a:prstGeom prst="roundRect">
            <a:avLst/>
          </a:prstGeom>
          <a:solidFill>
            <a:srgbClr val="00B8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640184" y="4979257"/>
            <a:ext cx="1800496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dirty="0">
                <a:solidFill>
                  <a:srgbClr val="FFFFFF"/>
                </a:solidFill>
                <a:latin typeface="Calibri"/>
              </a:rPr>
              <a:t>🥽  Collin</a:t>
            </a:r>
            <a:r>
              <a:rPr lang="en-US" sz="1400" b="1" dirty="0">
                <a:solidFill>
                  <a:srgbClr val="FFFFFF"/>
                </a:solidFill>
                <a:latin typeface="Calibri"/>
              </a:rPr>
              <a:t> Koh Soon Ming -253991P</a:t>
            </a:r>
            <a:endParaRPr sz="1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3703320" y="5520529"/>
            <a:ext cx="18288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solidFill>
                  <a:srgbClr val="FFFFFF"/>
                </a:solidFill>
              </a:rPr>
              <a:t>Virtual/Augmented Reality – VR/AR</a:t>
            </a:r>
            <a:endParaRPr sz="1400" b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5852160" y="4937759"/>
            <a:ext cx="2103120" cy="1105989"/>
          </a:xfrm>
          <a:prstGeom prst="roundRect">
            <a:avLst/>
          </a:prstGeom>
          <a:solidFill>
            <a:srgbClr val="FD79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989320" y="4960267"/>
            <a:ext cx="196596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dirty="0">
                <a:solidFill>
                  <a:srgbClr val="FFFFFF"/>
                </a:solidFill>
                <a:latin typeface="Calibri"/>
              </a:rPr>
              <a:t>📡  </a:t>
            </a:r>
            <a:r>
              <a:rPr lang="en-US" sz="1400" b="1" dirty="0">
                <a:solidFill>
                  <a:srgbClr val="FFFFFF"/>
                </a:solidFill>
                <a:latin typeface="Calibri"/>
              </a:rPr>
              <a:t>Shin Thant Aung </a:t>
            </a:r>
            <a:r>
              <a:rPr sz="1400" b="1" dirty="0">
                <a:solidFill>
                  <a:srgbClr val="FFFFFF"/>
                </a:solidFill>
                <a:latin typeface="Calibri"/>
              </a:rPr>
              <a:t>Alex</a:t>
            </a:r>
            <a:r>
              <a:rPr lang="en-US" sz="1400" b="1" dirty="0">
                <a:solidFill>
                  <a:srgbClr val="FFFFFF"/>
                </a:solidFill>
                <a:latin typeface="Calibri"/>
              </a:rPr>
              <a:t> – 243816M</a:t>
            </a:r>
            <a:endParaRPr sz="1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5989320" y="5576499"/>
            <a:ext cx="18288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1400" b="1" dirty="0">
                <a:solidFill>
                  <a:srgbClr val="FFFFFF"/>
                </a:solidFill>
              </a:rPr>
              <a:t>5G &amp; Edge Computing 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0" y="4937759"/>
            <a:ext cx="2103120" cy="1105989"/>
          </a:xfrm>
          <a:prstGeom prst="roundRect">
            <a:avLst/>
          </a:prstGeom>
          <a:solidFill>
            <a:srgbClr val="00CC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366760" y="4930429"/>
            <a:ext cx="18288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dirty="0">
                <a:solidFill>
                  <a:srgbClr val="FFFFFF"/>
                </a:solidFill>
                <a:latin typeface="Calibri"/>
              </a:rPr>
              <a:t>🔗  Declan</a:t>
            </a:r>
            <a:r>
              <a:rPr lang="en-US" sz="1400" b="1" dirty="0">
                <a:solidFill>
                  <a:srgbClr val="FFFFFF"/>
                </a:solidFill>
                <a:latin typeface="Calibri"/>
              </a:rPr>
              <a:t> Chua Yuan Lok - </a:t>
            </a:r>
            <a:endParaRPr sz="1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8412480" y="5576500"/>
            <a:ext cx="18288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1400" b="1" dirty="0">
                <a:solidFill>
                  <a:srgbClr val="FFFFFF"/>
                </a:solidFill>
              </a:rPr>
              <a:t>Blockchain</a:t>
            </a:r>
            <a:endParaRPr sz="1400" b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6365967" y="4114801"/>
            <a:ext cx="344859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400" b="0" dirty="0">
                <a:solidFill>
                  <a:srgbClr val="FFFF00"/>
                </a:solidFill>
                <a:latin typeface="Calibri"/>
              </a:rPr>
              <a:t> 19 </a:t>
            </a:r>
            <a:r>
              <a:rPr sz="1400" b="0" dirty="0">
                <a:solidFill>
                  <a:srgbClr val="FFFF00"/>
                </a:solidFill>
                <a:latin typeface="Calibri"/>
              </a:rPr>
              <a:t>February 2026  |  Sector: Education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54864"/>
          </a:xfrm>
          <a:prstGeom prst="rect">
            <a:avLst/>
          </a:prstGeom>
          <a:solidFill>
            <a:srgbClr val="009F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2286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 Light"/>
              </a:rPr>
              <a:t>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77240"/>
            <a:ext cx="9144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dirty="0">
                <a:solidFill>
                  <a:schemeClr val="accent3">
                    <a:lumMod val="60000"/>
                    <a:lumOff val="40000"/>
                  </a:schemeClr>
                </a:solidFill>
                <a:latin typeface="Calibri"/>
              </a:rPr>
              <a:t>Presentation Overview</a:t>
            </a:r>
          </a:p>
        </p:txBody>
      </p:sp>
      <p:sp>
        <p:nvSpPr>
          <p:cNvPr id="6" name="Oval 5"/>
          <p:cNvSpPr/>
          <p:nvPr/>
        </p:nvSpPr>
        <p:spPr>
          <a:xfrm>
            <a:off x="640080" y="1600200"/>
            <a:ext cx="640080" cy="640080"/>
          </a:xfrm>
          <a:prstGeom prst="ellipse">
            <a:avLst/>
          </a:prstGeom>
          <a:solidFill>
            <a:srgbClr val="009F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>
                <a:solidFill>
                  <a:srgbClr val="FFFFFF"/>
                </a:solidFill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155448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2B5C"/>
                </a:solidFill>
                <a:latin typeface="Calibri"/>
              </a:rPr>
              <a:t>Executive Summary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192024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C757D"/>
                </a:solidFill>
                <a:latin typeface="Calibri"/>
              </a:rPr>
              <a:t>Key findings &amp; investment highlights</a:t>
            </a:r>
          </a:p>
        </p:txBody>
      </p:sp>
      <p:sp>
        <p:nvSpPr>
          <p:cNvPr id="9" name="Oval 8"/>
          <p:cNvSpPr/>
          <p:nvPr/>
        </p:nvSpPr>
        <p:spPr>
          <a:xfrm>
            <a:off x="6309360" y="1600200"/>
            <a:ext cx="640080" cy="640080"/>
          </a:xfrm>
          <a:prstGeom prst="ellipse">
            <a:avLst/>
          </a:prstGeom>
          <a:solidFill>
            <a:srgbClr val="005B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>
                <a:solidFill>
                  <a:srgbClr val="FFFFFF"/>
                </a:solidFill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0" y="155448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2B5C"/>
                </a:solidFill>
                <a:latin typeface="Calibri"/>
              </a:rPr>
              <a:t>Organisation &amp; Value Chain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0" y="192024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C757D"/>
                </a:solidFill>
                <a:latin typeface="Calibri"/>
              </a:rPr>
              <a:t>NYP profile, educational value chain</a:t>
            </a:r>
          </a:p>
        </p:txBody>
      </p:sp>
      <p:sp>
        <p:nvSpPr>
          <p:cNvPr id="12" name="Oval 11"/>
          <p:cNvSpPr/>
          <p:nvPr/>
        </p:nvSpPr>
        <p:spPr>
          <a:xfrm>
            <a:off x="640080" y="2834640"/>
            <a:ext cx="640080" cy="640080"/>
          </a:xfrm>
          <a:prstGeom prst="ellipse">
            <a:avLst/>
          </a:prstGeom>
          <a:solidFill>
            <a:srgbClr val="E1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>
                <a:solidFill>
                  <a:srgbClr val="FFFFFF"/>
                </a:solidFill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7889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2B5C"/>
                </a:solidFill>
                <a:latin typeface="Calibri"/>
              </a:rPr>
              <a:t>Problems &amp; Challenges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315468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C757D"/>
                </a:solidFill>
                <a:latin typeface="Calibri"/>
              </a:rPr>
              <a:t>Six core challenges mapped to value chain</a:t>
            </a:r>
          </a:p>
        </p:txBody>
      </p:sp>
      <p:sp>
        <p:nvSpPr>
          <p:cNvPr id="15" name="Oval 14"/>
          <p:cNvSpPr/>
          <p:nvPr/>
        </p:nvSpPr>
        <p:spPr>
          <a:xfrm>
            <a:off x="6309360" y="2834640"/>
            <a:ext cx="640080" cy="640080"/>
          </a:xfrm>
          <a:prstGeom prst="ellipse">
            <a:avLst/>
          </a:prstGeom>
          <a:solidFill>
            <a:srgbClr val="00A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>
                <a:solidFill>
                  <a:srgbClr val="FFFFFF"/>
                </a:solidFill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0" y="27889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2B5C"/>
                </a:solidFill>
                <a:latin typeface="Calibri"/>
              </a:rPr>
              <a:t>Market Opportunity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0" y="315468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C757D"/>
                </a:solidFill>
                <a:latin typeface="Calibri"/>
              </a:rPr>
              <a:t>Market sizing &amp; revenue potential</a:t>
            </a:r>
          </a:p>
        </p:txBody>
      </p:sp>
      <p:sp>
        <p:nvSpPr>
          <p:cNvPr id="18" name="Oval 17"/>
          <p:cNvSpPr/>
          <p:nvPr/>
        </p:nvSpPr>
        <p:spPr>
          <a:xfrm>
            <a:off x="640080" y="4069080"/>
            <a:ext cx="640080" cy="640080"/>
          </a:xfrm>
          <a:prstGeom prst="ellipse">
            <a:avLst/>
          </a:prstGeom>
          <a:solidFill>
            <a:srgbClr val="6C5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>
                <a:solidFill>
                  <a:srgbClr val="FFFFFF"/>
                </a:solidFill>
              </a:rPr>
              <a:t>05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3040" y="402336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2B5C"/>
                </a:solidFill>
                <a:latin typeface="Calibri"/>
              </a:rPr>
              <a:t>Technology Solutions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63040" y="438912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6C757D"/>
                </a:solidFill>
                <a:latin typeface="Calibri"/>
              </a:rPr>
              <a:t>AI · VR/AR · 5G &amp; Edge · Blockchain</a:t>
            </a:r>
          </a:p>
        </p:txBody>
      </p:sp>
      <p:sp>
        <p:nvSpPr>
          <p:cNvPr id="21" name="Oval 20"/>
          <p:cNvSpPr/>
          <p:nvPr/>
        </p:nvSpPr>
        <p:spPr>
          <a:xfrm>
            <a:off x="6309360" y="4069080"/>
            <a:ext cx="640080" cy="640080"/>
          </a:xfrm>
          <a:prstGeom prst="ellipse">
            <a:avLst/>
          </a:prstGeom>
          <a:solidFill>
            <a:srgbClr val="FF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>
                <a:solidFill>
                  <a:srgbClr val="FFFFFF"/>
                </a:solidFill>
              </a:rPr>
              <a:t>06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0" y="402336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2B5C"/>
                </a:solidFill>
                <a:latin typeface="Calibri"/>
              </a:rPr>
              <a:t>Investment &amp; ROI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32320" y="438912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C757D"/>
                </a:solidFill>
                <a:latin typeface="Calibri"/>
              </a:rPr>
              <a:t>Consolidated cost-benefit analysis</a:t>
            </a:r>
          </a:p>
        </p:txBody>
      </p:sp>
      <p:sp>
        <p:nvSpPr>
          <p:cNvPr id="24" name="Oval 23"/>
          <p:cNvSpPr/>
          <p:nvPr/>
        </p:nvSpPr>
        <p:spPr>
          <a:xfrm>
            <a:off x="640080" y="5303520"/>
            <a:ext cx="640080" cy="640080"/>
          </a:xfrm>
          <a:prstGeom prst="ellipse">
            <a:avLst/>
          </a:prstGeom>
          <a:solidFill>
            <a:srgbClr val="FD79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>
                <a:solidFill>
                  <a:srgbClr val="FFFFFF"/>
                </a:solidFill>
              </a:rPr>
              <a:t>07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63040" y="525780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2B5C"/>
                </a:solidFill>
                <a:latin typeface="Calibri"/>
              </a:rPr>
              <a:t>Implementation Roadmap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63040" y="562356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C757D"/>
                </a:solidFill>
                <a:latin typeface="Calibri"/>
              </a:rPr>
              <a:t>Three-phase plan &amp; technology synergy</a:t>
            </a:r>
          </a:p>
        </p:txBody>
      </p:sp>
      <p:sp>
        <p:nvSpPr>
          <p:cNvPr id="27" name="Oval 26"/>
          <p:cNvSpPr/>
          <p:nvPr/>
        </p:nvSpPr>
        <p:spPr>
          <a:xfrm>
            <a:off x="6309360" y="5303520"/>
            <a:ext cx="640080" cy="640080"/>
          </a:xfrm>
          <a:prstGeom prst="ellipse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>
                <a:solidFill>
                  <a:srgbClr val="FFFFFF"/>
                </a:solidFill>
              </a:rPr>
              <a:t>08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32320" y="525780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2B5C"/>
                </a:solidFill>
                <a:latin typeface="Calibri"/>
              </a:rPr>
              <a:t>Conclusion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32320" y="562356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C757D"/>
                </a:solidFill>
                <a:latin typeface="Calibri"/>
              </a:rPr>
              <a:t>Recommendations &amp; next steps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57200" y="65653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C757D"/>
                </a:solidFill>
                <a:latin typeface="Calibri"/>
              </a:rPr>
              <a:t>NYP Emerging Technologies Proposal  |  Feb 2026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277295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C757D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54864"/>
          </a:xfrm>
          <a:prstGeom prst="rect">
            <a:avLst/>
          </a:prstGeom>
          <a:solidFill>
            <a:srgbClr val="009F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2286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 Light"/>
              </a:rPr>
              <a:t>Executive 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77240"/>
            <a:ext cx="9144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dirty="0">
                <a:solidFill>
                  <a:schemeClr val="accent3">
                    <a:lumMod val="60000"/>
                    <a:lumOff val="40000"/>
                  </a:schemeClr>
                </a:solidFill>
                <a:latin typeface="Calibri"/>
              </a:rPr>
              <a:t>Four technologies, one smart campus vision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54480"/>
            <a:ext cx="2651760" cy="1188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94360" y="1600200"/>
            <a:ext cx="2560320" cy="64008"/>
          </a:xfrm>
          <a:prstGeom prst="rect">
            <a:avLst/>
          </a:prstGeom>
          <a:solidFill>
            <a:srgbClr val="009F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94360" y="1828800"/>
            <a:ext cx="242316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dirty="0">
                <a:solidFill>
                  <a:srgbClr val="009FDA"/>
                </a:solidFill>
                <a:latin typeface="Calibri"/>
              </a:rPr>
              <a:t>SGD 8.8–17.1M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331720"/>
            <a:ext cx="2286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dirty="0">
                <a:solidFill>
                  <a:srgbClr val="6C757D"/>
                </a:solidFill>
                <a:latin typeface="Calibri"/>
              </a:rPr>
              <a:t>Year 1 </a:t>
            </a:r>
            <a:r>
              <a:rPr sz="1400" b="0" dirty="0">
                <a:solidFill>
                  <a:srgbClr val="6C757D"/>
                </a:solidFill>
                <a:latin typeface="Calibri"/>
              </a:rPr>
              <a:t>Investment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83280" y="1554480"/>
            <a:ext cx="2651760" cy="1188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429000" y="1600200"/>
            <a:ext cx="2560320" cy="64008"/>
          </a:xfrm>
          <a:prstGeom prst="rect">
            <a:avLst/>
          </a:prstGeom>
          <a:solidFill>
            <a:srgbClr val="00A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566160" y="182880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00A65A"/>
                </a:solidFill>
                <a:latin typeface="Calibri"/>
              </a:rPr>
              <a:t>SGD 10.5–23M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0" y="2331720"/>
            <a:ext cx="2286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dirty="0">
                <a:solidFill>
                  <a:srgbClr val="6C757D"/>
                </a:solidFill>
                <a:latin typeface="Calibri"/>
              </a:rPr>
              <a:t>Projected</a:t>
            </a:r>
            <a:r>
              <a:rPr sz="1300" b="0" dirty="0">
                <a:solidFill>
                  <a:srgbClr val="6C757D"/>
                </a:solidFill>
                <a:latin typeface="Calibri"/>
              </a:rPr>
              <a:t> Annual Returns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554480"/>
            <a:ext cx="2651760" cy="1188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263640" y="1600200"/>
            <a:ext cx="2560320" cy="64008"/>
          </a:xfrm>
          <a:prstGeom prst="rect">
            <a:avLst/>
          </a:prstGeom>
          <a:solidFill>
            <a:srgbClr val="FF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00800" y="182880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FFB700"/>
                </a:solidFill>
                <a:latin typeface="Calibri"/>
              </a:rPr>
              <a:t>1–2 Years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2331720"/>
            <a:ext cx="2286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dirty="0">
                <a:solidFill>
                  <a:srgbClr val="6C757D"/>
                </a:solidFill>
                <a:latin typeface="Calibri"/>
              </a:rPr>
              <a:t>Breakeven </a:t>
            </a:r>
            <a:r>
              <a:rPr sz="1400" b="0" dirty="0">
                <a:solidFill>
                  <a:srgbClr val="6C757D"/>
                </a:solidFill>
                <a:latin typeface="Calibri"/>
              </a:rPr>
              <a:t>Period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52560" y="1554480"/>
            <a:ext cx="2651760" cy="1188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9098280" y="1600200"/>
            <a:ext cx="2560320" cy="64008"/>
          </a:xfrm>
          <a:prstGeom prst="rect">
            <a:avLst/>
          </a:prstGeom>
          <a:solidFill>
            <a:srgbClr val="6C5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235440" y="182880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6C5CE7"/>
                </a:solidFill>
                <a:latin typeface="Calibri"/>
              </a:rPr>
              <a:t>SGD 32.3M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35440" y="2331720"/>
            <a:ext cx="2286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dirty="0">
                <a:solidFill>
                  <a:srgbClr val="6C757D"/>
                </a:solidFill>
                <a:latin typeface="Calibri"/>
              </a:rPr>
              <a:t>Five-Year</a:t>
            </a:r>
            <a:r>
              <a:rPr sz="1300" b="0" dirty="0">
                <a:solidFill>
                  <a:srgbClr val="6C757D"/>
                </a:solidFill>
                <a:latin typeface="Calibri"/>
              </a:rPr>
              <a:t> Net Return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3017520"/>
            <a:ext cx="2651760" cy="1371600"/>
          </a:xfrm>
          <a:prstGeom prst="roundRect">
            <a:avLst/>
          </a:prstGeom>
          <a:solidFill>
            <a:srgbClr val="6C5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53813" y="3140404"/>
            <a:ext cx="311234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dirty="0">
                <a:solidFill>
                  <a:srgbClr val="FFFFFF"/>
                </a:solidFill>
                <a:latin typeface="Calibri"/>
              </a:rPr>
              <a:t>🤖  A</a:t>
            </a:r>
            <a:r>
              <a:rPr lang="en-US" sz="1800" b="1" dirty="0">
                <a:solidFill>
                  <a:srgbClr val="FFFFFF"/>
                </a:solidFill>
                <a:latin typeface="Calibri"/>
              </a:rPr>
              <a:t>rtificial </a:t>
            </a:r>
            <a:r>
              <a:rPr lang="en-US" sz="1600" b="1" dirty="0">
                <a:solidFill>
                  <a:srgbClr val="FFFFFF"/>
                </a:solidFill>
                <a:latin typeface="Calibri"/>
              </a:rPr>
              <a:t>Intelligence</a:t>
            </a:r>
            <a:r>
              <a:rPr lang="en-US" sz="1800" b="1" dirty="0">
                <a:solidFill>
                  <a:srgbClr val="FFFFFF"/>
                </a:solidFill>
                <a:latin typeface="Calibri"/>
              </a:rPr>
              <a:t> (AI)</a:t>
            </a:r>
            <a:endParaRPr sz="18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731520" y="3591851"/>
            <a:ext cx="2286000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FFFFFF"/>
                </a:solidFill>
                <a:latin typeface="Calibri"/>
              </a:rPr>
              <a:t>Reduce admin costs by SGD 2–4M/yr
Improve retention 10–15%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383280" y="3017520"/>
            <a:ext cx="2651760" cy="1371600"/>
          </a:xfrm>
          <a:prstGeom prst="roundRect">
            <a:avLst/>
          </a:prstGeom>
          <a:solidFill>
            <a:srgbClr val="00B8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3566160" y="3083560"/>
            <a:ext cx="252984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dirty="0">
                <a:solidFill>
                  <a:srgbClr val="FFFFFF"/>
                </a:solidFill>
                <a:latin typeface="Calibri"/>
              </a:rPr>
              <a:t>🥽  </a:t>
            </a:r>
            <a:r>
              <a:rPr lang="en-US" sz="1600" b="1" dirty="0">
                <a:solidFill>
                  <a:srgbClr val="FFFFFF"/>
                </a:solidFill>
                <a:latin typeface="Calibri"/>
              </a:rPr>
              <a:t>Virtual/Augmented Reality – VR/AR</a:t>
            </a:r>
            <a:endParaRPr sz="16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3566160" y="3670310"/>
            <a:ext cx="2286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FFFFFF"/>
                </a:solidFill>
                <a:latin typeface="Calibri"/>
              </a:rPr>
              <a:t>Expand training capacity
SGD 2–5M/yr B2B licensing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17920" y="3017520"/>
            <a:ext cx="2651760" cy="1371600"/>
          </a:xfrm>
          <a:prstGeom prst="roundRect">
            <a:avLst/>
          </a:prstGeom>
          <a:solidFill>
            <a:srgbClr val="FD79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263640" y="3171182"/>
            <a:ext cx="25908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dirty="0">
                <a:solidFill>
                  <a:srgbClr val="FFFFFF"/>
                </a:solidFill>
                <a:latin typeface="Calibri"/>
              </a:rPr>
              <a:t>📡  5G &amp; Edge</a:t>
            </a:r>
            <a:r>
              <a:rPr lang="en-US" sz="1600" b="1" dirty="0">
                <a:solidFill>
                  <a:srgbClr val="FFFFFF"/>
                </a:solidFill>
                <a:latin typeface="Calibri"/>
              </a:rPr>
              <a:t> Computing </a:t>
            </a:r>
            <a:endParaRPr sz="16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6416040" y="3606256"/>
            <a:ext cx="2286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FFFFFF"/>
                </a:solidFill>
                <a:latin typeface="Calibri"/>
              </a:rPr>
              <a:t>Smart-campus backbone
Lower energy costs 10–15%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052560" y="3017520"/>
            <a:ext cx="2651760" cy="1371600"/>
          </a:xfrm>
          <a:prstGeom prst="roundRect">
            <a:avLst/>
          </a:prstGeom>
          <a:solidFill>
            <a:srgbClr val="00CC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9235440" y="3200400"/>
            <a:ext cx="228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dirty="0">
                <a:solidFill>
                  <a:srgbClr val="FFFFFF"/>
                </a:solidFill>
                <a:latin typeface="Calibri"/>
              </a:rPr>
              <a:t>🔗  Blockchain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35440" y="3611880"/>
            <a:ext cx="2286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FFFFFF"/>
                </a:solidFill>
                <a:latin typeface="Calibri"/>
              </a:rPr>
              <a:t>Verify credentials in seconds
Cut manual </a:t>
            </a:r>
            <a:r>
              <a:rPr sz="1400" b="0" dirty="0" err="1">
                <a:solidFill>
                  <a:srgbClr val="FFFFFF"/>
                </a:solidFill>
                <a:latin typeface="Calibri"/>
              </a:rPr>
              <a:t>labour</a:t>
            </a:r>
            <a:r>
              <a:rPr sz="1400" b="0" dirty="0">
                <a:solidFill>
                  <a:srgbClr val="FFFFFF"/>
                </a:solidFill>
                <a:latin typeface="Calibri"/>
              </a:rPr>
              <a:t> 50–70%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48640" y="4754880"/>
            <a:ext cx="11064240" cy="10058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929487" y="4916896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dirty="0">
                <a:solidFill>
                  <a:srgbClr val="002B5C"/>
                </a:solidFill>
                <a:latin typeface="Calibri"/>
              </a:rPr>
              <a:t>💡  A phased three-year implementation roadmap manages risk while the four technologies reinforce one another to form a cohesive smart-campus ecosystem — positioning NYP as Singapore's leading polytechnic in the digital age.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457200" y="65653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C757D"/>
                </a:solidFill>
                <a:latin typeface="Calibri"/>
              </a:rPr>
              <a:t>NYP Emerging Technologies Proposal  |  Feb 2026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277295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C757D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54864"/>
          </a:xfrm>
          <a:prstGeom prst="rect">
            <a:avLst/>
          </a:prstGeom>
          <a:solidFill>
            <a:srgbClr val="009F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2286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 Light"/>
              </a:rPr>
              <a:t>Organisation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77240"/>
            <a:ext cx="9144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dirty="0">
                <a:solidFill>
                  <a:schemeClr val="accent3">
                    <a:lumMod val="60000"/>
                    <a:lumOff val="40000"/>
                  </a:schemeClr>
                </a:solidFill>
                <a:latin typeface="Calibri"/>
              </a:rPr>
              <a:t>Nanyang Polytechnic (NYP)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54480"/>
            <a:ext cx="2651760" cy="1828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1485900" y="1714500"/>
            <a:ext cx="777240" cy="777240"/>
          </a:xfrm>
          <a:prstGeom prst="ellipse">
            <a:avLst/>
          </a:prstGeom>
          <a:solidFill>
            <a:srgbClr val="009F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dirty="0">
                <a:solidFill>
                  <a:srgbClr val="FFFFFF"/>
                </a:solidFill>
              </a:rPr>
              <a:t>🏫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62890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dirty="0">
                <a:solidFill>
                  <a:srgbClr val="009FDA"/>
                </a:solidFill>
                <a:latin typeface="Calibri"/>
              </a:rPr>
              <a:t>Established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878348"/>
            <a:ext cx="2286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dirty="0">
                <a:solidFill>
                  <a:srgbClr val="2D2D2D"/>
                </a:solidFill>
                <a:latin typeface="Calibri"/>
              </a:rPr>
              <a:t>1992
Ang Mo Kio, S</a:t>
            </a:r>
            <a:r>
              <a:rPr lang="en-US" sz="1400" b="0" dirty="0">
                <a:solidFill>
                  <a:srgbClr val="2D2D2D"/>
                </a:solidFill>
                <a:latin typeface="Calibri"/>
              </a:rPr>
              <a:t>ingapore</a:t>
            </a:r>
            <a:endParaRPr sz="1400" b="0" dirty="0">
              <a:solidFill>
                <a:srgbClr val="2D2D2D"/>
              </a:solidFill>
              <a:latin typeface="Calibri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3383280" y="1554480"/>
            <a:ext cx="2651760" cy="1828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4320540" y="1714500"/>
            <a:ext cx="777240" cy="777240"/>
          </a:xfrm>
          <a:prstGeom prst="ellipse">
            <a:avLst/>
          </a:prstGeom>
          <a:solidFill>
            <a:srgbClr val="00A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dirty="0">
                <a:solidFill>
                  <a:srgbClr val="FFFFFF"/>
                </a:solidFill>
              </a:rPr>
              <a:t>👩‍🎓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6160" y="2560426"/>
            <a:ext cx="2286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dirty="0">
                <a:solidFill>
                  <a:srgbClr val="00A65A"/>
                </a:solidFill>
                <a:latin typeface="Calibri"/>
              </a:rPr>
              <a:t>Students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0" y="2868203"/>
            <a:ext cx="2286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dirty="0">
                <a:solidFill>
                  <a:srgbClr val="2D2D2D"/>
                </a:solidFill>
                <a:latin typeface="Calibri"/>
              </a:rPr>
              <a:t>~15,000 FT
+ CET learners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554480"/>
            <a:ext cx="2651760" cy="1828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7155180" y="1710154"/>
            <a:ext cx="777240" cy="777240"/>
          </a:xfrm>
          <a:prstGeom prst="ellipse">
            <a:avLst/>
          </a:prstGeom>
          <a:solidFill>
            <a:srgbClr val="6C5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>
                <a:solidFill>
                  <a:srgbClr val="FFFFFF"/>
                </a:solidFill>
              </a:rPr>
              <a:t>🏛️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2593883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dirty="0">
                <a:solidFill>
                  <a:srgbClr val="6C5CE7"/>
                </a:solidFill>
                <a:latin typeface="Calibri"/>
              </a:rPr>
              <a:t>Schools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2868203"/>
            <a:ext cx="2286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dirty="0">
                <a:solidFill>
                  <a:srgbClr val="2D2D2D"/>
                </a:solidFill>
                <a:latin typeface="Calibri"/>
              </a:rPr>
              <a:t>6 Schools
across disciplines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52560" y="1554480"/>
            <a:ext cx="2651760" cy="1828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9989820" y="1710154"/>
            <a:ext cx="777240" cy="777240"/>
          </a:xfrm>
          <a:prstGeom prst="ellipse">
            <a:avLst/>
          </a:prstGeom>
          <a:solidFill>
            <a:srgbClr val="FF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dirty="0">
                <a:solidFill>
                  <a:srgbClr val="FFFFFF"/>
                </a:solidFill>
              </a:rPr>
              <a:t>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35440" y="2591534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dirty="0">
                <a:solidFill>
                  <a:srgbClr val="FFB700"/>
                </a:solidFill>
                <a:latin typeface="Calibri"/>
              </a:rPr>
              <a:t>Budget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35440" y="2878348"/>
            <a:ext cx="2286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dirty="0">
                <a:solidFill>
                  <a:srgbClr val="2D2D2D"/>
                </a:solidFill>
                <a:latin typeface="Calibri"/>
              </a:rPr>
              <a:t>SGD 200–300M
(MOE-funded)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3657600"/>
            <a:ext cx="11064240" cy="822960"/>
          </a:xfrm>
          <a:prstGeom prst="round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14399" y="3799332"/>
            <a:ext cx="10332720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dirty="0">
                <a:solidFill>
                  <a:schemeClr val="bg1"/>
                </a:solidFill>
                <a:latin typeface="Calibri"/>
              </a:rPr>
              <a:t>🎯  Mission: </a:t>
            </a:r>
            <a:r>
              <a:rPr lang="en-US" sz="1400" dirty="0">
                <a:solidFill>
                  <a:schemeClr val="bg1"/>
                </a:solidFill>
              </a:rPr>
              <a:t>Empowering Learners for Work &amp; Life</a:t>
            </a:r>
          </a:p>
          <a:p>
            <a:pPr algn="ctr"/>
            <a:r>
              <a:rPr lang="en-US" sz="1400" dirty="0">
                <a:solidFill>
                  <a:schemeClr val="bg1"/>
                </a:solidFill>
              </a:rPr>
              <a:t>Co-creating with Industry for Growth &amp; Sustainability</a:t>
            </a:r>
          </a:p>
          <a:p>
            <a:pPr algn="ctr"/>
            <a:endParaRPr sz="1400" b="1" dirty="0">
              <a:solidFill>
                <a:schemeClr val="bg1"/>
              </a:solidFill>
              <a:latin typeface="Calibri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548640" y="4754880"/>
            <a:ext cx="35661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2D2D2D"/>
                </a:solidFill>
                <a:latin typeface="Calibri"/>
              </a:rPr>
              <a:t>▸  School of Information Technology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97679" y="4754880"/>
            <a:ext cx="35661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2D2D2D"/>
                </a:solidFill>
                <a:latin typeface="Calibri"/>
              </a:rPr>
              <a:t>▸  School of Engineering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19" y="4754880"/>
            <a:ext cx="35661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D2D2D"/>
                </a:solidFill>
                <a:latin typeface="Calibri"/>
              </a:rPr>
              <a:t>▸  School of Business Management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5257800"/>
            <a:ext cx="35661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D2D2D"/>
                </a:solidFill>
                <a:latin typeface="Calibri"/>
              </a:rPr>
              <a:t>▸  School of Design &amp; Media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79" y="5257800"/>
            <a:ext cx="35661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D2D2D"/>
                </a:solidFill>
                <a:latin typeface="Calibri"/>
              </a:rPr>
              <a:t>▸  School of Health &amp; Social Sciences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46719" y="5257800"/>
            <a:ext cx="35661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2D2D2D"/>
                </a:solidFill>
                <a:latin typeface="Calibri"/>
              </a:rPr>
              <a:t>▸  School of Applied Science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57200" y="65653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C757D"/>
                </a:solidFill>
                <a:latin typeface="Calibri"/>
              </a:rPr>
              <a:t>NYP Emerging Technologies Proposal  |  Feb 2026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277295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C757D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54864"/>
          </a:xfrm>
          <a:prstGeom prst="rect">
            <a:avLst/>
          </a:prstGeom>
          <a:solidFill>
            <a:srgbClr val="009F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2286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 Light"/>
              </a:rPr>
              <a:t>NYP's Educational Value Chain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77240"/>
            <a:ext cx="9144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dirty="0">
                <a:solidFill>
                  <a:schemeClr val="accent3">
                    <a:lumMod val="60000"/>
                    <a:lumOff val="40000"/>
                  </a:schemeClr>
                </a:solidFill>
                <a:latin typeface="Calibri"/>
              </a:rPr>
              <a:t>End-to-end activities delivering value to students, employers &amp; government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828800"/>
            <a:ext cx="1325880" cy="21945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621792" y="2057400"/>
            <a:ext cx="777240" cy="777240"/>
          </a:xfrm>
          <a:prstGeom prst="ellipse">
            <a:avLst/>
          </a:prstGeom>
          <a:solidFill>
            <a:srgbClr val="009F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>
                <a:solidFill>
                  <a:srgbClr val="FFFFFF"/>
                </a:solidFill>
              </a:rPr>
              <a:t>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3017520"/>
            <a:ext cx="123444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dirty="0">
                <a:solidFill>
                  <a:srgbClr val="002B5C"/>
                </a:solidFill>
                <a:latin typeface="Calibri"/>
              </a:rPr>
              <a:t>Student
Recruitment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27632" y="265176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009FDA"/>
                </a:solidFill>
                <a:latin typeface="Calibri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810512" y="1828800"/>
            <a:ext cx="1325880" cy="21945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2066544" y="2057400"/>
            <a:ext cx="777240" cy="777240"/>
          </a:xfrm>
          <a:prstGeom prst="ellipse">
            <a:avLst/>
          </a:prstGeom>
          <a:solidFill>
            <a:srgbClr val="005B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>
                <a:solidFill>
                  <a:srgbClr val="FFFFFF"/>
                </a:solidFill>
              </a:rPr>
              <a:t>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56232" y="3017520"/>
            <a:ext cx="123444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dirty="0">
                <a:solidFill>
                  <a:srgbClr val="002B5C"/>
                </a:solidFill>
                <a:latin typeface="Calibri"/>
              </a:rPr>
              <a:t>Curriculum
Design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72384" y="265176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009FDA"/>
                </a:solidFill>
                <a:latin typeface="Calibri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55264" y="1828800"/>
            <a:ext cx="1325880" cy="21945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3511296" y="2057400"/>
            <a:ext cx="777240" cy="777240"/>
          </a:xfrm>
          <a:prstGeom prst="ellipse">
            <a:avLst/>
          </a:prstGeom>
          <a:solidFill>
            <a:srgbClr val="6C5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>
                <a:solidFill>
                  <a:srgbClr val="FFFFFF"/>
                </a:solidFill>
              </a:rPr>
              <a:t>📚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00984" y="3017520"/>
            <a:ext cx="123444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dirty="0">
                <a:solidFill>
                  <a:srgbClr val="002B5C"/>
                </a:solidFill>
                <a:latin typeface="Calibri"/>
              </a:rPr>
              <a:t>Teaching &amp;
Learning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17136" y="265176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009FDA"/>
                </a:solidFill>
                <a:latin typeface="Calibri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700016" y="1828800"/>
            <a:ext cx="1325880" cy="21945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4956048" y="2057400"/>
            <a:ext cx="777240" cy="777240"/>
          </a:xfrm>
          <a:prstGeom prst="ellipse">
            <a:avLst/>
          </a:prstGeom>
          <a:solidFill>
            <a:srgbClr val="00A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>
                <a:solidFill>
                  <a:srgbClr val="FFFFFF"/>
                </a:solidFill>
              </a:rPr>
              <a:t>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45736" y="3017520"/>
            <a:ext cx="123444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dirty="0">
                <a:solidFill>
                  <a:srgbClr val="002B5C"/>
                </a:solidFill>
                <a:latin typeface="Calibri"/>
              </a:rPr>
              <a:t>Student
Support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61888" y="265176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dirty="0">
                <a:solidFill>
                  <a:srgbClr val="009FDA"/>
                </a:solidFill>
                <a:latin typeface="Calibri"/>
              </a:rPr>
              <a:t>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44768" y="1828800"/>
            <a:ext cx="1325880" cy="21945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6400800" y="2057400"/>
            <a:ext cx="777240" cy="777240"/>
          </a:xfrm>
          <a:prstGeom prst="ellipse">
            <a:avLst/>
          </a:prstGeom>
          <a:solidFill>
            <a:srgbClr val="00CC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>
                <a:solidFill>
                  <a:srgbClr val="FFFFFF"/>
                </a:solidFill>
              </a:rPr>
              <a:t>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90488" y="3017520"/>
            <a:ext cx="123444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dirty="0">
                <a:solidFill>
                  <a:srgbClr val="002B5C"/>
                </a:solidFill>
                <a:latin typeface="Calibri"/>
              </a:rPr>
              <a:t>Assessment &amp;
Certification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06640" y="265176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009FDA"/>
                </a:solidFill>
                <a:latin typeface="Calibri"/>
              </a:rPr>
              <a:t>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589520" y="1828800"/>
            <a:ext cx="1325880" cy="21945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7845552" y="2057400"/>
            <a:ext cx="777240" cy="777240"/>
          </a:xfrm>
          <a:prstGeom prst="ellipse">
            <a:avLst/>
          </a:prstGeom>
          <a:solidFill>
            <a:srgbClr val="FD79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>
                <a:solidFill>
                  <a:srgbClr val="FFFFFF"/>
                </a:solidFill>
              </a:rPr>
              <a:t>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35240" y="3017520"/>
            <a:ext cx="123444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dirty="0">
                <a:solidFill>
                  <a:srgbClr val="002B5C"/>
                </a:solidFill>
                <a:latin typeface="Calibri"/>
              </a:rPr>
              <a:t>Industry
Partnerships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51392" y="265176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009FDA"/>
                </a:solidFill>
                <a:latin typeface="Calibri"/>
              </a:rPr>
              <a:t>→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034272" y="1828800"/>
            <a:ext cx="1325880" cy="21945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Oval 30"/>
          <p:cNvSpPr/>
          <p:nvPr/>
        </p:nvSpPr>
        <p:spPr>
          <a:xfrm>
            <a:off x="9290304" y="2057400"/>
            <a:ext cx="777240" cy="777240"/>
          </a:xfrm>
          <a:prstGeom prst="ellipse">
            <a:avLst/>
          </a:prstGeom>
          <a:solidFill>
            <a:srgbClr val="FF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>
                <a:solidFill>
                  <a:srgbClr val="FFFFFF"/>
                </a:solidFill>
              </a:rPr>
              <a:t>📖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79992" y="3017520"/>
            <a:ext cx="123444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dirty="0">
                <a:solidFill>
                  <a:srgbClr val="002B5C"/>
                </a:solidFill>
                <a:latin typeface="Calibri"/>
              </a:rPr>
              <a:t>CET
Programs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96144" y="265176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009FDA"/>
                </a:solidFill>
                <a:latin typeface="Calibri"/>
              </a:rPr>
              <a:t>→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0479024" y="1828800"/>
            <a:ext cx="1325880" cy="21945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Oval 34"/>
          <p:cNvSpPr/>
          <p:nvPr/>
        </p:nvSpPr>
        <p:spPr>
          <a:xfrm>
            <a:off x="10735056" y="2057400"/>
            <a:ext cx="777240" cy="777240"/>
          </a:xfrm>
          <a:prstGeom prst="ellipse">
            <a:avLst/>
          </a:prstGeom>
          <a:solidFill>
            <a:srgbClr val="E1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>
                <a:solidFill>
                  <a:srgbClr val="FFFFFF"/>
                </a:solidFill>
              </a:rPr>
              <a:t>🏗️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524744" y="3017520"/>
            <a:ext cx="123444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dirty="0">
                <a:solidFill>
                  <a:srgbClr val="002B5C"/>
                </a:solidFill>
                <a:latin typeface="Calibri"/>
              </a:rPr>
              <a:t>Campus
Operations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48640" y="4389120"/>
            <a:ext cx="11064240" cy="731520"/>
          </a:xfrm>
          <a:prstGeom prst="roundRect">
            <a:avLst/>
          </a:prstGeom>
          <a:solidFill>
            <a:srgbClr val="D6EF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929487" y="459232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dirty="0">
                <a:solidFill>
                  <a:srgbClr val="002B5C"/>
                </a:solidFill>
                <a:latin typeface="Calibri"/>
              </a:rPr>
              <a:t>Each activity represents an area where emerging technologies can create measurable improvements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457200" y="65653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C757D"/>
                </a:solidFill>
                <a:latin typeface="Calibri"/>
              </a:rPr>
              <a:t>NYP Emerging Technologies Proposal  |  Feb 2026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277295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C757D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54864"/>
          </a:xfrm>
          <a:prstGeom prst="rect">
            <a:avLst/>
          </a:prstGeom>
          <a:solidFill>
            <a:srgbClr val="009F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2286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 Light"/>
              </a:rPr>
              <a:t>Current Problems &amp; Challenges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77240"/>
            <a:ext cx="9144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dirty="0">
                <a:solidFill>
                  <a:schemeClr val="accent3">
                    <a:lumMod val="60000"/>
                    <a:lumOff val="40000"/>
                  </a:schemeClr>
                </a:solidFill>
                <a:latin typeface="Calibri"/>
              </a:rPr>
              <a:t>Six core challenges mapped to the value chain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54480"/>
            <a:ext cx="3566160" cy="21488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02920" y="1600200"/>
            <a:ext cx="3474720" cy="64008"/>
          </a:xfrm>
          <a:prstGeom prst="rect">
            <a:avLst/>
          </a:prstGeom>
          <a:solidFill>
            <a:srgbClr val="E1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640080" y="1783080"/>
            <a:ext cx="640080" cy="640080"/>
          </a:xfrm>
          <a:prstGeom prst="ellipse">
            <a:avLst/>
          </a:prstGeom>
          <a:solidFill>
            <a:srgbClr val="E1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>
                <a:solidFill>
                  <a:srgbClr val="FFFFFF"/>
                </a:solidFill>
              </a:rPr>
              <a:t>⚠️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783080"/>
            <a:ext cx="2377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2B5C"/>
                </a:solidFill>
                <a:latin typeface="Calibri"/>
              </a:rPr>
              <a:t>Scalability of
Personalised Learning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514600"/>
            <a:ext cx="32004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2D2D2D"/>
                </a:solidFill>
                <a:latin typeface="Calibri"/>
              </a:rPr>
              <a:t>Large class sizes limit individual attention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108960"/>
            <a:ext cx="2286000" cy="365760"/>
          </a:xfrm>
          <a:prstGeom prst="roundRect">
            <a:avLst/>
          </a:prstGeom>
          <a:solidFill>
            <a:srgbClr val="E1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31520" y="3136392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dirty="0">
                <a:solidFill>
                  <a:srgbClr val="FFFFFF"/>
                </a:solidFill>
                <a:latin typeface="Calibri"/>
              </a:rPr>
              <a:t>↳ Teaching &amp; Learning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51960" y="1554480"/>
            <a:ext cx="3566160" cy="21488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297680" y="1600200"/>
            <a:ext cx="3474720" cy="64008"/>
          </a:xfrm>
          <a:prstGeom prst="rect">
            <a:avLst/>
          </a:prstGeom>
          <a:solidFill>
            <a:srgbClr val="FD79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4434840" y="1783080"/>
            <a:ext cx="640080" cy="640080"/>
          </a:xfrm>
          <a:prstGeom prst="ellipse">
            <a:avLst/>
          </a:prstGeom>
          <a:solidFill>
            <a:srgbClr val="FD79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dirty="0">
                <a:solidFill>
                  <a:srgbClr val="FFFFFF"/>
                </a:solidFill>
              </a:rPr>
              <a:t>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1783080"/>
            <a:ext cx="2377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2B5C"/>
                </a:solidFill>
                <a:latin typeface="Calibri"/>
              </a:rPr>
              <a:t>Limited Hands-On
Training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34840" y="2514600"/>
            <a:ext cx="32004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2D2D2D"/>
                </a:solidFill>
                <a:latin typeface="Calibri"/>
              </a:rPr>
              <a:t>Physical lab constraints &amp; costly equipment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34840" y="3108960"/>
            <a:ext cx="2286000" cy="365760"/>
          </a:xfrm>
          <a:prstGeom prst="roundRect">
            <a:avLst/>
          </a:prstGeom>
          <a:solidFill>
            <a:srgbClr val="FD79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526280" y="3136392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dirty="0">
                <a:solidFill>
                  <a:srgbClr val="FFFFFF"/>
                </a:solidFill>
                <a:latin typeface="Calibri"/>
              </a:rPr>
              <a:t>↳ Teaching &amp; Learning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46720" y="1554480"/>
            <a:ext cx="3566160" cy="21488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8092440" y="1600200"/>
            <a:ext cx="3474720" cy="64008"/>
          </a:xfrm>
          <a:prstGeom prst="rect">
            <a:avLst/>
          </a:prstGeom>
          <a:solidFill>
            <a:srgbClr val="005B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8229600" y="1783080"/>
            <a:ext cx="640080" cy="640080"/>
          </a:xfrm>
          <a:prstGeom prst="ellipse">
            <a:avLst/>
          </a:prstGeom>
          <a:solidFill>
            <a:srgbClr val="005B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>
                <a:solidFill>
                  <a:srgbClr val="FFFFFF"/>
                </a:solidFill>
              </a:rPr>
              <a:t>📶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06840" y="1783080"/>
            <a:ext cx="2377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2B5C"/>
                </a:solidFill>
                <a:latin typeface="Calibri"/>
              </a:rPr>
              <a:t>Campus Connectivity
Limitations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0" y="2514600"/>
            <a:ext cx="32004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2D2D2D"/>
                </a:solidFill>
                <a:latin typeface="Calibri"/>
              </a:rPr>
              <a:t>Bandwidth bottlenecks during peak hours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29600" y="3108960"/>
            <a:ext cx="2286000" cy="365760"/>
          </a:xfrm>
          <a:prstGeom prst="roundRect">
            <a:avLst/>
          </a:prstGeom>
          <a:solidFill>
            <a:srgbClr val="005B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321040" y="3136392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dirty="0">
                <a:solidFill>
                  <a:srgbClr val="FFFFFF"/>
                </a:solidFill>
                <a:latin typeface="Calibri"/>
              </a:rPr>
              <a:t>↳ Campus Operations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3977639"/>
            <a:ext cx="3566160" cy="21488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502920" y="4023359"/>
            <a:ext cx="3474720" cy="64008"/>
          </a:xfrm>
          <a:prstGeom prst="rect">
            <a:avLst/>
          </a:prstGeom>
          <a:solidFill>
            <a:srgbClr val="00CC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Oval 28"/>
          <p:cNvSpPr/>
          <p:nvPr/>
        </p:nvSpPr>
        <p:spPr>
          <a:xfrm>
            <a:off x="640080" y="4206239"/>
            <a:ext cx="640080" cy="640080"/>
          </a:xfrm>
          <a:prstGeom prst="ellipse">
            <a:avLst/>
          </a:prstGeom>
          <a:solidFill>
            <a:srgbClr val="00CC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>
                <a:solidFill>
                  <a:srgbClr val="FFFFFF"/>
                </a:solidFill>
              </a:rPr>
              <a:t>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17320" y="4206239"/>
            <a:ext cx="2377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2B5C"/>
                </a:solidFill>
                <a:latin typeface="Calibri"/>
              </a:rPr>
              <a:t>Certificate Fraud &amp;
Verification Delays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4937759"/>
            <a:ext cx="32004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2D2D2D"/>
                </a:solidFill>
                <a:latin typeface="Calibri"/>
              </a:rPr>
              <a:t>3–10 working days for manual verification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0080" y="5532119"/>
            <a:ext cx="2286000" cy="365760"/>
          </a:xfrm>
          <a:prstGeom prst="roundRect">
            <a:avLst/>
          </a:prstGeom>
          <a:solidFill>
            <a:srgbClr val="00CC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731520" y="5559551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dirty="0">
                <a:solidFill>
                  <a:srgbClr val="FFFFFF"/>
                </a:solidFill>
                <a:latin typeface="Calibri"/>
              </a:rPr>
              <a:t>↳ Assessment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251960" y="3977639"/>
            <a:ext cx="3566160" cy="21488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4297680" y="4023359"/>
            <a:ext cx="3474720" cy="64008"/>
          </a:xfrm>
          <a:prstGeom prst="rect">
            <a:avLst/>
          </a:prstGeom>
          <a:solidFill>
            <a:srgbClr val="FF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Oval 35"/>
          <p:cNvSpPr/>
          <p:nvPr/>
        </p:nvSpPr>
        <p:spPr>
          <a:xfrm>
            <a:off x="4434840" y="4206239"/>
            <a:ext cx="640080" cy="640080"/>
          </a:xfrm>
          <a:prstGeom prst="ellipse">
            <a:avLst/>
          </a:prstGeom>
          <a:solidFill>
            <a:srgbClr val="FF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>
                <a:solidFill>
                  <a:srgbClr val="FFFFFF"/>
                </a:solidFill>
              </a:rPr>
              <a:t>🏆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212080" y="4206239"/>
            <a:ext cx="2377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dirty="0">
                <a:solidFill>
                  <a:srgbClr val="002B5C"/>
                </a:solidFill>
                <a:latin typeface="Calibri"/>
              </a:rPr>
              <a:t>Rising Competition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434840" y="4937759"/>
            <a:ext cx="32004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2D2D2D"/>
                </a:solidFill>
                <a:latin typeface="Calibri"/>
              </a:rPr>
              <a:t>Five polytechnics + universities competing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434840" y="5532119"/>
            <a:ext cx="2286000" cy="365760"/>
          </a:xfrm>
          <a:prstGeom prst="roundRect">
            <a:avLst/>
          </a:prstGeom>
          <a:solidFill>
            <a:srgbClr val="FF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4526280" y="5559551"/>
            <a:ext cx="210312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dirty="0">
                <a:solidFill>
                  <a:srgbClr val="FFFFFF"/>
                </a:solidFill>
                <a:latin typeface="Calibri"/>
              </a:rPr>
              <a:t>↳ Recruitment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046720" y="3977639"/>
            <a:ext cx="3566160" cy="21488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8092440" y="4023359"/>
            <a:ext cx="3474720" cy="64008"/>
          </a:xfrm>
          <a:prstGeom prst="rect">
            <a:avLst/>
          </a:prstGeom>
          <a:solidFill>
            <a:srgbClr val="00A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Oval 42"/>
          <p:cNvSpPr/>
          <p:nvPr/>
        </p:nvSpPr>
        <p:spPr>
          <a:xfrm>
            <a:off x="8229600" y="4206239"/>
            <a:ext cx="640080" cy="640080"/>
          </a:xfrm>
          <a:prstGeom prst="ellipse">
            <a:avLst/>
          </a:prstGeom>
          <a:solidFill>
            <a:srgbClr val="00A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>
                <a:solidFill>
                  <a:srgbClr val="FFFFFF"/>
                </a:solidFill>
              </a:rPr>
              <a:t>🌱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006840" y="4206239"/>
            <a:ext cx="2377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dirty="0">
                <a:solidFill>
                  <a:srgbClr val="002B5C"/>
                </a:solidFill>
                <a:latin typeface="Calibri"/>
              </a:rPr>
              <a:t>Environmental &amp;
Sustainability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29600" y="4937759"/>
            <a:ext cx="32004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2D2D2D"/>
                </a:solidFill>
                <a:latin typeface="Calibri"/>
              </a:rPr>
              <a:t>Carbon footprint, SG Green Plan 2030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229600" y="5532119"/>
            <a:ext cx="2286000" cy="365760"/>
          </a:xfrm>
          <a:prstGeom prst="roundRect">
            <a:avLst/>
          </a:prstGeom>
          <a:solidFill>
            <a:srgbClr val="00A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8321040" y="5559551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dirty="0">
                <a:solidFill>
                  <a:srgbClr val="FFFFFF"/>
                </a:solidFill>
                <a:latin typeface="Calibri"/>
              </a:rPr>
              <a:t>↳ Campus Operations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457200" y="65653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C757D"/>
                </a:solidFill>
                <a:latin typeface="Calibri"/>
              </a:rPr>
              <a:t>NYP Emerging Technologies Proposal  |  Feb 2026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277295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C757D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54864"/>
          </a:xfrm>
          <a:prstGeom prst="rect">
            <a:avLst/>
          </a:prstGeom>
          <a:solidFill>
            <a:srgbClr val="009F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2286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 Light"/>
              </a:rPr>
              <a:t>Market Size &amp; Revenue Potential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77240"/>
            <a:ext cx="9144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dirty="0">
                <a:solidFill>
                  <a:schemeClr val="accent3">
                    <a:lumMod val="60000"/>
                    <a:lumOff val="40000"/>
                  </a:schemeClr>
                </a:solidFill>
                <a:latin typeface="Calibri"/>
              </a:rPr>
              <a:t>Singapore education &amp; global EdTech opportunity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dirty="0">
                <a:solidFill>
                  <a:srgbClr val="009FDA"/>
                </a:solidFill>
                <a:latin typeface="Calibri"/>
              </a:rPr>
              <a:t>SGD 13B/yr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74520"/>
            <a:ext cx="50292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2D2D2D"/>
                </a:solidFill>
                <a:latin typeface="Calibri"/>
              </a:rPr>
              <a:t>SG government education budget (15–20% of national budget)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231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9FDA"/>
                </a:solidFill>
                <a:latin typeface="Calibri"/>
              </a:rPr>
              <a:t>~70,000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43200"/>
            <a:ext cx="50292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2D2D2D"/>
                </a:solidFill>
                <a:latin typeface="Calibri"/>
              </a:rPr>
              <a:t>Full-time polytechnic students across five institutions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291839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9FDA"/>
                </a:solidFill>
                <a:latin typeface="Calibri"/>
              </a:rPr>
              <a:t>~21%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611879"/>
            <a:ext cx="50292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2D2D2D"/>
                </a:solidFill>
                <a:latin typeface="Calibri"/>
              </a:rPr>
              <a:t>NYP's share of the polytechnic market (~15,000 students)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16052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dirty="0">
                <a:solidFill>
                  <a:srgbClr val="009FDA"/>
                </a:solidFill>
                <a:latin typeface="Calibri"/>
              </a:rPr>
              <a:t>USD 340B → 605B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79" y="4480560"/>
            <a:ext cx="600625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dirty="0">
                <a:solidFill>
                  <a:srgbClr val="2D2D2D"/>
                </a:solidFill>
                <a:latin typeface="Calibri"/>
              </a:rPr>
              <a:t>Global EdTech market </a:t>
            </a:r>
            <a:r>
              <a:rPr sz="1400" b="0" dirty="0">
                <a:solidFill>
                  <a:srgbClr val="2D2D2D"/>
                </a:solidFill>
                <a:latin typeface="Calibri"/>
              </a:rPr>
              <a:t>2024</a:t>
            </a:r>
            <a:r>
              <a:rPr sz="1300" b="0" dirty="0">
                <a:solidFill>
                  <a:srgbClr val="2D2D2D"/>
                </a:solidFill>
                <a:latin typeface="Calibri"/>
              </a:rPr>
              <a:t> → </a:t>
            </a:r>
            <a:r>
              <a:rPr sz="1400" b="0" dirty="0">
                <a:solidFill>
                  <a:srgbClr val="2D2D2D"/>
                </a:solidFill>
                <a:latin typeface="Calibri"/>
              </a:rPr>
              <a:t>2027</a:t>
            </a:r>
            <a:r>
              <a:rPr sz="1300" b="0" dirty="0">
                <a:solidFill>
                  <a:srgbClr val="2D2D2D"/>
                </a:solidFill>
                <a:latin typeface="Calibri"/>
              </a:rPr>
              <a:t> (16% </a:t>
            </a:r>
            <a:r>
              <a:rPr lang="en-SG" sz="1400" b="0" dirty="0">
                <a:solidFill>
                  <a:srgbClr val="2D2D2D"/>
                </a:solidFill>
                <a:latin typeface="Calibri"/>
              </a:rPr>
              <a:t>C</a:t>
            </a:r>
            <a:r>
              <a:rPr lang="en-SG" sz="1400" dirty="0"/>
              <a:t>ompound Annual Growth Rate - CAGR</a:t>
            </a:r>
            <a:r>
              <a:rPr sz="1300" b="0" dirty="0">
                <a:solidFill>
                  <a:srgbClr val="2D2D2D"/>
                </a:solidFill>
                <a:latin typeface="Calibri"/>
              </a:rPr>
              <a:t>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0292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9FDA"/>
                </a:solidFill>
                <a:latin typeface="Calibri"/>
              </a:rPr>
              <a:t>SGD 1.5–2B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349240"/>
            <a:ext cx="50292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dirty="0">
                <a:solidFill>
                  <a:srgbClr val="2D2D2D"/>
                </a:solidFill>
                <a:latin typeface="Calibri"/>
              </a:rPr>
              <a:t>Singapore EdTech market (</a:t>
            </a:r>
            <a:r>
              <a:rPr sz="1400" b="0" dirty="0" err="1">
                <a:solidFill>
                  <a:srgbClr val="2D2D2D"/>
                </a:solidFill>
                <a:latin typeface="Calibri"/>
              </a:rPr>
              <a:t>SkillsFuture</a:t>
            </a:r>
            <a:r>
              <a:rPr sz="1300" b="0" dirty="0">
                <a:solidFill>
                  <a:srgbClr val="2D2D2D"/>
                </a:solidFill>
                <a:latin typeface="Calibri"/>
              </a:rPr>
              <a:t> &amp; IMDA driven)</a:t>
            </a:r>
          </a:p>
        </p:txBody>
      </p:sp>
      <p:graphicFrame>
        <p:nvGraphicFramePr>
          <p:cNvPr id="16" name="Chart 1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94305276"/>
              </p:ext>
            </p:extLst>
          </p:nvPr>
        </p:nvGraphicFramePr>
        <p:xfrm>
          <a:off x="6339535" y="1609344"/>
          <a:ext cx="5303520" cy="3474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7" name="Rounded Rectangle 16"/>
          <p:cNvSpPr/>
          <p:nvPr/>
        </p:nvSpPr>
        <p:spPr>
          <a:xfrm>
            <a:off x="640080" y="5715000"/>
            <a:ext cx="11064240" cy="731520"/>
          </a:xfrm>
          <a:prstGeom prst="roundRect">
            <a:avLst/>
          </a:prstGeom>
          <a:solidFill>
            <a:srgbClr val="D6EF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18" name="TextBox 17"/>
          <p:cNvSpPr txBox="1"/>
          <p:nvPr/>
        </p:nvSpPr>
        <p:spPr>
          <a:xfrm>
            <a:off x="929487" y="5888736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dirty="0">
                <a:solidFill>
                  <a:srgbClr val="002B5C"/>
                </a:solidFill>
                <a:latin typeface="Calibri"/>
              </a:rPr>
              <a:t>Revenue Streams:  AI-powered CET courses  |  VR content licensing  |  Blockchain verification services  |  Smart-campus consulting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57200" y="65653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C757D"/>
                </a:solidFill>
                <a:latin typeface="Calibri"/>
              </a:rPr>
              <a:t>NYP Emerging Technologies Proposal  |  Feb 2026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77295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C757D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8686800" y="-1371600"/>
            <a:ext cx="5486400" cy="5486400"/>
          </a:xfrm>
          <a:prstGeom prst="ellipse">
            <a:avLst/>
          </a:prstGeom>
          <a:solidFill>
            <a:srgbClr val="009F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9144000" y="-914400"/>
            <a:ext cx="4572000" cy="4572000"/>
          </a:xfrm>
          <a:prstGeom prst="ellipse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914400" y="5029200"/>
            <a:ext cx="274320" cy="274320"/>
          </a:xfrm>
          <a:prstGeom prst="ellipse">
            <a:avLst/>
          </a:prstGeom>
          <a:solidFill>
            <a:srgbClr val="009F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0515600" y="5486400"/>
            <a:ext cx="182880" cy="182880"/>
          </a:xfrm>
          <a:prstGeom prst="ellipse">
            <a:avLst/>
          </a:prstGeom>
          <a:solidFill>
            <a:srgbClr val="009F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457200" y="914400"/>
            <a:ext cx="137160" cy="137160"/>
          </a:xfrm>
          <a:prstGeom prst="ellipse">
            <a:avLst/>
          </a:prstGeom>
          <a:solidFill>
            <a:srgbClr val="009F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371600" y="2926080"/>
            <a:ext cx="914400" cy="54864"/>
          </a:xfrm>
          <a:prstGeom prst="rect">
            <a:avLst/>
          </a:prstGeom>
          <a:solidFill>
            <a:srgbClr val="009F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371600" y="320040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libri Light"/>
              </a:rPr>
              <a:t>Technology Solutions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4297680"/>
            <a:ext cx="82296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dirty="0">
                <a:solidFill>
                  <a:schemeClr val="accent3">
                    <a:lumMod val="60000"/>
                    <a:lumOff val="40000"/>
                  </a:schemeClr>
                </a:solidFill>
                <a:latin typeface="Calibri"/>
              </a:rPr>
              <a:t>Four emerging technologies mapped to NYP's value chain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7200" y="65653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C757D"/>
                </a:solidFill>
                <a:latin typeface="Calibri"/>
              </a:rPr>
              <a:t>NYP Emerging Technologies Proposal  |  Feb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77295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C757D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54864"/>
          </a:xfrm>
          <a:prstGeom prst="rect">
            <a:avLst/>
          </a:prstGeom>
          <a:solidFill>
            <a:srgbClr val="009F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2286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 Light"/>
              </a:rPr>
              <a:t>Artificial Intelligence (AI)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77240"/>
            <a:ext cx="9144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dirty="0">
                <a:solidFill>
                  <a:schemeClr val="accent3">
                    <a:lumMod val="60000"/>
                    <a:lumOff val="40000"/>
                  </a:schemeClr>
                </a:solidFill>
                <a:latin typeface="Calibri"/>
              </a:rPr>
              <a:t>Clifton </a:t>
            </a:r>
            <a:r>
              <a:rPr lang="en-US" sz="1600" b="0" dirty="0">
                <a:solidFill>
                  <a:schemeClr val="accent3">
                    <a:lumMod val="60000"/>
                    <a:lumOff val="40000"/>
                  </a:schemeClr>
                </a:solidFill>
                <a:latin typeface="Calibri"/>
              </a:rPr>
              <a:t>Chen Yi</a:t>
            </a:r>
            <a:r>
              <a:rPr sz="1600" b="0" dirty="0">
                <a:solidFill>
                  <a:schemeClr val="accent3">
                    <a:lumMod val="60000"/>
                    <a:lumOff val="40000"/>
                  </a:schemeClr>
                </a:solidFill>
                <a:latin typeface="Calibri"/>
              </a:rPr>
              <a:t> |  Team Lead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0876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dirty="0">
                <a:solidFill>
                  <a:srgbClr val="6C5CE7"/>
                </a:solidFill>
                <a:latin typeface="Calibri"/>
              </a:rPr>
              <a:t>AI Technologies for Education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011680"/>
            <a:ext cx="5303520" cy="16927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 dirty="0">
                <a:solidFill>
                  <a:srgbClr val="2D2D2D"/>
                </a:solidFill>
                <a:latin typeface="Calibri"/>
              </a:rPr>
              <a:t>▸  Machine Learning (ML) — Algorithms that improve through experience</a:t>
            </a:r>
          </a:p>
          <a:p>
            <a:pPr>
              <a:spcAft>
                <a:spcPts val="800"/>
              </a:spcAft>
            </a:pPr>
            <a:r>
              <a:rPr sz="1400" b="0" dirty="0">
                <a:solidFill>
                  <a:srgbClr val="2D2D2D"/>
                </a:solidFill>
                <a:latin typeface="Calibri"/>
              </a:rPr>
              <a:t>▸  Natural Language Processing — Understanding &amp; generating human language</a:t>
            </a:r>
          </a:p>
          <a:p>
            <a:pPr>
              <a:spcAft>
                <a:spcPts val="800"/>
              </a:spcAft>
            </a:pPr>
            <a:r>
              <a:rPr sz="1400" b="0" dirty="0">
                <a:solidFill>
                  <a:srgbClr val="2D2D2D"/>
                </a:solidFill>
                <a:latin typeface="Calibri"/>
              </a:rPr>
              <a:t>▸  Computer Vision — Interpreting visual information</a:t>
            </a:r>
          </a:p>
          <a:p>
            <a:pPr>
              <a:spcAft>
                <a:spcPts val="800"/>
              </a:spcAft>
            </a:pPr>
            <a:r>
              <a:rPr sz="1400" b="0" dirty="0">
                <a:solidFill>
                  <a:srgbClr val="2D2D2D"/>
                </a:solidFill>
                <a:latin typeface="Calibri"/>
              </a:rPr>
              <a:t>▸  Generative AI — Content creation, Q&amp;A, creative tasks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1463040"/>
            <a:ext cx="2651760" cy="1828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446520" y="1508760"/>
            <a:ext cx="2560320" cy="64008"/>
          </a:xfrm>
          <a:prstGeom prst="rect">
            <a:avLst/>
          </a:prstGeom>
          <a:solidFill>
            <a:srgbClr val="6C5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583680" y="16916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6C5CE7"/>
                </a:solidFill>
                <a:latin typeface="Calibri"/>
              </a:rPr>
              <a:t>🎯 Adaptive Learning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2103120"/>
            <a:ext cx="2286000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 err="1">
                <a:solidFill>
                  <a:srgbClr val="2D2D2D"/>
                </a:solidFill>
                <a:latin typeface="Calibri"/>
              </a:rPr>
              <a:t>Personalise</a:t>
            </a:r>
            <a:r>
              <a:rPr sz="1400" b="0" dirty="0">
                <a:solidFill>
                  <a:srgbClr val="2D2D2D"/>
                </a:solidFill>
                <a:latin typeface="Calibri"/>
              </a:rPr>
              <a:t> learning paths;
identify at-risk students early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235440" y="1463040"/>
            <a:ext cx="2651760" cy="1828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9281160" y="1508760"/>
            <a:ext cx="2560320" cy="64008"/>
          </a:xfrm>
          <a:prstGeom prst="rect">
            <a:avLst/>
          </a:prstGeom>
          <a:solidFill>
            <a:srgbClr val="6C5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418320" y="16916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6C5CE7"/>
                </a:solidFill>
                <a:latin typeface="Calibri"/>
              </a:rPr>
              <a:t>💬 AI Chatbots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18320" y="2103120"/>
            <a:ext cx="2286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2D2D2D"/>
                </a:solidFill>
                <a:latin typeface="Calibri"/>
              </a:rPr>
              <a:t>24/7 student support;
reduce admin workload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0" y="3566160"/>
            <a:ext cx="2651760" cy="1828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446520" y="3611880"/>
            <a:ext cx="2560320" cy="64008"/>
          </a:xfrm>
          <a:prstGeom prst="rect">
            <a:avLst/>
          </a:prstGeom>
          <a:solidFill>
            <a:srgbClr val="6C5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583680" y="37947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6C5CE7"/>
                </a:solidFill>
                <a:latin typeface="Calibri"/>
              </a:rPr>
              <a:t>📝 Auto Assessment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4206240"/>
            <a:ext cx="2286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2D2D2D"/>
                </a:solidFill>
                <a:latin typeface="Calibri"/>
              </a:rPr>
              <a:t>NLP grading; auto-grade
coding assignments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235440" y="3566160"/>
            <a:ext cx="2651760" cy="1828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9281160" y="3611880"/>
            <a:ext cx="2560320" cy="64008"/>
          </a:xfrm>
          <a:prstGeom prst="rect">
            <a:avLst/>
          </a:prstGeom>
          <a:solidFill>
            <a:srgbClr val="6C5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418320" y="37947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6C5CE7"/>
                </a:solidFill>
                <a:latin typeface="Calibri"/>
              </a:rPr>
              <a:t>📊 Predictive Analytics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18320" y="4206240"/>
            <a:ext cx="2286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2D2D2D"/>
                </a:solidFill>
                <a:latin typeface="Calibri"/>
              </a:rPr>
              <a:t>Forecast student success;
target interventions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4067949"/>
            <a:ext cx="5394960" cy="1188720"/>
          </a:xfrm>
          <a:prstGeom prst="roundRect">
            <a:avLst/>
          </a:prstGeom>
          <a:solidFill>
            <a:srgbClr val="6C5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31520" y="414781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dirty="0">
                <a:solidFill>
                  <a:srgbClr val="FFFFFF"/>
                </a:solidFill>
                <a:latin typeface="Calibri"/>
              </a:rPr>
              <a:t>📌 Real-World Example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4503440"/>
            <a:ext cx="50292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FFFFFF"/>
                </a:solidFill>
                <a:latin typeface="Calibri"/>
              </a:rPr>
              <a:t>Georgia State University's AI chatbot "Pounce" reduced
summer enrollment melt by 21% through proactive engagement.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57200" y="65653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C757D"/>
                </a:solidFill>
                <a:latin typeface="Calibri"/>
              </a:rPr>
              <a:t>NYP Emerging Technologies Proposal  |  Feb 2026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77295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C757D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54864"/>
          </a:xfrm>
          <a:prstGeom prst="rect">
            <a:avLst/>
          </a:prstGeom>
          <a:solidFill>
            <a:srgbClr val="009F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2286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 Light"/>
              </a:rPr>
              <a:t>AI — Impact, ROI &amp; Challenges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4406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dirty="0">
                <a:solidFill>
                  <a:srgbClr val="00A65A"/>
                </a:solidFill>
                <a:latin typeface="Calibri"/>
              </a:rPr>
              <a:t>✅  Benefits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036532"/>
            <a:ext cx="4572000" cy="17953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 dirty="0">
                <a:solidFill>
                  <a:srgbClr val="2D2D2D"/>
                </a:solidFill>
                <a:latin typeface="Calibri"/>
              </a:rPr>
              <a:t>▸  Improve student retention by 10–15%</a:t>
            </a:r>
          </a:p>
          <a:p>
            <a:pPr>
              <a:spcAft>
                <a:spcPts val="800"/>
              </a:spcAft>
            </a:pPr>
            <a:r>
              <a:rPr sz="1400" b="0" dirty="0">
                <a:solidFill>
                  <a:srgbClr val="2D2D2D"/>
                </a:solidFill>
                <a:latin typeface="Calibri"/>
              </a:rPr>
              <a:t>▸  Reduce admin costs by SGD 2–4M/year</a:t>
            </a:r>
          </a:p>
          <a:p>
            <a:pPr>
              <a:spcAft>
                <a:spcPts val="800"/>
              </a:spcAft>
            </a:pPr>
            <a:r>
              <a:rPr sz="1400" b="0" dirty="0">
                <a:solidFill>
                  <a:srgbClr val="2D2D2D"/>
                </a:solidFill>
                <a:latin typeface="Calibri"/>
              </a:rPr>
              <a:t>▸  New C</a:t>
            </a:r>
            <a:r>
              <a:rPr lang="en-US" sz="1400" b="0" dirty="0">
                <a:solidFill>
                  <a:srgbClr val="2D2D2D"/>
                </a:solidFill>
                <a:latin typeface="Calibri"/>
              </a:rPr>
              <a:t>ontinuing Education and Training (CET)</a:t>
            </a:r>
            <a:r>
              <a:rPr sz="1400" b="0" dirty="0">
                <a:solidFill>
                  <a:srgbClr val="2D2D2D"/>
                </a:solidFill>
                <a:latin typeface="Calibri"/>
              </a:rPr>
              <a:t> revenue</a:t>
            </a:r>
            <a:r>
              <a:rPr lang="en-US" sz="1400" dirty="0">
                <a:solidFill>
                  <a:srgbClr val="2D2D2D"/>
                </a:solidFill>
                <a:latin typeface="Calibri"/>
              </a:rPr>
              <a:t>: </a:t>
            </a:r>
            <a:r>
              <a:rPr sz="1400" b="0" dirty="0">
                <a:solidFill>
                  <a:srgbClr val="2D2D2D"/>
                </a:solidFill>
                <a:latin typeface="Calibri"/>
              </a:rPr>
              <a:t>SGD 5–10M/year</a:t>
            </a:r>
          </a:p>
          <a:p>
            <a:pPr>
              <a:spcAft>
                <a:spcPts val="800"/>
              </a:spcAft>
            </a:pPr>
            <a:r>
              <a:rPr sz="1400" b="0" dirty="0">
                <a:solidFill>
                  <a:srgbClr val="2D2D2D"/>
                </a:solidFill>
                <a:latin typeface="Calibri"/>
              </a:rPr>
              <a:t>▸  </a:t>
            </a:r>
            <a:r>
              <a:rPr sz="1400" b="0" dirty="0" err="1">
                <a:solidFill>
                  <a:srgbClr val="2D2D2D"/>
                </a:solidFill>
                <a:latin typeface="Calibri"/>
              </a:rPr>
              <a:t>Personalised</a:t>
            </a:r>
            <a:r>
              <a:rPr sz="1400" b="0" dirty="0">
                <a:solidFill>
                  <a:srgbClr val="2D2D2D"/>
                </a:solidFill>
                <a:latin typeface="Calibri"/>
              </a:rPr>
              <a:t> 24/7 learning &amp; support</a:t>
            </a:r>
          </a:p>
          <a:p>
            <a:pPr>
              <a:spcAft>
                <a:spcPts val="800"/>
              </a:spcAft>
            </a:pPr>
            <a:r>
              <a:rPr sz="1400" b="0" dirty="0">
                <a:solidFill>
                  <a:srgbClr val="2D2D2D"/>
                </a:solidFill>
                <a:latin typeface="Calibri"/>
              </a:rPr>
              <a:t>▸  Enhanced competitive positioning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51288536"/>
              </p:ext>
            </p:extLst>
          </p:nvPr>
        </p:nvGraphicFramePr>
        <p:xfrm>
          <a:off x="6095847" y="1527895"/>
          <a:ext cx="5486400" cy="2926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217920" y="4591135"/>
            <a:ext cx="5425135" cy="738970"/>
          </a:xfrm>
          <a:prstGeom prst="roundRect">
            <a:avLst/>
          </a:prstGeom>
          <a:solidFill>
            <a:srgbClr val="6C5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278727" y="4769429"/>
            <a:ext cx="530352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dirty="0">
                <a:solidFill>
                  <a:srgbClr val="FFFFFF"/>
                </a:solidFill>
                <a:latin typeface="Calibri"/>
              </a:rPr>
              <a:t>Five-year net return: ~SGD 15.6M  |  226% ROI  |  Breakeven: Year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062138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dirty="0">
                <a:solidFill>
                  <a:srgbClr val="E14D4D"/>
                </a:solidFill>
                <a:latin typeface="Calibri"/>
              </a:rPr>
              <a:t>⚠️  Key Challenges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460634"/>
            <a:ext cx="502920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 dirty="0">
                <a:solidFill>
                  <a:srgbClr val="2D2D2D"/>
                </a:solidFill>
                <a:latin typeface="Calibri"/>
              </a:rPr>
              <a:t>▸  Data privacy &amp; PDPA compliance</a:t>
            </a:r>
          </a:p>
          <a:p>
            <a:pPr>
              <a:spcAft>
                <a:spcPts val="800"/>
              </a:spcAft>
            </a:pPr>
            <a:r>
              <a:rPr sz="1400" b="0" dirty="0">
                <a:solidFill>
                  <a:srgbClr val="2D2D2D"/>
                </a:solidFill>
                <a:latin typeface="Calibri"/>
              </a:rPr>
              <a:t>▸  Resistance to change from staff</a:t>
            </a:r>
          </a:p>
          <a:p>
            <a:pPr>
              <a:spcAft>
                <a:spcPts val="800"/>
              </a:spcAft>
            </a:pPr>
            <a:r>
              <a:rPr sz="1400" b="0" dirty="0">
                <a:solidFill>
                  <a:srgbClr val="2D2D2D"/>
                </a:solidFill>
                <a:latin typeface="Calibri"/>
              </a:rPr>
              <a:t>▸  Data quality &amp; governance</a:t>
            </a:r>
          </a:p>
          <a:p>
            <a:pPr>
              <a:spcAft>
                <a:spcPts val="800"/>
              </a:spcAft>
            </a:pPr>
            <a:r>
              <a:rPr sz="1400" b="0" dirty="0">
                <a:solidFill>
                  <a:srgbClr val="2D2D2D"/>
                </a:solidFill>
                <a:latin typeface="Calibri"/>
              </a:rPr>
              <a:t>▸  Integration with existing </a:t>
            </a:r>
            <a:r>
              <a:rPr lang="en-US" sz="1400" b="0" dirty="0">
                <a:solidFill>
                  <a:srgbClr val="2D2D2D"/>
                </a:solidFill>
                <a:latin typeface="Calibri"/>
              </a:rPr>
              <a:t>Learning Management System/Information Technology (LMS/IT)</a:t>
            </a:r>
            <a:endParaRPr sz="1400" b="0" dirty="0">
              <a:solidFill>
                <a:srgbClr val="2D2D2D"/>
              </a:solidFill>
              <a:latin typeface="Calibri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7200" y="65653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C757D"/>
                </a:solidFill>
                <a:latin typeface="Calibri"/>
              </a:rPr>
              <a:t>NYP Emerging Technologies Proposal  |  Feb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77295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C757D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54864"/>
          </a:xfrm>
          <a:prstGeom prst="rect">
            <a:avLst/>
          </a:prstGeom>
          <a:solidFill>
            <a:srgbClr val="009F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220133"/>
            <a:ext cx="11301307" cy="6155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dirty="0">
                <a:solidFill>
                  <a:srgbClr val="FFFFFF"/>
                </a:solidFill>
                <a:latin typeface="Calibri Light"/>
              </a:rPr>
              <a:t>Immersive Media (V</a:t>
            </a:r>
            <a:r>
              <a:rPr lang="en-US" sz="3400" b="1" dirty="0">
                <a:solidFill>
                  <a:srgbClr val="FFFFFF"/>
                </a:solidFill>
                <a:latin typeface="Calibri Light"/>
              </a:rPr>
              <a:t>irtual Reality/Augmented Reality </a:t>
            </a:r>
            <a:r>
              <a:rPr sz="3400" b="1" dirty="0">
                <a:solidFill>
                  <a:srgbClr val="FFFFFF"/>
                </a:solidFill>
                <a:latin typeface="Calibri Light"/>
              </a:rPr>
              <a:t>)</a:t>
            </a:r>
            <a:r>
              <a:rPr lang="en-US" sz="3400" b="1" dirty="0">
                <a:solidFill>
                  <a:srgbClr val="FFFFFF"/>
                </a:solidFill>
                <a:latin typeface="Calibri Light"/>
              </a:rPr>
              <a:t> – AR/VR</a:t>
            </a:r>
            <a:endParaRPr sz="3400" b="1" dirty="0">
              <a:solidFill>
                <a:srgbClr val="FFFFFF"/>
              </a:solidFill>
              <a:latin typeface="Calibri Light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777240" y="785368"/>
            <a:ext cx="9144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dirty="0">
                <a:solidFill>
                  <a:schemeClr val="accent3">
                    <a:lumMod val="60000"/>
                    <a:lumOff val="40000"/>
                  </a:schemeClr>
                </a:solidFill>
                <a:latin typeface="Calibri"/>
              </a:rPr>
              <a:t>Collin</a:t>
            </a:r>
            <a:r>
              <a:rPr lang="en-US" sz="1600" b="0" dirty="0">
                <a:solidFill>
                  <a:schemeClr val="accent3">
                    <a:lumMod val="60000"/>
                    <a:lumOff val="40000"/>
                  </a:schemeClr>
                </a:solidFill>
                <a:latin typeface="Calibri"/>
              </a:rPr>
              <a:t> Koh Soon Ming</a:t>
            </a:r>
            <a:endParaRPr sz="1600" b="0" dirty="0">
              <a:solidFill>
                <a:schemeClr val="accent3">
                  <a:lumMod val="60000"/>
                  <a:lumOff val="40000"/>
                </a:schemeClr>
              </a:solidFill>
              <a:latin typeface="Calibr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dirty="0">
                <a:solidFill>
                  <a:srgbClr val="00B894"/>
                </a:solidFill>
                <a:latin typeface="Calibri"/>
              </a:rPr>
              <a:t>VR/AR Technologies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920240"/>
            <a:ext cx="5303520" cy="15901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 dirty="0">
                <a:solidFill>
                  <a:srgbClr val="2D2D2D"/>
                </a:solidFill>
                <a:latin typeface="Calibri"/>
              </a:rPr>
              <a:t>▸  Virtual Reality (VR) — Fully immersive 3D environments (Meta Quest, HTC </a:t>
            </a:r>
            <a:r>
              <a:rPr sz="1400" b="0" dirty="0" err="1">
                <a:solidFill>
                  <a:srgbClr val="2D2D2D"/>
                </a:solidFill>
                <a:latin typeface="Calibri"/>
              </a:rPr>
              <a:t>Vive</a:t>
            </a:r>
            <a:r>
              <a:rPr sz="1400" b="0" dirty="0">
                <a:solidFill>
                  <a:srgbClr val="2D2D2D"/>
                </a:solidFill>
                <a:latin typeface="Calibri"/>
              </a:rPr>
              <a:t>)</a:t>
            </a:r>
          </a:p>
          <a:p>
            <a:pPr>
              <a:spcAft>
                <a:spcPts val="800"/>
              </a:spcAft>
            </a:pPr>
            <a:r>
              <a:rPr sz="1400" b="0" dirty="0">
                <a:solidFill>
                  <a:srgbClr val="2D2D2D"/>
                </a:solidFill>
                <a:latin typeface="Calibri"/>
              </a:rPr>
              <a:t>▸  Augmented Reality (AR) — Digital overlays on real world (HoloLens, Vision Pro)</a:t>
            </a:r>
          </a:p>
          <a:p>
            <a:pPr>
              <a:spcAft>
                <a:spcPts val="800"/>
              </a:spcAft>
            </a:pPr>
            <a:r>
              <a:rPr sz="1400" b="0" dirty="0">
                <a:solidFill>
                  <a:srgbClr val="2D2D2D"/>
                </a:solidFill>
                <a:latin typeface="Calibri"/>
              </a:rPr>
              <a:t>▸  Mixed Reality (MR) — Blends physical and digital interaction in real time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1463040"/>
            <a:ext cx="2651760" cy="1828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446520" y="1508760"/>
            <a:ext cx="2560320" cy="64008"/>
          </a:xfrm>
          <a:prstGeom prst="rect">
            <a:avLst/>
          </a:prstGeom>
          <a:solidFill>
            <a:srgbClr val="00B8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583680" y="16916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0B894"/>
                </a:solidFill>
                <a:latin typeface="Calibri"/>
              </a:rPr>
              <a:t>🔬 Virtual Labs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2103120"/>
            <a:ext cx="2286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2D2D2D"/>
                </a:solidFill>
                <a:latin typeface="Calibri"/>
              </a:rPr>
              <a:t>Safe, repeatable simulations
for engineering &amp; healthcare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235440" y="1463040"/>
            <a:ext cx="2651760" cy="1828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9281160" y="1508760"/>
            <a:ext cx="2560320" cy="64008"/>
          </a:xfrm>
          <a:prstGeom prst="rect">
            <a:avLst/>
          </a:prstGeom>
          <a:solidFill>
            <a:srgbClr val="00B8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418320" y="16916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0B894"/>
                </a:solidFill>
                <a:latin typeface="Calibri"/>
              </a:rPr>
              <a:t>🌐 Immersive Learning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18320" y="2103120"/>
            <a:ext cx="2286000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2D2D2D"/>
                </a:solidFill>
                <a:latin typeface="Calibri"/>
              </a:rPr>
              <a:t>3D overlays of anatomy,
architecture, machines via AR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0" y="3566160"/>
            <a:ext cx="2651760" cy="1828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446520" y="3611880"/>
            <a:ext cx="2560320" cy="64008"/>
          </a:xfrm>
          <a:prstGeom prst="rect">
            <a:avLst/>
          </a:prstGeom>
          <a:solidFill>
            <a:srgbClr val="00B8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583680" y="37947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0B894"/>
                </a:solidFill>
                <a:latin typeface="Calibri"/>
              </a:rPr>
              <a:t>🏫 Virtual Campus Tours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4227257"/>
            <a:ext cx="246888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2D2D2D"/>
                </a:solidFill>
                <a:latin typeface="Calibri"/>
              </a:rPr>
              <a:t>Attract international students
with 360° experiences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235440" y="3566160"/>
            <a:ext cx="2651760" cy="1828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9281160" y="3611880"/>
            <a:ext cx="2560320" cy="64008"/>
          </a:xfrm>
          <a:prstGeom prst="rect">
            <a:avLst/>
          </a:prstGeom>
          <a:solidFill>
            <a:srgbClr val="00B8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418320" y="37947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0B894"/>
                </a:solidFill>
                <a:latin typeface="Calibri"/>
              </a:rPr>
              <a:t>🏭 Industry Training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92615" y="4206240"/>
            <a:ext cx="2286000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2D2D2D"/>
                </a:solidFill>
                <a:latin typeface="Calibri"/>
              </a:rPr>
              <a:t>Aviation, construction, hospitality
VR simulations for C</a:t>
            </a:r>
            <a:r>
              <a:rPr lang="en-US" sz="1400" b="0" dirty="0">
                <a:solidFill>
                  <a:srgbClr val="2D2D2D"/>
                </a:solidFill>
                <a:latin typeface="Calibri"/>
              </a:rPr>
              <a:t>ontinuing Education and Training (CET)</a:t>
            </a:r>
            <a:endParaRPr sz="1400" b="0" dirty="0">
              <a:solidFill>
                <a:srgbClr val="2D2D2D"/>
              </a:solidFill>
              <a:latin typeface="Calibri"/>
            </a:endParaRPr>
          </a:p>
        </p:txBody>
      </p:sp>
      <p:sp>
        <p:nvSpPr>
          <p:cNvPr id="24" name="Rounded Rectangle 23"/>
          <p:cNvSpPr/>
          <p:nvPr/>
        </p:nvSpPr>
        <p:spPr>
          <a:xfrm>
            <a:off x="594360" y="3683677"/>
            <a:ext cx="5394960" cy="822960"/>
          </a:xfrm>
          <a:prstGeom prst="roundRect">
            <a:avLst/>
          </a:prstGeom>
          <a:solidFill>
            <a:srgbClr val="00B8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 dirty="0"/>
          </a:p>
        </p:txBody>
      </p:sp>
      <p:sp>
        <p:nvSpPr>
          <p:cNvPr id="25" name="TextBox 24"/>
          <p:cNvSpPr txBox="1"/>
          <p:nvPr/>
        </p:nvSpPr>
        <p:spPr>
          <a:xfrm>
            <a:off x="777240" y="3814960"/>
            <a:ext cx="50292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dirty="0">
                <a:solidFill>
                  <a:srgbClr val="FFFFFF"/>
                </a:solidFill>
                <a:latin typeface="Calibri"/>
              </a:rPr>
              <a:t>📈  VR/AR training improves knowledge retention by 75%
     compared to traditional methods (PwC, 2022)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94360" y="4709160"/>
            <a:ext cx="5394960" cy="10972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640080" y="4757251"/>
            <a:ext cx="5303520" cy="54864"/>
          </a:xfrm>
          <a:prstGeom prst="rect">
            <a:avLst/>
          </a:prstGeom>
          <a:solidFill>
            <a:srgbClr val="00B8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77240" y="4870366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dirty="0">
                <a:solidFill>
                  <a:srgbClr val="00B894"/>
                </a:solidFill>
                <a:latin typeface="Calibri"/>
              </a:rPr>
              <a:t>📌 Real-World Example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5151797"/>
            <a:ext cx="50292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 err="1">
                <a:solidFill>
                  <a:srgbClr val="2D2D2D"/>
                </a:solidFill>
                <a:latin typeface="Calibri"/>
              </a:rPr>
              <a:t>Labster</a:t>
            </a:r>
            <a:r>
              <a:rPr sz="1400" b="0" dirty="0">
                <a:solidFill>
                  <a:srgbClr val="2D2D2D"/>
                </a:solidFill>
                <a:latin typeface="Calibri"/>
              </a:rPr>
              <a:t>: 3,000+ institutions, 200+ virtual lab experiments.
Microsoft HoloLens: 3D holographic anatomy in medical schools.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57200" y="65653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C757D"/>
                </a:solidFill>
                <a:latin typeface="Calibri"/>
              </a:rPr>
              <a:t>NYP Emerging Technologies Proposal  |  Feb 2026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277295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C757D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54864"/>
          </a:xfrm>
          <a:prstGeom prst="rect">
            <a:avLst/>
          </a:prstGeom>
          <a:solidFill>
            <a:srgbClr val="009F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2286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 Light"/>
              </a:rPr>
              <a:t>VR/AR — Impact, ROI &amp; Challenges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dirty="0">
                <a:solidFill>
                  <a:srgbClr val="00A65A"/>
                </a:solidFill>
                <a:latin typeface="Calibri"/>
              </a:rPr>
              <a:t>✅  Benefits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009987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dirty="0">
                <a:solidFill>
                  <a:srgbClr val="2D2D2D"/>
                </a:solidFill>
                <a:latin typeface="Calibri"/>
              </a:rPr>
              <a:t>▸  Expand practical training beyond physical lab limits</a:t>
            </a:r>
          </a:p>
          <a:p>
            <a:pPr>
              <a:spcAft>
                <a:spcPts val="800"/>
              </a:spcAft>
            </a:pPr>
            <a:r>
              <a:rPr sz="1500" b="0" dirty="0">
                <a:solidFill>
                  <a:srgbClr val="2D2D2D"/>
                </a:solidFill>
                <a:latin typeface="Calibri"/>
              </a:rPr>
              <a:t>▸  Reduce equipment maintenance costs by 15–25%</a:t>
            </a:r>
          </a:p>
          <a:p>
            <a:pPr>
              <a:spcAft>
                <a:spcPts val="800"/>
              </a:spcAft>
            </a:pPr>
            <a:r>
              <a:rPr sz="1500" b="0" dirty="0">
                <a:solidFill>
                  <a:srgbClr val="2D2D2D"/>
                </a:solidFill>
                <a:latin typeface="Calibri"/>
              </a:rPr>
              <a:t>▸  75% better knowledge retention vs. traditional methods</a:t>
            </a:r>
          </a:p>
          <a:p>
            <a:pPr>
              <a:spcAft>
                <a:spcPts val="800"/>
              </a:spcAft>
            </a:pPr>
            <a:r>
              <a:rPr sz="1500" b="0" dirty="0">
                <a:solidFill>
                  <a:srgbClr val="2D2D2D"/>
                </a:solidFill>
                <a:latin typeface="Calibri"/>
              </a:rPr>
              <a:t>▸  B2B licensing revenue: SGD 2–5M/year</a:t>
            </a:r>
          </a:p>
          <a:p>
            <a:pPr>
              <a:spcAft>
                <a:spcPts val="800"/>
              </a:spcAft>
            </a:pPr>
            <a:r>
              <a:rPr sz="1500" b="0" dirty="0">
                <a:solidFill>
                  <a:srgbClr val="2D2D2D"/>
                </a:solidFill>
                <a:latin typeface="Calibri"/>
              </a:rPr>
              <a:t>▸  Enhanced student recruitment via virtual tours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89280403"/>
              </p:ext>
            </p:extLst>
          </p:nvPr>
        </p:nvGraphicFramePr>
        <p:xfrm>
          <a:off x="6217920" y="1463040"/>
          <a:ext cx="5486400" cy="2926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217920" y="4572000"/>
            <a:ext cx="5486400" cy="1005840"/>
          </a:xfrm>
          <a:prstGeom prst="roundRect">
            <a:avLst/>
          </a:prstGeom>
          <a:solidFill>
            <a:srgbClr val="00B8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00800" y="4754880"/>
            <a:ext cx="512064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dirty="0">
                <a:solidFill>
                  <a:srgbClr val="FFFFFF"/>
                </a:solidFill>
                <a:latin typeface="Calibri"/>
              </a:rPr>
              <a:t>Five-year net return: ~SGD 10.3M  |  198% ROI  |  </a:t>
            </a:r>
            <a:r>
              <a:rPr sz="1400" b="1" dirty="0">
                <a:solidFill>
                  <a:srgbClr val="FFFFFF"/>
                </a:solidFill>
                <a:latin typeface="Calibri"/>
              </a:rPr>
              <a:t>Breakeven</a:t>
            </a:r>
            <a:r>
              <a:rPr sz="1600" b="1" dirty="0">
                <a:solidFill>
                  <a:srgbClr val="FFFFFF"/>
                </a:solidFill>
                <a:latin typeface="Calibri"/>
              </a:rPr>
              <a:t>: Year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019974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dirty="0">
                <a:solidFill>
                  <a:srgbClr val="E14D4D"/>
                </a:solidFill>
                <a:latin typeface="Calibri"/>
              </a:rPr>
              <a:t>⚠️  Key Challenges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472263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 dirty="0">
                <a:solidFill>
                  <a:srgbClr val="2D2D2D"/>
                </a:solidFill>
                <a:latin typeface="Calibri"/>
              </a:rPr>
              <a:t>▸  High initial HW/content investment</a:t>
            </a:r>
          </a:p>
          <a:p>
            <a:pPr>
              <a:spcAft>
                <a:spcPts val="800"/>
              </a:spcAft>
            </a:pPr>
            <a:r>
              <a:rPr sz="1400" b="0" dirty="0">
                <a:solidFill>
                  <a:srgbClr val="2D2D2D"/>
                </a:solidFill>
                <a:latin typeface="Calibri"/>
              </a:rPr>
              <a:t>▸  </a:t>
            </a:r>
            <a:r>
              <a:rPr sz="1400" b="0" dirty="0" err="1">
                <a:solidFill>
                  <a:srgbClr val="2D2D2D"/>
                </a:solidFill>
                <a:latin typeface="Calibri"/>
              </a:rPr>
              <a:t>Specialised</a:t>
            </a:r>
            <a:r>
              <a:rPr sz="1400" b="0" dirty="0">
                <a:solidFill>
                  <a:srgbClr val="2D2D2D"/>
                </a:solidFill>
                <a:latin typeface="Calibri"/>
              </a:rPr>
              <a:t> content development skills needed</a:t>
            </a:r>
          </a:p>
          <a:p>
            <a:pPr>
              <a:spcAft>
                <a:spcPts val="800"/>
              </a:spcAft>
            </a:pPr>
            <a:r>
              <a:rPr sz="1400" b="0" dirty="0">
                <a:solidFill>
                  <a:srgbClr val="2D2D2D"/>
                </a:solidFill>
                <a:latin typeface="Calibri"/>
              </a:rPr>
              <a:t>▸  Motion sickness &amp; accessibility concerns</a:t>
            </a:r>
          </a:p>
          <a:p>
            <a:pPr>
              <a:spcAft>
                <a:spcPts val="800"/>
              </a:spcAft>
            </a:pPr>
            <a:r>
              <a:rPr sz="1400" b="0" dirty="0">
                <a:solidFill>
                  <a:srgbClr val="2D2D2D"/>
                </a:solidFill>
                <a:latin typeface="Calibri"/>
              </a:rPr>
              <a:t>▸  Hardware refresh every 2–3 years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7200" y="65653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C757D"/>
                </a:solidFill>
                <a:latin typeface="Calibri"/>
              </a:rPr>
              <a:t>NYP Emerging Technologies Proposal  |  Feb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77295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C757D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54864"/>
          </a:xfrm>
          <a:prstGeom prst="rect">
            <a:avLst/>
          </a:prstGeom>
          <a:solidFill>
            <a:srgbClr val="009F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2286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 Light"/>
              </a:rPr>
              <a:t>5G &amp; Edge Computing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77240"/>
            <a:ext cx="9144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600" b="0" dirty="0" err="1">
                <a:solidFill>
                  <a:schemeClr val="accent3">
                    <a:lumMod val="60000"/>
                    <a:lumOff val="40000"/>
                  </a:schemeClr>
                </a:solidFill>
                <a:latin typeface="Calibri"/>
              </a:rPr>
              <a:t>Shint</a:t>
            </a:r>
            <a:r>
              <a:rPr lang="en-US" sz="1600" b="0" dirty="0">
                <a:solidFill>
                  <a:schemeClr val="accent3">
                    <a:lumMod val="60000"/>
                    <a:lumOff val="40000"/>
                  </a:schemeClr>
                </a:solidFill>
                <a:latin typeface="Calibri"/>
              </a:rPr>
              <a:t> Thant Aung Alex </a:t>
            </a:r>
            <a:endParaRPr sz="1600" b="0" dirty="0">
              <a:solidFill>
                <a:schemeClr val="accent3">
                  <a:lumMod val="60000"/>
                  <a:lumOff val="40000"/>
                </a:schemeClr>
              </a:solidFill>
              <a:latin typeface="Calibr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D7936"/>
                </a:solidFill>
                <a:latin typeface="Calibri"/>
              </a:rPr>
              <a:t>5G Capabilities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920240"/>
            <a:ext cx="1783080" cy="1645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85800" y="1965960"/>
            <a:ext cx="1691640" cy="64008"/>
          </a:xfrm>
          <a:prstGeom prst="rect">
            <a:avLst/>
          </a:prstGeom>
          <a:solidFill>
            <a:srgbClr val="FD79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31520" y="2148840"/>
            <a:ext cx="1600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D7936"/>
                </a:solidFill>
                <a:latin typeface="Calibri"/>
              </a:rPr>
              <a:t>⚡ 20 Gbps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560320"/>
            <a:ext cx="1600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dirty="0">
                <a:solidFill>
                  <a:srgbClr val="2D2D2D"/>
                </a:solidFill>
                <a:latin typeface="Calibri"/>
              </a:rPr>
              <a:t>Ultra-high speed
(20× faster than 4G)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560320" y="1920240"/>
            <a:ext cx="1783080" cy="1645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2606040" y="1965960"/>
            <a:ext cx="1691640" cy="64008"/>
          </a:xfrm>
          <a:prstGeom prst="rect">
            <a:avLst/>
          </a:prstGeom>
          <a:solidFill>
            <a:srgbClr val="FD79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651760" y="2148840"/>
            <a:ext cx="1600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D7936"/>
                </a:solidFill>
                <a:latin typeface="Calibri"/>
              </a:rPr>
              <a:t>⏱️ 1 ms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51760" y="2560320"/>
            <a:ext cx="1600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dirty="0">
                <a:solidFill>
                  <a:srgbClr val="2D2D2D"/>
                </a:solidFill>
                <a:latin typeface="Calibri"/>
              </a:rPr>
              <a:t>Ultra-low latency
(vs 30–50ms for 4G)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80560" y="1920240"/>
            <a:ext cx="1828800" cy="1645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526280" y="1965960"/>
            <a:ext cx="1691640" cy="64008"/>
          </a:xfrm>
          <a:prstGeom prst="rect">
            <a:avLst/>
          </a:prstGeom>
          <a:solidFill>
            <a:srgbClr val="FD79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295987" y="2172700"/>
            <a:ext cx="215053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dirty="0">
                <a:solidFill>
                  <a:srgbClr val="FD7936"/>
                </a:solidFill>
                <a:latin typeface="Calibri"/>
              </a:rPr>
              <a:t>📱 1M devices/km²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55067" y="2560320"/>
            <a:ext cx="1600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dirty="0">
                <a:solidFill>
                  <a:srgbClr val="2D2D2D"/>
                </a:solidFill>
                <a:latin typeface="Calibri"/>
              </a:rPr>
              <a:t>Massive connectivity
&amp; network slicing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0" y="1463040"/>
            <a:ext cx="2651760" cy="1828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446520" y="1508760"/>
            <a:ext cx="2560320" cy="64008"/>
          </a:xfrm>
          <a:prstGeom prst="rect">
            <a:avLst/>
          </a:prstGeom>
          <a:solidFill>
            <a:srgbClr val="FD79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583680" y="16916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D7936"/>
                </a:solidFill>
                <a:latin typeface="Calibri"/>
              </a:rPr>
              <a:t>🏢 Smart Campus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0" y="2103120"/>
            <a:ext cx="2286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2D2D2D"/>
                </a:solidFill>
                <a:latin typeface="Calibri"/>
              </a:rPr>
              <a:t>IoT sensors, smart energy,
parking &amp; navigation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235440" y="1463040"/>
            <a:ext cx="2651760" cy="1828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9281160" y="1508760"/>
            <a:ext cx="2560320" cy="64008"/>
          </a:xfrm>
          <a:prstGeom prst="rect">
            <a:avLst/>
          </a:prstGeom>
          <a:solidFill>
            <a:srgbClr val="FD79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418320" y="16916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D7936"/>
                </a:solidFill>
                <a:latin typeface="Calibri"/>
              </a:rPr>
              <a:t>📺 Hybrid Learning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18320" y="2103120"/>
            <a:ext cx="2286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2D2D2D"/>
                </a:solidFill>
                <a:latin typeface="Calibri"/>
              </a:rPr>
              <a:t>4K/8K streaming, real-time
collaboration, remote labs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00800" y="3566160"/>
            <a:ext cx="2651760" cy="1828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6446520" y="3611880"/>
            <a:ext cx="2560320" cy="64008"/>
          </a:xfrm>
          <a:prstGeom prst="rect">
            <a:avLst/>
          </a:prstGeom>
          <a:solidFill>
            <a:srgbClr val="FD79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583680" y="37947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D7936"/>
                </a:solidFill>
                <a:latin typeface="Calibri"/>
              </a:rPr>
              <a:t>🔌 VR/AR &amp; AI Enabler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0" y="4206240"/>
            <a:ext cx="2286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2D2D2D"/>
                </a:solidFill>
                <a:latin typeface="Calibri"/>
              </a:rPr>
              <a:t>High-bandwidth backbone
for immersive workloads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235440" y="3566160"/>
            <a:ext cx="2651760" cy="1828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9281160" y="3611880"/>
            <a:ext cx="2560320" cy="64008"/>
          </a:xfrm>
          <a:prstGeom prst="rect">
            <a:avLst/>
          </a:prstGeom>
          <a:solidFill>
            <a:srgbClr val="FD79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9418320" y="37947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D7936"/>
                </a:solidFill>
                <a:latin typeface="Calibri"/>
              </a:rPr>
              <a:t>🔒 Campus Security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418320" y="4206240"/>
            <a:ext cx="2286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2D2D2D"/>
                </a:solidFill>
                <a:latin typeface="Calibri"/>
              </a:rPr>
              <a:t>AI surveillance, access
control, emergency alerts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48640" y="3840480"/>
            <a:ext cx="5394960" cy="1097280"/>
          </a:xfrm>
          <a:prstGeom prst="roundRect">
            <a:avLst/>
          </a:prstGeom>
          <a:solidFill>
            <a:srgbClr val="FD79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731520" y="393192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dirty="0">
                <a:solidFill>
                  <a:srgbClr val="FFFFFF"/>
                </a:solidFill>
                <a:latin typeface="Calibri"/>
              </a:rPr>
              <a:t>Edge Computing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1520" y="4251960"/>
            <a:ext cx="50292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FFFFFF"/>
                </a:solidFill>
                <a:latin typeface="Calibri"/>
              </a:rPr>
              <a:t>Brings computation closer to data sources. Reduces latency,
improves response times, and supports real-time AI &amp; VR apps.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48640" y="5120640"/>
            <a:ext cx="5394960" cy="6400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594360" y="5166360"/>
            <a:ext cx="5303520" cy="54864"/>
          </a:xfrm>
          <a:prstGeom prst="rect">
            <a:avLst/>
          </a:prstGeom>
          <a:solidFill>
            <a:srgbClr val="FD79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731520" y="5257800"/>
            <a:ext cx="50292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dirty="0">
                <a:solidFill>
                  <a:srgbClr val="2D2D2D"/>
                </a:solidFill>
                <a:latin typeface="Calibri"/>
              </a:rPr>
              <a:t>📌 NUS achieved 15% energy savings via smart building IoT + edge computing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457200" y="65653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C757D"/>
                </a:solidFill>
                <a:latin typeface="Calibri"/>
              </a:rPr>
              <a:t>NYP Emerging Technologies Proposal  |  Feb 2026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277295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C757D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54864"/>
          </a:xfrm>
          <a:prstGeom prst="rect">
            <a:avLst/>
          </a:prstGeom>
          <a:solidFill>
            <a:srgbClr val="009F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2286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 Light"/>
              </a:rPr>
              <a:t>5G &amp; Edge Computing — Impact, ROI &amp; Challenges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32467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dirty="0">
                <a:solidFill>
                  <a:srgbClr val="00A65A"/>
                </a:solidFill>
                <a:latin typeface="Calibri"/>
              </a:rPr>
              <a:t>✅  Benefits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004907"/>
            <a:ext cx="5029200" cy="1579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 dirty="0">
                <a:solidFill>
                  <a:srgbClr val="2D2D2D"/>
                </a:solidFill>
                <a:latin typeface="Calibri"/>
              </a:rPr>
              <a:t>▸  </a:t>
            </a:r>
            <a:r>
              <a:rPr sz="1400" b="0" dirty="0" err="1">
                <a:solidFill>
                  <a:srgbClr val="2D2D2D"/>
                </a:solidFill>
                <a:latin typeface="Calibri"/>
              </a:rPr>
              <a:t>Modernised</a:t>
            </a:r>
            <a:r>
              <a:rPr sz="1400" b="0" dirty="0">
                <a:solidFill>
                  <a:srgbClr val="2D2D2D"/>
                </a:solidFill>
                <a:latin typeface="Calibri"/>
              </a:rPr>
              <a:t> campus infrastructure for next-gen apps</a:t>
            </a:r>
          </a:p>
          <a:p>
            <a:pPr>
              <a:spcAft>
                <a:spcPts val="800"/>
              </a:spcAft>
            </a:pPr>
            <a:r>
              <a:rPr sz="1400" b="0" dirty="0">
                <a:solidFill>
                  <a:srgbClr val="2D2D2D"/>
                </a:solidFill>
                <a:latin typeface="Calibri"/>
              </a:rPr>
              <a:t>▸  10–15% energy cost savings via smart building management</a:t>
            </a:r>
          </a:p>
          <a:p>
            <a:pPr>
              <a:spcAft>
                <a:spcPts val="800"/>
              </a:spcAft>
            </a:pPr>
            <a:r>
              <a:rPr sz="1400" b="0" dirty="0">
                <a:solidFill>
                  <a:srgbClr val="2D2D2D"/>
                </a:solidFill>
                <a:latin typeface="Calibri"/>
              </a:rPr>
              <a:t>▸  Foundation for VR/AR, AI, and IoT initiatives</a:t>
            </a:r>
          </a:p>
          <a:p>
            <a:pPr>
              <a:spcAft>
                <a:spcPts val="800"/>
              </a:spcAft>
            </a:pPr>
            <a:r>
              <a:rPr sz="1400" b="0" dirty="0">
                <a:solidFill>
                  <a:srgbClr val="2D2D2D"/>
                </a:solidFill>
                <a:latin typeface="Calibri"/>
              </a:rPr>
              <a:t>▸  Improved campus safety &amp; security</a:t>
            </a:r>
          </a:p>
          <a:p>
            <a:pPr>
              <a:spcAft>
                <a:spcPts val="800"/>
              </a:spcAft>
            </a:pPr>
            <a:r>
              <a:rPr sz="1400" b="0" dirty="0">
                <a:solidFill>
                  <a:srgbClr val="2D2D2D"/>
                </a:solidFill>
                <a:latin typeface="Calibri"/>
              </a:rPr>
              <a:t>▸  Students gain hands-on 5G experience (employability)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88077692"/>
              </p:ext>
            </p:extLst>
          </p:nvPr>
        </p:nvGraphicFramePr>
        <p:xfrm>
          <a:off x="6217920" y="1463040"/>
          <a:ext cx="5486400" cy="2926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217920" y="4562856"/>
            <a:ext cx="5486400" cy="1005840"/>
          </a:xfrm>
          <a:prstGeom prst="roundRect">
            <a:avLst/>
          </a:prstGeom>
          <a:solidFill>
            <a:srgbClr val="FD79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9" name="TextBox 8"/>
          <p:cNvSpPr txBox="1"/>
          <p:nvPr/>
        </p:nvSpPr>
        <p:spPr>
          <a:xfrm>
            <a:off x="6344920" y="4724876"/>
            <a:ext cx="5232400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dirty="0">
                <a:solidFill>
                  <a:srgbClr val="FFFFFF"/>
                </a:solidFill>
                <a:latin typeface="Calibri"/>
              </a:rPr>
              <a:t>Five-year net return: ~SGD 4.8M  |  67% ROI  |  Breakeven: Year 3–4
Infrastructure investment enables &amp; accelerates ROI of other three technologies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951583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dirty="0">
                <a:solidFill>
                  <a:srgbClr val="E14D4D"/>
                </a:solidFill>
                <a:latin typeface="Calibri"/>
              </a:rPr>
              <a:t>⚠️  Key Challenges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38912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 dirty="0">
                <a:solidFill>
                  <a:srgbClr val="2D2D2D"/>
                </a:solidFill>
                <a:latin typeface="Calibri"/>
              </a:rPr>
              <a:t>▸  High infrastructure costs; partner with telcos</a:t>
            </a:r>
          </a:p>
          <a:p>
            <a:pPr>
              <a:spcAft>
                <a:spcPts val="800"/>
              </a:spcAft>
            </a:pPr>
            <a:r>
              <a:rPr sz="1400" b="0" dirty="0">
                <a:solidFill>
                  <a:srgbClr val="2D2D2D"/>
                </a:solidFill>
                <a:latin typeface="Calibri"/>
              </a:rPr>
              <a:t>▸  Spectrum allocation (IMDA regulatory approval)</a:t>
            </a:r>
          </a:p>
          <a:p>
            <a:pPr>
              <a:spcAft>
                <a:spcPts val="800"/>
              </a:spcAft>
            </a:pPr>
            <a:r>
              <a:rPr sz="1400" b="0" dirty="0">
                <a:solidFill>
                  <a:srgbClr val="2D2D2D"/>
                </a:solidFill>
                <a:latin typeface="Calibri"/>
              </a:rPr>
              <a:t>▸  Cybersecurity risks with massive device connectivity</a:t>
            </a:r>
          </a:p>
          <a:p>
            <a:pPr>
              <a:spcAft>
                <a:spcPts val="800"/>
              </a:spcAft>
            </a:pPr>
            <a:r>
              <a:rPr sz="1400" b="0" dirty="0">
                <a:solidFill>
                  <a:srgbClr val="2D2D2D"/>
                </a:solidFill>
                <a:latin typeface="Calibri"/>
              </a:rPr>
              <a:t>▸  </a:t>
            </a:r>
            <a:r>
              <a:rPr sz="1400" b="0" dirty="0" err="1">
                <a:solidFill>
                  <a:srgbClr val="2D2D2D"/>
                </a:solidFill>
                <a:latin typeface="Calibri"/>
              </a:rPr>
              <a:t>Specialised</a:t>
            </a:r>
            <a:r>
              <a:rPr sz="1400" b="0" dirty="0">
                <a:solidFill>
                  <a:srgbClr val="2D2D2D"/>
                </a:solidFill>
                <a:latin typeface="Calibri"/>
              </a:rPr>
              <a:t> technical expertise required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7200" y="65653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C757D"/>
                </a:solidFill>
                <a:latin typeface="Calibri"/>
              </a:rPr>
              <a:t>NYP Emerging Technologies Proposal  |  Feb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77295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C757D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54864"/>
          </a:xfrm>
          <a:prstGeom prst="rect">
            <a:avLst/>
          </a:prstGeom>
          <a:solidFill>
            <a:srgbClr val="009F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2286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 Light"/>
              </a:rPr>
              <a:t>Blockchain Certificate Verification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77240"/>
            <a:ext cx="9144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dirty="0">
                <a:solidFill>
                  <a:schemeClr val="accent3">
                    <a:lumMod val="60000"/>
                    <a:lumOff val="40000"/>
                  </a:schemeClr>
                </a:solidFill>
                <a:latin typeface="Calibri"/>
              </a:rPr>
              <a:t>Declan</a:t>
            </a:r>
            <a:r>
              <a:rPr lang="en-US" sz="1600" b="0" dirty="0">
                <a:solidFill>
                  <a:schemeClr val="accent3">
                    <a:lumMod val="60000"/>
                    <a:lumOff val="40000"/>
                  </a:schemeClr>
                </a:solidFill>
                <a:latin typeface="Calibri"/>
              </a:rPr>
              <a:t> Chua Yuan Lok</a:t>
            </a:r>
            <a:endParaRPr sz="1600" b="0" dirty="0">
              <a:solidFill>
                <a:schemeClr val="accent3">
                  <a:lumMod val="60000"/>
                  <a:lumOff val="40000"/>
                </a:schemeClr>
              </a:solidFill>
              <a:latin typeface="Calibr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CCD3"/>
                </a:solidFill>
                <a:latin typeface="Calibri"/>
              </a:rPr>
              <a:t>How Blockchain Works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920240"/>
            <a:ext cx="53035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 dirty="0">
                <a:solidFill>
                  <a:srgbClr val="2D2D2D"/>
                </a:solidFill>
                <a:latin typeface="Calibri"/>
              </a:rPr>
              <a:t>▸  </a:t>
            </a:r>
            <a:r>
              <a:rPr sz="1400" b="0" dirty="0" err="1">
                <a:solidFill>
                  <a:srgbClr val="2D2D2D"/>
                </a:solidFill>
                <a:latin typeface="Calibri"/>
              </a:rPr>
              <a:t>Decentralised</a:t>
            </a:r>
            <a:r>
              <a:rPr sz="1400" b="0" dirty="0">
                <a:solidFill>
                  <a:srgbClr val="2D2D2D"/>
                </a:solidFill>
                <a:latin typeface="Calibri"/>
              </a:rPr>
              <a:t> ledger across network of nodes</a:t>
            </a:r>
          </a:p>
          <a:p>
            <a:pPr>
              <a:spcAft>
                <a:spcPts val="800"/>
              </a:spcAft>
            </a:pPr>
            <a:r>
              <a:rPr sz="1400" b="0" dirty="0">
                <a:solidFill>
                  <a:srgbClr val="2D2D2D"/>
                </a:solidFill>
                <a:latin typeface="Calibri"/>
              </a:rPr>
              <a:t>▸  Each block contains transactions + hash of previous block</a:t>
            </a:r>
          </a:p>
          <a:p>
            <a:pPr>
              <a:spcAft>
                <a:spcPts val="800"/>
              </a:spcAft>
            </a:pPr>
            <a:r>
              <a:rPr sz="1400" b="0" dirty="0">
                <a:solidFill>
                  <a:srgbClr val="2D2D2D"/>
                </a:solidFill>
                <a:latin typeface="Calibri"/>
              </a:rPr>
              <a:t>▸  Consensus required to add blocks (tamper-proof)</a:t>
            </a:r>
          </a:p>
          <a:p>
            <a:pPr>
              <a:spcAft>
                <a:spcPts val="800"/>
              </a:spcAft>
            </a:pPr>
            <a:r>
              <a:rPr sz="1400" b="0" dirty="0">
                <a:solidFill>
                  <a:srgbClr val="2D2D2D"/>
                </a:solidFill>
                <a:latin typeface="Calibri"/>
              </a:rPr>
              <a:t>▸  Once added, blocks cannot be modified or removed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1463040"/>
            <a:ext cx="2651760" cy="1828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446520" y="1508760"/>
            <a:ext cx="2560320" cy="64008"/>
          </a:xfrm>
          <a:prstGeom prst="rect">
            <a:avLst/>
          </a:prstGeom>
          <a:solidFill>
            <a:srgbClr val="00CC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583680" y="16916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0CCD3"/>
                </a:solidFill>
                <a:latin typeface="Calibri"/>
              </a:rPr>
              <a:t>📜 Digital Diplomas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2103120"/>
            <a:ext cx="2286000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2D2D2D"/>
                </a:solidFill>
                <a:latin typeface="Calibri"/>
              </a:rPr>
              <a:t>Cryptographically signed on
blockchain; instant verification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235440" y="1463040"/>
            <a:ext cx="2651760" cy="1828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9281160" y="1508760"/>
            <a:ext cx="2560320" cy="64008"/>
          </a:xfrm>
          <a:prstGeom prst="rect">
            <a:avLst/>
          </a:prstGeom>
          <a:solidFill>
            <a:srgbClr val="00CC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418320" y="16916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0CCD3"/>
                </a:solidFill>
                <a:latin typeface="Calibri"/>
              </a:rPr>
              <a:t>🏅 Micro-Credentials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18320" y="2103120"/>
            <a:ext cx="2286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2D2D2D"/>
                </a:solidFill>
                <a:latin typeface="Calibri"/>
              </a:rPr>
              <a:t>Stackable skill badges on
LinkedIn (Python, Data, etc.)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0" y="3566160"/>
            <a:ext cx="2651760" cy="1828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446520" y="3611880"/>
            <a:ext cx="2560320" cy="64008"/>
          </a:xfrm>
          <a:prstGeom prst="rect">
            <a:avLst/>
          </a:prstGeom>
          <a:solidFill>
            <a:srgbClr val="00CC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583680" y="37947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0CCD3"/>
                </a:solidFill>
                <a:latin typeface="Calibri"/>
              </a:rPr>
              <a:t>⚡ Fast Verification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4206240"/>
            <a:ext cx="2286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2D2D2D"/>
                </a:solidFill>
                <a:latin typeface="Calibri"/>
              </a:rPr>
              <a:t>Seconds vs. 3–10 days;
zero manual processing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235440" y="3566160"/>
            <a:ext cx="2651760" cy="1828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9281160" y="3611880"/>
            <a:ext cx="2560320" cy="64008"/>
          </a:xfrm>
          <a:prstGeom prst="rect">
            <a:avLst/>
          </a:prstGeom>
          <a:solidFill>
            <a:srgbClr val="00CC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418320" y="37947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0CCD3"/>
                </a:solidFill>
                <a:latin typeface="Calibri"/>
              </a:rPr>
              <a:t>📋 Academic Records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18320" y="4206240"/>
            <a:ext cx="2286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2D2D2D"/>
                </a:solidFill>
                <a:latin typeface="Calibri"/>
              </a:rPr>
              <a:t>Tamper-proof transcripts;
cross-institution transfers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3517428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dirty="0">
                <a:solidFill>
                  <a:srgbClr val="002B5C"/>
                </a:solidFill>
                <a:latin typeface="Calibri"/>
              </a:rPr>
              <a:t>Before vs After: Verification Process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62940" y="4002384"/>
            <a:ext cx="2537460" cy="1555437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754380" y="4050792"/>
            <a:ext cx="2354580" cy="54864"/>
          </a:xfrm>
          <a:prstGeom prst="rect">
            <a:avLst/>
          </a:prstGeom>
          <a:solidFill>
            <a:srgbClr val="E1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60120" y="4172783"/>
            <a:ext cx="21945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dirty="0">
                <a:solidFill>
                  <a:srgbClr val="E14D4D"/>
                </a:solidFill>
                <a:latin typeface="Calibri"/>
              </a:rPr>
              <a:t>❌ Before (Manual)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4381" y="4552286"/>
            <a:ext cx="2468879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2D2D2D"/>
                </a:solidFill>
                <a:latin typeface="Calibri"/>
              </a:rPr>
              <a:t>Email request → Admin</a:t>
            </a:r>
            <a:r>
              <a:rPr lang="en-US" sz="1400" b="0" dirty="0">
                <a:solidFill>
                  <a:srgbClr val="2D2D2D"/>
                </a:solidFill>
                <a:latin typeface="Calibri"/>
              </a:rPr>
              <a:t>istrator</a:t>
            </a:r>
            <a:r>
              <a:rPr sz="1400" b="0" dirty="0">
                <a:solidFill>
                  <a:srgbClr val="2D2D2D"/>
                </a:solidFill>
                <a:latin typeface="Calibri"/>
              </a:rPr>
              <a:t> check</a:t>
            </a:r>
            <a:r>
              <a:rPr lang="en-US" sz="1400" b="0" dirty="0">
                <a:solidFill>
                  <a:srgbClr val="2D2D2D"/>
                </a:solidFill>
                <a:latin typeface="Calibri"/>
              </a:rPr>
              <a:t>s</a:t>
            </a:r>
            <a:r>
              <a:rPr sz="1400" b="0" dirty="0">
                <a:solidFill>
                  <a:srgbClr val="2D2D2D"/>
                </a:solidFill>
                <a:latin typeface="Calibri"/>
              </a:rPr>
              <a:t>
→ Verify records → Send letter
⏱️ 3–10 working days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34689" y="4552286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dirty="0">
                <a:solidFill>
                  <a:srgbClr val="009FDA"/>
                </a:solidFill>
                <a:latin typeface="Calibri"/>
              </a:rPr>
              <a:t>→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749039" y="4002384"/>
            <a:ext cx="2346961" cy="1683625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3825240" y="4053100"/>
            <a:ext cx="2194560" cy="76975"/>
          </a:xfrm>
          <a:prstGeom prst="rect">
            <a:avLst/>
          </a:prstGeom>
          <a:solidFill>
            <a:srgbClr val="00A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023360" y="4206240"/>
            <a:ext cx="21945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dirty="0">
                <a:solidFill>
                  <a:srgbClr val="00A65A"/>
                </a:solidFill>
                <a:latin typeface="Calibri"/>
              </a:rPr>
              <a:t>✅ After (Blockchain)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996689" y="4559413"/>
            <a:ext cx="2194560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2D2D2D"/>
                </a:solidFill>
                <a:latin typeface="Calibri"/>
              </a:rPr>
              <a:t>Input certificate hash
→ Blockchain confirms
⏱️ Seconds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457200" y="65653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C757D"/>
                </a:solidFill>
                <a:latin typeface="Calibri"/>
              </a:rPr>
              <a:t>NYP Emerging Technologies Proposal  |  Feb 2026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277295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C757D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54864"/>
          </a:xfrm>
          <a:prstGeom prst="rect">
            <a:avLst/>
          </a:prstGeom>
          <a:solidFill>
            <a:srgbClr val="009F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2286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 Light"/>
              </a:rPr>
              <a:t>Blockchain — Impact, ROI &amp; Challenges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80896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dirty="0">
                <a:solidFill>
                  <a:srgbClr val="00A65A"/>
                </a:solidFill>
                <a:latin typeface="Calibri"/>
              </a:rPr>
              <a:t>✅  Benefits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042498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dirty="0">
                <a:solidFill>
                  <a:srgbClr val="2D2D2D"/>
                </a:solidFill>
                <a:latin typeface="Calibri"/>
              </a:rPr>
              <a:t>▸  Eliminate manual verification (50–70% </a:t>
            </a:r>
            <a:r>
              <a:rPr sz="1500" b="0" dirty="0" err="1">
                <a:solidFill>
                  <a:srgbClr val="2D2D2D"/>
                </a:solidFill>
                <a:latin typeface="Calibri"/>
              </a:rPr>
              <a:t>labour</a:t>
            </a:r>
            <a:r>
              <a:rPr sz="1500" b="0" dirty="0">
                <a:solidFill>
                  <a:srgbClr val="2D2D2D"/>
                </a:solidFill>
                <a:latin typeface="Calibri"/>
              </a:rPr>
              <a:t> cut)</a:t>
            </a:r>
          </a:p>
          <a:p>
            <a:pPr>
              <a:spcAft>
                <a:spcPts val="800"/>
              </a:spcAft>
            </a:pPr>
            <a:r>
              <a:rPr sz="1500" b="0" dirty="0">
                <a:solidFill>
                  <a:srgbClr val="2D2D2D"/>
                </a:solidFill>
                <a:latin typeface="Calibri"/>
              </a:rPr>
              <a:t>▸  Tamper-proof credentials protect institutional reputation</a:t>
            </a:r>
          </a:p>
          <a:p>
            <a:pPr>
              <a:spcAft>
                <a:spcPts val="800"/>
              </a:spcAft>
            </a:pPr>
            <a:r>
              <a:rPr sz="1500" b="0" dirty="0">
                <a:solidFill>
                  <a:srgbClr val="2D2D2D"/>
                </a:solidFill>
                <a:latin typeface="Calibri"/>
              </a:rPr>
              <a:t>▸  Align with SG </a:t>
            </a:r>
            <a:r>
              <a:rPr sz="1500" b="0" dirty="0" err="1">
                <a:solidFill>
                  <a:srgbClr val="2D2D2D"/>
                </a:solidFill>
                <a:latin typeface="Calibri"/>
              </a:rPr>
              <a:t>OpenCerts</a:t>
            </a:r>
            <a:r>
              <a:rPr sz="1500" b="0" dirty="0">
                <a:solidFill>
                  <a:srgbClr val="2D2D2D"/>
                </a:solidFill>
                <a:latin typeface="Calibri"/>
              </a:rPr>
              <a:t> &amp; Smart Nation initiatives</a:t>
            </a:r>
          </a:p>
          <a:p>
            <a:pPr>
              <a:spcAft>
                <a:spcPts val="800"/>
              </a:spcAft>
            </a:pPr>
            <a:r>
              <a:rPr sz="1500" b="0" dirty="0">
                <a:solidFill>
                  <a:srgbClr val="2D2D2D"/>
                </a:solidFill>
                <a:latin typeface="Calibri"/>
              </a:rPr>
              <a:t>▸  Portable, cross-border credentials for graduates</a:t>
            </a:r>
          </a:p>
          <a:p>
            <a:pPr>
              <a:spcAft>
                <a:spcPts val="800"/>
              </a:spcAft>
            </a:pPr>
            <a:r>
              <a:rPr sz="1500" b="0" dirty="0">
                <a:solidFill>
                  <a:srgbClr val="2D2D2D"/>
                </a:solidFill>
                <a:latin typeface="Calibri"/>
              </a:rPr>
              <a:t>▸  Employers verify in seconds, not days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09883118"/>
              </p:ext>
            </p:extLst>
          </p:nvPr>
        </p:nvGraphicFramePr>
        <p:xfrm>
          <a:off x="6095847" y="1567011"/>
          <a:ext cx="5486400" cy="2926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095847" y="4628728"/>
            <a:ext cx="5486400" cy="1005840"/>
          </a:xfrm>
          <a:prstGeom prst="roundRect">
            <a:avLst/>
          </a:prstGeom>
          <a:solidFill>
            <a:srgbClr val="00CC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9" name="TextBox 8"/>
          <p:cNvSpPr txBox="1"/>
          <p:nvPr/>
        </p:nvSpPr>
        <p:spPr>
          <a:xfrm>
            <a:off x="6278727" y="4747515"/>
            <a:ext cx="5120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dirty="0">
                <a:solidFill>
                  <a:srgbClr val="FFFFFF"/>
                </a:solidFill>
                <a:latin typeface="Calibri"/>
              </a:rPr>
              <a:t>Five-year net return: ~SGD 1.59M  |  88% ROI  |  Breakeven: Year 3
Low cost; strategic value exceeds financial return (credibility, fraud elimination)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128347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dirty="0">
                <a:solidFill>
                  <a:srgbClr val="E14D4D"/>
                </a:solidFill>
                <a:latin typeface="Calibri"/>
              </a:rPr>
              <a:t>⚠️  Key Challenges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585547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 dirty="0">
                <a:solidFill>
                  <a:srgbClr val="2D2D2D"/>
                </a:solidFill>
                <a:latin typeface="Calibri"/>
              </a:rPr>
              <a:t>▸  Stakeholder adoption (employers, institutions)</a:t>
            </a:r>
          </a:p>
          <a:p>
            <a:pPr>
              <a:spcAft>
                <a:spcPts val="800"/>
              </a:spcAft>
            </a:pPr>
            <a:r>
              <a:rPr sz="1400" b="0" dirty="0">
                <a:solidFill>
                  <a:srgbClr val="2D2D2D"/>
                </a:solidFill>
                <a:latin typeface="Calibri"/>
              </a:rPr>
              <a:t>▸  Interoperability across blockchain platforms</a:t>
            </a:r>
          </a:p>
          <a:p>
            <a:pPr>
              <a:spcAft>
                <a:spcPts val="800"/>
              </a:spcAft>
            </a:pPr>
            <a:r>
              <a:rPr sz="1400" b="0" dirty="0">
                <a:solidFill>
                  <a:srgbClr val="2D2D2D"/>
                </a:solidFill>
                <a:latin typeface="Calibri"/>
              </a:rPr>
              <a:t>▸  User education for students, staff &amp; employers</a:t>
            </a:r>
          </a:p>
          <a:p>
            <a:pPr>
              <a:spcAft>
                <a:spcPts val="800"/>
              </a:spcAft>
            </a:pPr>
            <a:r>
              <a:rPr sz="1400" b="0" dirty="0">
                <a:solidFill>
                  <a:srgbClr val="2D2D2D"/>
                </a:solidFill>
                <a:latin typeface="Calibri"/>
              </a:rPr>
              <a:t>▸  Secure cryptographic hash implementation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7200" y="65653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C757D"/>
                </a:solidFill>
                <a:latin typeface="Calibri"/>
              </a:rPr>
              <a:t>NYP Emerging Technologies Proposal  |  Feb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77295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C757D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8686800" y="-1371600"/>
            <a:ext cx="5486400" cy="5486400"/>
          </a:xfrm>
          <a:prstGeom prst="ellipse">
            <a:avLst/>
          </a:prstGeom>
          <a:solidFill>
            <a:srgbClr val="FF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9144000" y="-914400"/>
            <a:ext cx="4572000" cy="4572000"/>
          </a:xfrm>
          <a:prstGeom prst="ellipse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914400" y="5029200"/>
            <a:ext cx="274320" cy="274320"/>
          </a:xfrm>
          <a:prstGeom prst="ellipse">
            <a:avLst/>
          </a:prstGeom>
          <a:solidFill>
            <a:srgbClr val="FF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0515600" y="5486400"/>
            <a:ext cx="182880" cy="182880"/>
          </a:xfrm>
          <a:prstGeom prst="ellipse">
            <a:avLst/>
          </a:prstGeom>
          <a:solidFill>
            <a:srgbClr val="FF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457200" y="914400"/>
            <a:ext cx="137160" cy="137160"/>
          </a:xfrm>
          <a:prstGeom prst="ellipse">
            <a:avLst/>
          </a:prstGeom>
          <a:solidFill>
            <a:srgbClr val="FF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371600" y="2926080"/>
            <a:ext cx="914400" cy="54864"/>
          </a:xfrm>
          <a:prstGeom prst="rect">
            <a:avLst/>
          </a:prstGeom>
          <a:solidFill>
            <a:srgbClr val="FF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371600" y="320040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libri Light"/>
              </a:rPr>
              <a:t>Investment &amp; Roadmap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4297680"/>
            <a:ext cx="82296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chemeClr val="accent3">
                    <a:lumMod val="60000"/>
                    <a:lumOff val="40000"/>
                  </a:schemeClr>
                </a:solidFill>
                <a:latin typeface="Calibri"/>
              </a:rPr>
              <a:t>Consolidated financials, phased implementation, and technology synergy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7200" y="65653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C757D"/>
                </a:solidFill>
                <a:latin typeface="Calibri"/>
              </a:rPr>
              <a:t>NYP Emerging Technologies Proposal  |  Feb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77295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C757D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54864"/>
          </a:xfrm>
          <a:prstGeom prst="rect">
            <a:avLst/>
          </a:prstGeom>
          <a:solidFill>
            <a:srgbClr val="009F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2286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 Light"/>
              </a:rPr>
              <a:t>Consolidated Investment Summary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08760"/>
            <a:ext cx="10058400" cy="45720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572768"/>
            <a:ext cx="27432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Technology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83280" y="1572768"/>
            <a:ext cx="20116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Year-1 Investment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94960" y="1572768"/>
            <a:ext cx="20116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Annual Returns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06640" y="1572768"/>
            <a:ext cx="18288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5-Year Net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35440" y="1572768"/>
            <a:ext cx="13716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Breakeven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011680"/>
            <a:ext cx="1005840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/>
          </a:p>
        </p:txBody>
      </p:sp>
      <p:sp>
        <p:nvSpPr>
          <p:cNvPr id="12" name="Rectangle 11"/>
          <p:cNvSpPr/>
          <p:nvPr/>
        </p:nvSpPr>
        <p:spPr>
          <a:xfrm>
            <a:off x="548640" y="2011680"/>
            <a:ext cx="73152" cy="457200"/>
          </a:xfrm>
          <a:prstGeom prst="rect">
            <a:avLst/>
          </a:prstGeom>
          <a:solidFill>
            <a:srgbClr val="6C5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/>
          </a:p>
        </p:txBody>
      </p:sp>
      <p:sp>
        <p:nvSpPr>
          <p:cNvPr id="13" name="TextBox 12"/>
          <p:cNvSpPr txBox="1"/>
          <p:nvPr/>
        </p:nvSpPr>
        <p:spPr>
          <a:xfrm>
            <a:off x="640080" y="2075688"/>
            <a:ext cx="27432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dirty="0">
                <a:solidFill>
                  <a:srgbClr val="2D2D2D"/>
                </a:solidFill>
                <a:latin typeface="Calibri"/>
              </a:rPr>
              <a:t>🤖 AI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80" y="2075688"/>
            <a:ext cx="20116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D2D2D"/>
                </a:solidFill>
                <a:latin typeface="Calibri"/>
              </a:rPr>
              <a:t>SGD 2.5–5M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94960" y="2075688"/>
            <a:ext cx="20116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D2D2D"/>
                </a:solidFill>
                <a:latin typeface="Calibri"/>
              </a:rPr>
              <a:t>SGD 5–10M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06640" y="2075688"/>
            <a:ext cx="18288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D2D2D"/>
                </a:solidFill>
                <a:latin typeface="Calibri"/>
              </a:rPr>
              <a:t>SGD 15.6M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35440" y="2075688"/>
            <a:ext cx="13716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D2D2D"/>
                </a:solidFill>
                <a:latin typeface="Calibri"/>
              </a:rPr>
              <a:t>Year 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2487168"/>
            <a:ext cx="10058400" cy="457200"/>
          </a:xfrm>
          <a:prstGeom prst="rect">
            <a:avLst/>
          </a:prstGeom>
          <a:solidFill>
            <a:srgbClr val="E9EC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/>
          </a:p>
        </p:txBody>
      </p:sp>
      <p:sp>
        <p:nvSpPr>
          <p:cNvPr id="19" name="Rectangle 18"/>
          <p:cNvSpPr/>
          <p:nvPr/>
        </p:nvSpPr>
        <p:spPr>
          <a:xfrm>
            <a:off x="548640" y="2487168"/>
            <a:ext cx="73152" cy="457200"/>
          </a:xfrm>
          <a:prstGeom prst="rect">
            <a:avLst/>
          </a:prstGeom>
          <a:solidFill>
            <a:srgbClr val="00B8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/>
          </a:p>
        </p:txBody>
      </p:sp>
      <p:sp>
        <p:nvSpPr>
          <p:cNvPr id="20" name="TextBox 19"/>
          <p:cNvSpPr txBox="1"/>
          <p:nvPr/>
        </p:nvSpPr>
        <p:spPr>
          <a:xfrm>
            <a:off x="640080" y="2551176"/>
            <a:ext cx="27432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dirty="0">
                <a:solidFill>
                  <a:srgbClr val="2D2D2D"/>
                </a:solidFill>
                <a:latin typeface="Calibri"/>
              </a:rPr>
              <a:t>🥽 VR/</a:t>
            </a:r>
            <a:r>
              <a:rPr lang="en-US" sz="1400" b="1" dirty="0">
                <a:solidFill>
                  <a:srgbClr val="2D2D2D"/>
                </a:solidFill>
                <a:latin typeface="Calibri"/>
              </a:rPr>
              <a:t>AR </a:t>
            </a:r>
            <a:endParaRPr sz="1400" b="1" dirty="0">
              <a:solidFill>
                <a:srgbClr val="2D2D2D"/>
              </a:solidFill>
              <a:latin typeface="Calibri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3383280" y="2551176"/>
            <a:ext cx="20116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D2D2D"/>
                </a:solidFill>
                <a:latin typeface="Calibri"/>
              </a:rPr>
              <a:t>SGD 2.3–4.6M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94960" y="2551176"/>
            <a:ext cx="20116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D2D2D"/>
                </a:solidFill>
                <a:latin typeface="Calibri"/>
              </a:rPr>
              <a:t>SGD 2–5M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06640" y="2551176"/>
            <a:ext cx="18288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D2D2D"/>
                </a:solidFill>
                <a:latin typeface="Calibri"/>
              </a:rPr>
              <a:t>SGD 10.3M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35440" y="2551176"/>
            <a:ext cx="13716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D2D2D"/>
                </a:solidFill>
                <a:latin typeface="Calibri"/>
              </a:rPr>
              <a:t>Year 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2962656"/>
            <a:ext cx="1005840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/>
          </a:p>
        </p:txBody>
      </p:sp>
      <p:sp>
        <p:nvSpPr>
          <p:cNvPr id="26" name="Rectangle 25"/>
          <p:cNvSpPr/>
          <p:nvPr/>
        </p:nvSpPr>
        <p:spPr>
          <a:xfrm>
            <a:off x="548640" y="2962656"/>
            <a:ext cx="73152" cy="457200"/>
          </a:xfrm>
          <a:prstGeom prst="rect">
            <a:avLst/>
          </a:prstGeom>
          <a:solidFill>
            <a:srgbClr val="FD79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/>
          </a:p>
        </p:txBody>
      </p:sp>
      <p:sp>
        <p:nvSpPr>
          <p:cNvPr id="27" name="TextBox 26"/>
          <p:cNvSpPr txBox="1"/>
          <p:nvPr/>
        </p:nvSpPr>
        <p:spPr>
          <a:xfrm>
            <a:off x="640080" y="3026664"/>
            <a:ext cx="27432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dirty="0">
                <a:solidFill>
                  <a:srgbClr val="2D2D2D"/>
                </a:solidFill>
                <a:latin typeface="Calibri"/>
              </a:rPr>
              <a:t>📡 5G &amp; </a:t>
            </a:r>
            <a:r>
              <a:rPr lang="en-US" sz="1400" b="1" dirty="0">
                <a:solidFill>
                  <a:srgbClr val="2D2D2D"/>
                </a:solidFill>
                <a:latin typeface="Calibri"/>
              </a:rPr>
              <a:t>Edge Computing</a:t>
            </a:r>
            <a:endParaRPr sz="1400" b="1" dirty="0">
              <a:solidFill>
                <a:srgbClr val="2D2D2D"/>
              </a:solidFill>
              <a:latin typeface="Calibri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3383280" y="3026664"/>
            <a:ext cx="20116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D2D2D"/>
                </a:solidFill>
                <a:latin typeface="Calibri"/>
              </a:rPr>
              <a:t>SGD 3–5.5M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394960" y="3026664"/>
            <a:ext cx="20116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D2D2D"/>
                </a:solidFill>
                <a:latin typeface="Calibri"/>
              </a:rPr>
              <a:t>SGD 1.5–3M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06640" y="3026664"/>
            <a:ext cx="18288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D2D2D"/>
                </a:solidFill>
                <a:latin typeface="Calibri"/>
              </a:rPr>
              <a:t>SGD 4.8M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35440" y="3026664"/>
            <a:ext cx="13716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D2D2D"/>
                </a:solidFill>
                <a:latin typeface="Calibri"/>
              </a:rPr>
              <a:t>Yr 3–4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48640" y="3438144"/>
            <a:ext cx="10058400" cy="457200"/>
          </a:xfrm>
          <a:prstGeom prst="rect">
            <a:avLst/>
          </a:prstGeom>
          <a:solidFill>
            <a:srgbClr val="E9EC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/>
          </a:p>
        </p:txBody>
      </p:sp>
      <p:sp>
        <p:nvSpPr>
          <p:cNvPr id="33" name="Rectangle 32"/>
          <p:cNvSpPr/>
          <p:nvPr/>
        </p:nvSpPr>
        <p:spPr>
          <a:xfrm>
            <a:off x="548640" y="3438144"/>
            <a:ext cx="73152" cy="457200"/>
          </a:xfrm>
          <a:prstGeom prst="rect">
            <a:avLst/>
          </a:prstGeom>
          <a:solidFill>
            <a:srgbClr val="00CC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/>
          </a:p>
        </p:txBody>
      </p:sp>
      <p:sp>
        <p:nvSpPr>
          <p:cNvPr id="34" name="TextBox 33"/>
          <p:cNvSpPr txBox="1"/>
          <p:nvPr/>
        </p:nvSpPr>
        <p:spPr>
          <a:xfrm>
            <a:off x="640080" y="3502152"/>
            <a:ext cx="27432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dirty="0">
                <a:solidFill>
                  <a:srgbClr val="2D2D2D"/>
                </a:solidFill>
                <a:latin typeface="Calibri"/>
              </a:rPr>
              <a:t>🔗 Blockchain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383280" y="3502152"/>
            <a:ext cx="20116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D2D2D"/>
                </a:solidFill>
                <a:latin typeface="Calibri"/>
              </a:rPr>
              <a:t>SGD 1–2M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394960" y="3502152"/>
            <a:ext cx="20116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D2D2D"/>
                </a:solidFill>
                <a:latin typeface="Calibri"/>
              </a:rPr>
              <a:t>SGD 0.5–1M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06640" y="3502152"/>
            <a:ext cx="18288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D2D2D"/>
                </a:solidFill>
                <a:latin typeface="Calibri"/>
              </a:rPr>
              <a:t>SGD 1.59M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235440" y="3502152"/>
            <a:ext cx="13716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D2D2D"/>
                </a:solidFill>
                <a:latin typeface="Calibri"/>
              </a:rPr>
              <a:t>Year 3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48640" y="3913632"/>
            <a:ext cx="10058400" cy="50292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/>
          </a:p>
        </p:txBody>
      </p:sp>
      <p:sp>
        <p:nvSpPr>
          <p:cNvPr id="40" name="TextBox 39"/>
          <p:cNvSpPr txBox="1"/>
          <p:nvPr/>
        </p:nvSpPr>
        <p:spPr>
          <a:xfrm>
            <a:off x="640080" y="4005072"/>
            <a:ext cx="27432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TOTAL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383280" y="4005072"/>
            <a:ext cx="20116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SGD 8.8–17.1M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394960" y="4005072"/>
            <a:ext cx="20116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SGD 10.5–23M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406640" y="4005072"/>
            <a:ext cx="18288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SGD 32.3M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35440" y="4005072"/>
            <a:ext cx="13716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Yr 1–2</a:t>
            </a:r>
          </a:p>
        </p:txBody>
      </p:sp>
      <p:graphicFrame>
        <p:nvGraphicFramePr>
          <p:cNvPr id="45" name="Chart 4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85568803"/>
              </p:ext>
            </p:extLst>
          </p:nvPr>
        </p:nvGraphicFramePr>
        <p:xfrm>
          <a:off x="3430540" y="4483982"/>
          <a:ext cx="4294599" cy="224400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46" name="TextBox 45"/>
          <p:cNvSpPr txBox="1"/>
          <p:nvPr/>
        </p:nvSpPr>
        <p:spPr>
          <a:xfrm>
            <a:off x="457200" y="5111496"/>
            <a:ext cx="3107267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dirty="0">
                <a:solidFill>
                  <a:srgbClr val="002B5C"/>
                </a:solidFill>
                <a:latin typeface="Calibri"/>
              </a:rPr>
              <a:t>Five-Year Net Return Distribution</a:t>
            </a:r>
            <a:r>
              <a:rPr lang="en-US" sz="1400" b="1" dirty="0">
                <a:solidFill>
                  <a:srgbClr val="002B5C"/>
                </a:solidFill>
                <a:latin typeface="Calibri"/>
              </a:rPr>
              <a:t> across the 4 technologies</a:t>
            </a:r>
            <a:endParaRPr sz="1400" b="1" dirty="0">
              <a:solidFill>
                <a:srgbClr val="002B5C"/>
              </a:solidFill>
              <a:latin typeface="Calibri"/>
            </a:endParaRPr>
          </a:p>
        </p:txBody>
      </p:sp>
      <p:sp>
        <p:nvSpPr>
          <p:cNvPr id="47" name="Rectangle 4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457200" y="65653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C757D"/>
                </a:solidFill>
                <a:latin typeface="Calibri"/>
              </a:rPr>
              <a:t>NYP Emerging Technologies Proposal  |  Feb 2026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277295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C757D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54864"/>
          </a:xfrm>
          <a:prstGeom prst="rect">
            <a:avLst/>
          </a:prstGeom>
          <a:solidFill>
            <a:srgbClr val="009F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2286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 Light"/>
              </a:rPr>
              <a:t>Three-Phase Implementation 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77240"/>
            <a:ext cx="9144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dirty="0">
                <a:solidFill>
                  <a:schemeClr val="accent3">
                    <a:lumMod val="60000"/>
                    <a:lumOff val="40000"/>
                  </a:schemeClr>
                </a:solidFill>
                <a:latin typeface="Calibri"/>
              </a:rPr>
              <a:t>A phased approach to manage risk and </a:t>
            </a:r>
            <a:r>
              <a:rPr sz="1600" b="0" dirty="0" err="1">
                <a:solidFill>
                  <a:schemeClr val="accent3">
                    <a:lumMod val="60000"/>
                    <a:lumOff val="40000"/>
                  </a:schemeClr>
                </a:solidFill>
                <a:latin typeface="Calibri"/>
              </a:rPr>
              <a:t>maximise</a:t>
            </a:r>
            <a:r>
              <a:rPr sz="1600" b="0" dirty="0">
                <a:solidFill>
                  <a:schemeClr val="accent3">
                    <a:lumMod val="60000"/>
                    <a:lumOff val="40000"/>
                  </a:schemeClr>
                </a:solidFill>
                <a:latin typeface="Calibri"/>
              </a:rPr>
              <a:t> R</a:t>
            </a:r>
            <a:r>
              <a:rPr lang="en-US" sz="1600" b="0" dirty="0">
                <a:solidFill>
                  <a:schemeClr val="accent3">
                    <a:lumMod val="60000"/>
                    <a:lumOff val="40000"/>
                  </a:schemeClr>
                </a:solidFill>
                <a:latin typeface="Calibri"/>
              </a:rPr>
              <a:t>eturn Of Investment (R</a:t>
            </a:r>
            <a:r>
              <a:rPr sz="1600" b="0" dirty="0">
                <a:solidFill>
                  <a:schemeClr val="accent3">
                    <a:lumMod val="60000"/>
                    <a:lumOff val="40000"/>
                  </a:schemeClr>
                </a:solidFill>
                <a:latin typeface="Calibri"/>
              </a:rPr>
              <a:t>OI</a:t>
            </a:r>
            <a:r>
              <a:rPr lang="en-US" sz="1600" b="0" dirty="0">
                <a:solidFill>
                  <a:schemeClr val="accent3">
                    <a:lumMod val="60000"/>
                    <a:lumOff val="40000"/>
                  </a:schemeClr>
                </a:solidFill>
                <a:latin typeface="Calibri"/>
              </a:rPr>
              <a:t>)</a:t>
            </a:r>
            <a:endParaRPr sz="1600" b="0" dirty="0">
              <a:solidFill>
                <a:schemeClr val="accent3">
                  <a:lumMod val="60000"/>
                  <a:lumOff val="40000"/>
                </a:schemeClr>
              </a:solidFill>
              <a:latin typeface="Calibri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731520" y="2011680"/>
            <a:ext cx="10698480" cy="54864"/>
          </a:xfrm>
          <a:prstGeom prst="rect">
            <a:avLst/>
          </a:prstGeom>
          <a:solidFill>
            <a:srgbClr val="E9EC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2011680" y="1828800"/>
            <a:ext cx="411480" cy="411480"/>
          </a:xfrm>
          <a:prstGeom prst="ellipse">
            <a:avLst/>
          </a:prstGeom>
          <a:solidFill>
            <a:srgbClr val="009F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029968" y="1856231"/>
            <a:ext cx="37490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468880"/>
            <a:ext cx="3566160" cy="36576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02920" y="2514600"/>
            <a:ext cx="3474720" cy="73152"/>
          </a:xfrm>
          <a:prstGeom prst="rect">
            <a:avLst/>
          </a:prstGeom>
          <a:solidFill>
            <a:srgbClr val="009F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0080" y="26974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9FDA"/>
                </a:solidFill>
                <a:latin typeface="Calibri"/>
              </a:rPr>
              <a:t>Phase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01752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6C757D"/>
                </a:solidFill>
                <a:latin typeface="Calibri"/>
              </a:rPr>
              <a:t>Year 1: Foundation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429000"/>
            <a:ext cx="3200400" cy="18312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0" dirty="0">
                <a:solidFill>
                  <a:srgbClr val="2D2D2D"/>
                </a:solidFill>
                <a:latin typeface="Calibri"/>
              </a:rPr>
              <a:t>🤖 Deploy AI chatbot for student services</a:t>
            </a:r>
          </a:p>
          <a:p>
            <a:pPr>
              <a:spcAft>
                <a:spcPts val="600"/>
              </a:spcAft>
            </a:pPr>
            <a:r>
              <a:rPr sz="1400" b="0" dirty="0">
                <a:solidFill>
                  <a:srgbClr val="2D2D2D"/>
                </a:solidFill>
                <a:latin typeface="Calibri"/>
              </a:rPr>
              <a:t>🔗 Implement blockchain credentials (</a:t>
            </a:r>
            <a:r>
              <a:rPr sz="1400" b="0" dirty="0" err="1">
                <a:solidFill>
                  <a:srgbClr val="2D2D2D"/>
                </a:solidFill>
                <a:latin typeface="Calibri"/>
              </a:rPr>
              <a:t>OpenCerts</a:t>
            </a:r>
            <a:r>
              <a:rPr sz="1400" b="0" dirty="0">
                <a:solidFill>
                  <a:srgbClr val="2D2D2D"/>
                </a:solidFill>
                <a:latin typeface="Calibri"/>
              </a:rPr>
              <a:t>)</a:t>
            </a:r>
          </a:p>
          <a:p>
            <a:pPr>
              <a:spcAft>
                <a:spcPts val="600"/>
              </a:spcAft>
            </a:pPr>
            <a:r>
              <a:rPr sz="1400" b="0" dirty="0">
                <a:solidFill>
                  <a:srgbClr val="2D2D2D"/>
                </a:solidFill>
                <a:latin typeface="Calibri"/>
              </a:rPr>
              <a:t>📡 Begin 5G infrastructure planning &amp; pilot</a:t>
            </a:r>
          </a:p>
          <a:p>
            <a:pPr>
              <a:spcAft>
                <a:spcPts val="600"/>
              </a:spcAft>
            </a:pPr>
            <a:r>
              <a:rPr sz="1400" b="0" dirty="0">
                <a:solidFill>
                  <a:srgbClr val="2D2D2D"/>
                </a:solidFill>
                <a:latin typeface="Calibri"/>
              </a:rPr>
              <a:t>🥽 Develop first VR lab prototypes</a:t>
            </a:r>
          </a:p>
        </p:txBody>
      </p:sp>
      <p:sp>
        <p:nvSpPr>
          <p:cNvPr id="14" name="Oval 13"/>
          <p:cNvSpPr/>
          <p:nvPr/>
        </p:nvSpPr>
        <p:spPr>
          <a:xfrm>
            <a:off x="5806440" y="1828800"/>
            <a:ext cx="411480" cy="411480"/>
          </a:xfrm>
          <a:prstGeom prst="ellipse">
            <a:avLst/>
          </a:prstGeom>
          <a:solidFill>
            <a:srgbClr val="00A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824728" y="1856231"/>
            <a:ext cx="37490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51960" y="2468880"/>
            <a:ext cx="3566160" cy="36576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4297680" y="2514600"/>
            <a:ext cx="3474720" cy="73152"/>
          </a:xfrm>
          <a:prstGeom prst="rect">
            <a:avLst/>
          </a:prstGeom>
          <a:solidFill>
            <a:srgbClr val="00A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434840" y="26974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A65A"/>
                </a:solidFill>
                <a:latin typeface="Calibri"/>
              </a:rPr>
              <a:t>Phase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34840" y="301752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dirty="0">
                <a:solidFill>
                  <a:srgbClr val="6C757D"/>
                </a:solidFill>
                <a:latin typeface="Calibri"/>
              </a:rPr>
              <a:t>Year 2: Expansion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34840" y="3429000"/>
            <a:ext cx="3200400" cy="16158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0" dirty="0">
                <a:solidFill>
                  <a:srgbClr val="2D2D2D"/>
                </a:solidFill>
                <a:latin typeface="Calibri"/>
              </a:rPr>
              <a:t>🤖 Scale AI adaptive learning across all schools</a:t>
            </a:r>
          </a:p>
          <a:p>
            <a:pPr>
              <a:spcAft>
                <a:spcPts val="600"/>
              </a:spcAft>
            </a:pPr>
            <a:r>
              <a:rPr sz="1400" b="0" dirty="0">
                <a:solidFill>
                  <a:srgbClr val="2D2D2D"/>
                </a:solidFill>
                <a:latin typeface="Calibri"/>
              </a:rPr>
              <a:t>🥽 Launch 10+ VR virtual labs</a:t>
            </a:r>
          </a:p>
          <a:p>
            <a:pPr>
              <a:spcAft>
                <a:spcPts val="600"/>
              </a:spcAft>
            </a:pPr>
            <a:r>
              <a:rPr sz="1400" b="0" dirty="0">
                <a:solidFill>
                  <a:srgbClr val="2D2D2D"/>
                </a:solidFill>
                <a:latin typeface="Calibri"/>
              </a:rPr>
              <a:t>📡 Deploy 5G campus-wide</a:t>
            </a:r>
          </a:p>
          <a:p>
            <a:pPr>
              <a:spcAft>
                <a:spcPts val="600"/>
              </a:spcAft>
            </a:pPr>
            <a:r>
              <a:rPr sz="1400" b="0" dirty="0">
                <a:solidFill>
                  <a:srgbClr val="2D2D2D"/>
                </a:solidFill>
                <a:latin typeface="Calibri"/>
              </a:rPr>
              <a:t>🔗 Expand blockchain to micro-credentials</a:t>
            </a:r>
          </a:p>
        </p:txBody>
      </p:sp>
      <p:sp>
        <p:nvSpPr>
          <p:cNvPr id="21" name="Oval 20"/>
          <p:cNvSpPr/>
          <p:nvPr/>
        </p:nvSpPr>
        <p:spPr>
          <a:xfrm>
            <a:off x="9601200" y="1828800"/>
            <a:ext cx="411480" cy="411480"/>
          </a:xfrm>
          <a:prstGeom prst="ellipse">
            <a:avLst/>
          </a:prstGeom>
          <a:solidFill>
            <a:srgbClr val="FF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619488" y="1856231"/>
            <a:ext cx="37490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46720" y="2468880"/>
            <a:ext cx="3566160" cy="36576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8092440" y="2514600"/>
            <a:ext cx="3474720" cy="73152"/>
          </a:xfrm>
          <a:prstGeom prst="rect">
            <a:avLst/>
          </a:prstGeom>
          <a:solidFill>
            <a:srgbClr val="FF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229600" y="26974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B700"/>
                </a:solidFill>
                <a:latin typeface="Calibri"/>
              </a:rPr>
              <a:t>Phase 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0" y="301752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dirty="0">
                <a:solidFill>
                  <a:srgbClr val="6C757D"/>
                </a:solidFill>
                <a:latin typeface="Calibri"/>
              </a:rPr>
              <a:t>Year 3: </a:t>
            </a:r>
            <a:r>
              <a:rPr sz="1400" b="1" dirty="0" err="1">
                <a:solidFill>
                  <a:srgbClr val="6C757D"/>
                </a:solidFill>
                <a:latin typeface="Calibri"/>
              </a:rPr>
              <a:t>Optimisation</a:t>
            </a:r>
            <a:endParaRPr sz="1400" b="1" dirty="0">
              <a:solidFill>
                <a:srgbClr val="6C757D"/>
              </a:solidFill>
              <a:latin typeface="Calibri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8229600" y="3429000"/>
            <a:ext cx="3200400" cy="15388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0" dirty="0">
                <a:solidFill>
                  <a:srgbClr val="2D2D2D"/>
                </a:solidFill>
                <a:latin typeface="Calibri"/>
              </a:rPr>
              <a:t>🔄 Integrate all tech into smart-campus ecosystem</a:t>
            </a:r>
          </a:p>
          <a:p>
            <a:pPr>
              <a:spcAft>
                <a:spcPts val="600"/>
              </a:spcAft>
            </a:pPr>
            <a:r>
              <a:rPr sz="1400" b="0" dirty="0">
                <a:solidFill>
                  <a:srgbClr val="2D2D2D"/>
                </a:solidFill>
                <a:latin typeface="Calibri"/>
              </a:rPr>
              <a:t>💰 </a:t>
            </a:r>
            <a:r>
              <a:rPr sz="1400" b="0" dirty="0" err="1">
                <a:solidFill>
                  <a:srgbClr val="2D2D2D"/>
                </a:solidFill>
                <a:latin typeface="Calibri"/>
              </a:rPr>
              <a:t>Monetise</a:t>
            </a:r>
            <a:r>
              <a:rPr sz="1400" b="0" dirty="0">
                <a:solidFill>
                  <a:srgbClr val="2D2D2D"/>
                </a:solidFill>
                <a:latin typeface="Calibri"/>
              </a:rPr>
              <a:t> VR content &amp; blockchain services</a:t>
            </a:r>
          </a:p>
          <a:p>
            <a:pPr>
              <a:spcAft>
                <a:spcPts val="600"/>
              </a:spcAft>
            </a:pPr>
            <a:r>
              <a:rPr sz="1400" b="0" dirty="0">
                <a:solidFill>
                  <a:srgbClr val="2D2D2D"/>
                </a:solidFill>
                <a:latin typeface="Calibri"/>
              </a:rPr>
              <a:t>📊 Comprehensive ROI evaluation &amp; strategy adjustment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57200" y="65653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C757D"/>
                </a:solidFill>
                <a:latin typeface="Calibri"/>
              </a:rPr>
              <a:t>NYP Emerging Technologies Proposal  |  Feb 2026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277295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C757D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54864"/>
          </a:xfrm>
          <a:prstGeom prst="rect">
            <a:avLst/>
          </a:prstGeom>
          <a:solidFill>
            <a:srgbClr val="009F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2286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 Light"/>
              </a:rPr>
              <a:t>Technology Synergy Ecosystem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77240"/>
            <a:ext cx="9144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dirty="0">
                <a:solidFill>
                  <a:schemeClr val="accent3">
                    <a:lumMod val="60000"/>
                    <a:lumOff val="40000"/>
                  </a:schemeClr>
                </a:solidFill>
                <a:latin typeface="Calibri"/>
              </a:rPr>
              <a:t>The four technologies reinforce one another</a:t>
            </a:r>
          </a:p>
        </p:txBody>
      </p:sp>
      <p:sp>
        <p:nvSpPr>
          <p:cNvPr id="6" name="Oval 5"/>
          <p:cNvSpPr/>
          <p:nvPr/>
        </p:nvSpPr>
        <p:spPr>
          <a:xfrm>
            <a:off x="4937760" y="2560320"/>
            <a:ext cx="2286000" cy="2286000"/>
          </a:xfrm>
          <a:prstGeom prst="ellipse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120640" y="3200400"/>
            <a:ext cx="1920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Smart
Campus
Ecosystem</a:t>
            </a:r>
          </a:p>
        </p:txBody>
      </p:sp>
      <p:sp>
        <p:nvSpPr>
          <p:cNvPr id="8" name="Oval 7"/>
          <p:cNvSpPr/>
          <p:nvPr/>
        </p:nvSpPr>
        <p:spPr>
          <a:xfrm>
            <a:off x="2499360" y="1915668"/>
            <a:ext cx="1645920" cy="1645920"/>
          </a:xfrm>
          <a:prstGeom prst="ellipse">
            <a:avLst/>
          </a:prstGeom>
          <a:solidFill>
            <a:srgbClr val="6C5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🤖 AI</a:t>
            </a:r>
          </a:p>
        </p:txBody>
      </p:sp>
      <p:sp>
        <p:nvSpPr>
          <p:cNvPr id="9" name="Oval 8"/>
          <p:cNvSpPr/>
          <p:nvPr/>
        </p:nvSpPr>
        <p:spPr>
          <a:xfrm>
            <a:off x="8066187" y="1915668"/>
            <a:ext cx="1645920" cy="1645920"/>
          </a:xfrm>
          <a:prstGeom prst="ellipse">
            <a:avLst/>
          </a:prstGeom>
          <a:solidFill>
            <a:srgbClr val="00B8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🥽 VR/AR</a:t>
            </a:r>
          </a:p>
        </p:txBody>
      </p:sp>
      <p:sp>
        <p:nvSpPr>
          <p:cNvPr id="10" name="Oval 9"/>
          <p:cNvSpPr/>
          <p:nvPr/>
        </p:nvSpPr>
        <p:spPr>
          <a:xfrm>
            <a:off x="2499360" y="4434840"/>
            <a:ext cx="1645920" cy="1645920"/>
          </a:xfrm>
          <a:prstGeom prst="ellipse">
            <a:avLst/>
          </a:prstGeom>
          <a:solidFill>
            <a:srgbClr val="FD79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📡 5G &amp;
Edge</a:t>
            </a:r>
          </a:p>
        </p:txBody>
      </p:sp>
      <p:sp>
        <p:nvSpPr>
          <p:cNvPr id="11" name="Oval 10"/>
          <p:cNvSpPr/>
          <p:nvPr/>
        </p:nvSpPr>
        <p:spPr>
          <a:xfrm>
            <a:off x="8046720" y="4430267"/>
            <a:ext cx="1645920" cy="1645920"/>
          </a:xfrm>
          <a:prstGeom prst="ellipse">
            <a:avLst/>
          </a:prstGeom>
          <a:solidFill>
            <a:srgbClr val="00CC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🔗 Block-
chain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04800" y="1920240"/>
            <a:ext cx="2072640" cy="16413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7200" y="2054164"/>
            <a:ext cx="182880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2D2D2D"/>
                </a:solidFill>
                <a:latin typeface="Calibri"/>
              </a:rPr>
              <a:t>5G enables VR/AR:
High-bandwidth, low-latency
connectivity for immersive
experiences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814560" y="1915668"/>
            <a:ext cx="2011680" cy="16413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906000" y="2171576"/>
            <a:ext cx="182880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2D2D2D"/>
                </a:solidFill>
                <a:latin typeface="Calibri"/>
              </a:rPr>
              <a:t>AI enhances VR/AR:
</a:t>
            </a:r>
            <a:r>
              <a:rPr sz="1400" b="0" dirty="0" err="1">
                <a:solidFill>
                  <a:srgbClr val="2D2D2D"/>
                </a:solidFill>
                <a:latin typeface="Calibri"/>
              </a:rPr>
              <a:t>Personalises</a:t>
            </a:r>
            <a:r>
              <a:rPr sz="1400" b="0" dirty="0">
                <a:solidFill>
                  <a:srgbClr val="2D2D2D"/>
                </a:solidFill>
                <a:latin typeface="Calibri"/>
              </a:rPr>
              <a:t> learning
scenarios based on
student performance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5760" y="4434840"/>
            <a:ext cx="2011680" cy="16916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57200" y="4668452"/>
            <a:ext cx="1828800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2D2D2D"/>
                </a:solidFill>
                <a:latin typeface="Calibri"/>
              </a:rPr>
              <a:t>Edge Computing
supports all:
Low-latency processing
for AI, VR &amp; IoT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814561" y="4310040"/>
            <a:ext cx="2011679" cy="1766147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966960" y="4568684"/>
            <a:ext cx="1828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2D2D2D"/>
                </a:solidFill>
                <a:latin typeface="Calibri"/>
              </a:rPr>
              <a:t>Blockchain secures
AI credentials:
Ensures integrity of
AI-generated evaluations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57200" y="65653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C757D"/>
                </a:solidFill>
                <a:latin typeface="Calibri"/>
              </a:rPr>
              <a:t>NYP Emerging Technologies Proposal  |  Feb 2026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77295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C757D"/>
                </a:solidFill>
                <a:latin typeface="Calibri"/>
              </a:rPr>
              <a:t>20</a:t>
            </a:r>
          </a:p>
        </p:txBody>
      </p:sp>
      <p:sp>
        <p:nvSpPr>
          <p:cNvPr id="23" name="Arrow: Down 22">
            <a:extLst>
              <a:ext uri="{FF2B5EF4-FFF2-40B4-BE49-F238E27FC236}">
                <a16:creationId xmlns:a16="http://schemas.microsoft.com/office/drawing/2014/main" id="{3534ADE4-48BA-538C-AF24-6CD207CA3A0C}"/>
              </a:ext>
            </a:extLst>
          </p:cNvPr>
          <p:cNvSpPr/>
          <p:nvPr/>
        </p:nvSpPr>
        <p:spPr>
          <a:xfrm rot="14533226">
            <a:off x="7429921" y="2650365"/>
            <a:ext cx="430107" cy="832104"/>
          </a:xfrm>
          <a:prstGeom prst="downArrow">
            <a:avLst/>
          </a:prstGeom>
          <a:solidFill>
            <a:srgbClr val="FFFF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24" name="Arrow: Down 23">
            <a:extLst>
              <a:ext uri="{FF2B5EF4-FFF2-40B4-BE49-F238E27FC236}">
                <a16:creationId xmlns:a16="http://schemas.microsoft.com/office/drawing/2014/main" id="{DF88B6E5-CCDE-3608-0D4F-F0D4FFB8E386}"/>
              </a:ext>
            </a:extLst>
          </p:cNvPr>
          <p:cNvSpPr/>
          <p:nvPr/>
        </p:nvSpPr>
        <p:spPr>
          <a:xfrm rot="18107008">
            <a:off x="7384199" y="4113935"/>
            <a:ext cx="430107" cy="832104"/>
          </a:xfrm>
          <a:prstGeom prst="downArrow">
            <a:avLst/>
          </a:prstGeom>
          <a:solidFill>
            <a:srgbClr val="FFFF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25" name="Arrow: Down 24">
            <a:extLst>
              <a:ext uri="{FF2B5EF4-FFF2-40B4-BE49-F238E27FC236}">
                <a16:creationId xmlns:a16="http://schemas.microsoft.com/office/drawing/2014/main" id="{D009CF5E-3E24-CED5-E4F5-E990ECA7D7F9}"/>
              </a:ext>
            </a:extLst>
          </p:cNvPr>
          <p:cNvSpPr/>
          <p:nvPr/>
        </p:nvSpPr>
        <p:spPr>
          <a:xfrm rot="3271811">
            <a:off x="4375233" y="4115316"/>
            <a:ext cx="430107" cy="832104"/>
          </a:xfrm>
          <a:prstGeom prst="downArrow">
            <a:avLst/>
          </a:prstGeom>
          <a:solidFill>
            <a:srgbClr val="FFFF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26" name="Arrow: Down 25">
            <a:extLst>
              <a:ext uri="{FF2B5EF4-FFF2-40B4-BE49-F238E27FC236}">
                <a16:creationId xmlns:a16="http://schemas.microsoft.com/office/drawing/2014/main" id="{6D3ED736-8F54-F3AB-F087-316C5161C384}"/>
              </a:ext>
            </a:extLst>
          </p:cNvPr>
          <p:cNvSpPr/>
          <p:nvPr/>
        </p:nvSpPr>
        <p:spPr>
          <a:xfrm rot="7344179">
            <a:off x="4372352" y="2648984"/>
            <a:ext cx="430107" cy="832104"/>
          </a:xfrm>
          <a:prstGeom prst="downArrow">
            <a:avLst/>
          </a:prstGeom>
          <a:solidFill>
            <a:srgbClr val="FFFF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54864"/>
          </a:xfrm>
          <a:prstGeom prst="rect">
            <a:avLst/>
          </a:prstGeom>
          <a:solidFill>
            <a:srgbClr val="009F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2286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 Light"/>
              </a:rPr>
              <a:t>Conclusion &amp; Recommendations</a:t>
            </a:r>
          </a:p>
        </p:txBody>
      </p:sp>
      <p:sp>
        <p:nvSpPr>
          <p:cNvPr id="5" name="Oval 4"/>
          <p:cNvSpPr/>
          <p:nvPr/>
        </p:nvSpPr>
        <p:spPr>
          <a:xfrm>
            <a:off x="640080" y="1600200"/>
            <a:ext cx="594360" cy="594360"/>
          </a:xfrm>
          <a:prstGeom prst="ellipse">
            <a:avLst/>
          </a:prstGeom>
          <a:solidFill>
            <a:srgbClr val="009F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15544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02B5C"/>
                </a:solidFill>
                <a:latin typeface="Calibri"/>
              </a:rPr>
              <a:t>Comprehensive Coverage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17320" y="190195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D2D2D"/>
                </a:solidFill>
                <a:latin typeface="Calibri"/>
              </a:rPr>
              <a:t>Four technologies address NYP's core challenges across the entire value chain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2560320"/>
            <a:ext cx="594360" cy="594360"/>
          </a:xfrm>
          <a:prstGeom prst="ellipse">
            <a:avLst/>
          </a:prstGeom>
          <a:solidFill>
            <a:srgbClr val="00A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25146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02B5C"/>
                </a:solidFill>
                <a:latin typeface="Calibri"/>
              </a:rPr>
              <a:t>Strong ROI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286207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D2D2D"/>
                </a:solidFill>
                <a:latin typeface="Calibri"/>
              </a:rPr>
              <a:t>Combined five-year net return of ~SGD 32.3M on SGD 8.8–17.1M investment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3520440"/>
            <a:ext cx="594360" cy="594360"/>
          </a:xfrm>
          <a:prstGeom prst="ellipse">
            <a:avLst/>
          </a:prstGeom>
          <a:solidFill>
            <a:srgbClr val="6C5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34747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02B5C"/>
                </a:solidFill>
                <a:latin typeface="Calibri"/>
              </a:rPr>
              <a:t>Managed Risk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38221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D2D2D"/>
                </a:solidFill>
                <a:latin typeface="Calibri"/>
              </a:rPr>
              <a:t>Phased three-year roadmap with quick wins first (AI chatbot, blockchain)</a:t>
            </a:r>
          </a:p>
        </p:txBody>
      </p:sp>
      <p:sp>
        <p:nvSpPr>
          <p:cNvPr id="14" name="Oval 13"/>
          <p:cNvSpPr/>
          <p:nvPr/>
        </p:nvSpPr>
        <p:spPr>
          <a:xfrm>
            <a:off x="640080" y="4480560"/>
            <a:ext cx="594360" cy="594360"/>
          </a:xfrm>
          <a:prstGeom prst="ellipse">
            <a:avLst/>
          </a:prstGeom>
          <a:solidFill>
            <a:srgbClr val="FF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443484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02B5C"/>
                </a:solidFill>
                <a:latin typeface="Calibri"/>
              </a:rPr>
              <a:t>Synergy Multiplier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478231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2D2D2D"/>
                </a:solidFill>
                <a:latin typeface="Calibri"/>
              </a:rPr>
              <a:t>Technology synergies create a multiplier effect on ROI</a:t>
            </a:r>
          </a:p>
        </p:txBody>
      </p:sp>
      <p:sp>
        <p:nvSpPr>
          <p:cNvPr id="17" name="Oval 16"/>
          <p:cNvSpPr/>
          <p:nvPr/>
        </p:nvSpPr>
        <p:spPr>
          <a:xfrm>
            <a:off x="640080" y="5440680"/>
            <a:ext cx="594360" cy="594360"/>
          </a:xfrm>
          <a:prstGeom prst="ellipse">
            <a:avLst/>
          </a:prstGeom>
          <a:solidFill>
            <a:srgbClr val="FD79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20" y="53949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02B5C"/>
                </a:solidFill>
                <a:latin typeface="Calibri"/>
              </a:rPr>
              <a:t>Market Leadership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20" y="574243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D2D2D"/>
                </a:solidFill>
                <a:latin typeface="Calibri"/>
              </a:rPr>
              <a:t>Positions NYP as Singapore's leading polytechnic in the digital age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0" y="1554480"/>
            <a:ext cx="5303520" cy="4572000"/>
          </a:xfrm>
          <a:prstGeom prst="round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675120" y="182880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9FDA"/>
                </a:solidFill>
                <a:latin typeface="Calibri"/>
              </a:rPr>
              <a:t>📋  Recommendation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675120" y="2286000"/>
            <a:ext cx="1828800" cy="45720"/>
          </a:xfrm>
          <a:prstGeom prst="rect">
            <a:avLst/>
          </a:prstGeom>
          <a:solidFill>
            <a:srgbClr val="009F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6675120" y="2606040"/>
            <a:ext cx="320040" cy="320040"/>
          </a:xfrm>
          <a:prstGeom prst="ellipse">
            <a:avLst/>
          </a:prstGeom>
          <a:solidFill>
            <a:srgbClr val="009F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720840" y="260604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32320" y="2560320"/>
            <a:ext cx="4297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FFFFFF"/>
                </a:solidFill>
                <a:latin typeface="Calibri"/>
              </a:rPr>
              <a:t>Approve Phase 1 funding
(SGD 3–5M for AI + Blockchain pilots)</a:t>
            </a:r>
          </a:p>
        </p:txBody>
      </p:sp>
      <p:sp>
        <p:nvSpPr>
          <p:cNvPr id="26" name="Oval 25"/>
          <p:cNvSpPr/>
          <p:nvPr/>
        </p:nvSpPr>
        <p:spPr>
          <a:xfrm>
            <a:off x="6675120" y="3337559"/>
            <a:ext cx="320040" cy="320040"/>
          </a:xfrm>
          <a:prstGeom prst="ellipse">
            <a:avLst/>
          </a:prstGeom>
          <a:solidFill>
            <a:srgbClr val="009F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720840" y="3337559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32320" y="3291839"/>
            <a:ext cx="4297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FFFFFF"/>
                </a:solidFill>
                <a:latin typeface="Calibri"/>
              </a:rPr>
              <a:t>Establish Technology
Steering Committee</a:t>
            </a:r>
          </a:p>
        </p:txBody>
      </p:sp>
      <p:sp>
        <p:nvSpPr>
          <p:cNvPr id="29" name="Oval 28"/>
          <p:cNvSpPr/>
          <p:nvPr/>
        </p:nvSpPr>
        <p:spPr>
          <a:xfrm>
            <a:off x="6675120" y="4069080"/>
            <a:ext cx="320040" cy="320040"/>
          </a:xfrm>
          <a:prstGeom prst="ellipse">
            <a:avLst/>
          </a:prstGeom>
          <a:solidFill>
            <a:srgbClr val="009F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720840" y="406908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32320" y="4023360"/>
            <a:ext cx="4297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Begin 5G partnership
discussions with Singtel/StarHub</a:t>
            </a:r>
          </a:p>
        </p:txBody>
      </p:sp>
      <p:sp>
        <p:nvSpPr>
          <p:cNvPr id="32" name="Oval 31"/>
          <p:cNvSpPr/>
          <p:nvPr/>
        </p:nvSpPr>
        <p:spPr>
          <a:xfrm>
            <a:off x="6675120" y="4800600"/>
            <a:ext cx="320040" cy="320040"/>
          </a:xfrm>
          <a:prstGeom prst="ellipse">
            <a:avLst/>
          </a:prstGeom>
          <a:solidFill>
            <a:srgbClr val="009F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720840" y="480060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32320" y="4754880"/>
            <a:ext cx="4297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Commission VR lab
prototype development</a:t>
            </a:r>
          </a:p>
        </p:txBody>
      </p:sp>
      <p:sp>
        <p:nvSpPr>
          <p:cNvPr id="35" name="Oval 34"/>
          <p:cNvSpPr/>
          <p:nvPr/>
        </p:nvSpPr>
        <p:spPr>
          <a:xfrm>
            <a:off x="6675120" y="5532120"/>
            <a:ext cx="320040" cy="320040"/>
          </a:xfrm>
          <a:prstGeom prst="ellipse">
            <a:avLst/>
          </a:prstGeom>
          <a:solidFill>
            <a:srgbClr val="009F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720840" y="553212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132320" y="5486400"/>
            <a:ext cx="4297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Set up data governance
framework (PDPA compliance)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457200" y="65653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C757D"/>
                </a:solidFill>
                <a:latin typeface="Calibri"/>
              </a:rPr>
              <a:t>NYP Emerging Technologies Proposal  |  Feb 2026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277295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C757D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9144000" y="-1828800"/>
            <a:ext cx="7315200" cy="7315200"/>
          </a:xfrm>
          <a:prstGeom prst="ellipse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-2743200" y="3657600"/>
            <a:ext cx="6400800" cy="6400800"/>
          </a:xfrm>
          <a:prstGeom prst="ellipse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828800" y="1371600"/>
            <a:ext cx="182880" cy="182880"/>
          </a:xfrm>
          <a:prstGeom prst="ellipse">
            <a:avLst/>
          </a:prstGeom>
          <a:solidFill>
            <a:srgbClr val="009F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0058400" y="914400"/>
            <a:ext cx="182880" cy="182880"/>
          </a:xfrm>
          <a:prstGeom prst="ellipse">
            <a:avLst/>
          </a:prstGeom>
          <a:solidFill>
            <a:srgbClr val="009F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914400" y="5486400"/>
            <a:ext cx="182880" cy="182880"/>
          </a:xfrm>
          <a:prstGeom prst="ellipse">
            <a:avLst/>
          </a:prstGeom>
          <a:solidFill>
            <a:srgbClr val="009F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10972800" y="5943600"/>
            <a:ext cx="182880" cy="182880"/>
          </a:xfrm>
          <a:prstGeom prst="ellipse">
            <a:avLst/>
          </a:prstGeom>
          <a:solidFill>
            <a:srgbClr val="009F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164592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0" b="1">
                <a:solidFill>
                  <a:srgbClr val="FFFFFF"/>
                </a:solidFill>
                <a:latin typeface="Calibri Light"/>
              </a:rPr>
              <a:t>Thank You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0" y="3200400"/>
            <a:ext cx="2103120" cy="54864"/>
          </a:xfrm>
          <a:prstGeom prst="rect">
            <a:avLst/>
          </a:prstGeom>
          <a:solidFill>
            <a:srgbClr val="009F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1033272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dirty="0">
                <a:solidFill>
                  <a:schemeClr val="accent3">
                    <a:lumMod val="60000"/>
                    <a:lumOff val="40000"/>
                  </a:schemeClr>
                </a:solidFill>
                <a:latin typeface="Calibri Light"/>
              </a:rPr>
              <a:t>Questions &amp; Discussion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97280" y="4754880"/>
            <a:ext cx="2103120" cy="1005840"/>
          </a:xfrm>
          <a:prstGeom prst="roundRect">
            <a:avLst/>
          </a:prstGeom>
          <a:solidFill>
            <a:srgbClr val="6C5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234440" y="489204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🤖  Clifton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5257800"/>
            <a:ext cx="18288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FFFFFF"/>
                </a:solidFill>
                <a:latin typeface="Calibri"/>
              </a:rPr>
              <a:t>A</a:t>
            </a:r>
            <a:r>
              <a:rPr lang="en-US" sz="1400" b="0" dirty="0">
                <a:solidFill>
                  <a:srgbClr val="FFFFFF"/>
                </a:solidFill>
                <a:latin typeface="Calibri"/>
              </a:rPr>
              <a:t>rtificial Intelligence (AI)</a:t>
            </a:r>
            <a:endParaRPr sz="1400" b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3474720" y="4754880"/>
            <a:ext cx="2103120" cy="1005840"/>
          </a:xfrm>
          <a:prstGeom prst="roundRect">
            <a:avLst/>
          </a:prstGeom>
          <a:solidFill>
            <a:srgbClr val="00B8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611880" y="489204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🥽  Collin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11880" y="5257800"/>
            <a:ext cx="20574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FFFFFF"/>
                </a:solidFill>
                <a:latin typeface="Calibri"/>
              </a:rPr>
              <a:t>V</a:t>
            </a:r>
            <a:r>
              <a:rPr lang="en-US" sz="1400" b="0" dirty="0">
                <a:solidFill>
                  <a:srgbClr val="FFFFFF"/>
                </a:solidFill>
                <a:latin typeface="Calibri"/>
              </a:rPr>
              <a:t>irtual Reality / Augmented Reality</a:t>
            </a:r>
            <a:endParaRPr sz="1400" b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5852160" y="4754880"/>
            <a:ext cx="2103120" cy="1005840"/>
          </a:xfrm>
          <a:prstGeom prst="roundRect">
            <a:avLst/>
          </a:prstGeom>
          <a:solidFill>
            <a:srgbClr val="FD79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989320" y="489204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📡  Alex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89320" y="525780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FFFFFF"/>
                </a:solidFill>
                <a:latin typeface="Calibri"/>
              </a:rPr>
              <a:t>5G &amp; Edge</a:t>
            </a:r>
            <a:r>
              <a:rPr lang="en-US" sz="1400" b="0" dirty="0">
                <a:solidFill>
                  <a:srgbClr val="FFFFFF"/>
                </a:solidFill>
                <a:latin typeface="Calibri"/>
              </a:rPr>
              <a:t> Computing</a:t>
            </a:r>
            <a:endParaRPr sz="1400" b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20" name="Rounded Rectangle 19"/>
          <p:cNvSpPr/>
          <p:nvPr/>
        </p:nvSpPr>
        <p:spPr>
          <a:xfrm>
            <a:off x="8229600" y="4754880"/>
            <a:ext cx="2103120" cy="1005840"/>
          </a:xfrm>
          <a:prstGeom prst="roundRect">
            <a:avLst/>
          </a:prstGeom>
          <a:solidFill>
            <a:srgbClr val="00CC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366760" y="489204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🔗  Declan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66760" y="525780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FFFFFF"/>
                </a:solidFill>
                <a:latin typeface="Calibri"/>
              </a:rPr>
              <a:t>Blockchain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4206240"/>
            <a:ext cx="1033272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dirty="0">
                <a:solidFill>
                  <a:srgbClr val="FFFF00"/>
                </a:solidFill>
                <a:latin typeface="Calibri"/>
              </a:rPr>
              <a:t>Nanyang Polytechnic  • </a:t>
            </a:r>
            <a:r>
              <a:rPr lang="en-US" sz="1600" dirty="0">
                <a:solidFill>
                  <a:srgbClr val="FFFF00"/>
                </a:solidFill>
                <a:latin typeface="Calibri"/>
              </a:rPr>
              <a:t> </a:t>
            </a:r>
            <a:r>
              <a:rPr lang="en-US" sz="1600" b="0" dirty="0">
                <a:solidFill>
                  <a:srgbClr val="FFFF00"/>
                </a:solidFill>
                <a:latin typeface="Calibri"/>
              </a:rPr>
              <a:t>19 </a:t>
            </a:r>
            <a:r>
              <a:rPr sz="1600" b="0" dirty="0">
                <a:solidFill>
                  <a:srgbClr val="FFFF00"/>
                </a:solidFill>
                <a:latin typeface="Calibri"/>
              </a:rPr>
              <a:t>February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318</TotalTime>
  <Words>2285</Words>
  <Application>Microsoft Office PowerPoint</Application>
  <PresentationFormat>Widescreen</PresentationFormat>
  <Paragraphs>435</Paragraphs>
  <Slides>22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7" baseType="lpstr">
      <vt:lpstr>Aptos</vt:lpstr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Clifton Chen</dc:creator>
  <cp:keywords/>
  <dc:description>generated using python-pptx</dc:description>
  <cp:lastModifiedBy>Clifton Chen</cp:lastModifiedBy>
  <cp:revision>8</cp:revision>
  <dcterms:created xsi:type="dcterms:W3CDTF">2013-01-27T09:14:16Z</dcterms:created>
  <dcterms:modified xsi:type="dcterms:W3CDTF">2026-02-18T17:06:25Z</dcterms:modified>
  <cp:category/>
</cp:coreProperties>
</file>