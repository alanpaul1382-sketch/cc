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5706" autoAdjust="0"/>
  </p:normalViewPr>
  <p:slideViewPr>
    <p:cSldViewPr snapToGrid="0" snapToObjects="1">
      <p:cViewPr varScale="1">
        <p:scale>
          <a:sx n="95" d="100"/>
          <a:sy n="95" d="100"/>
        </p:scale>
        <p:origin x="17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EdTech Market Size Comparison</a:t>
            </a:r>
          </a:p>
        </c:rich>
      </c:tx>
      <c:overlay val="0"/>
    </c:title>
    <c:autoTitleDeleted val="0"/>
    <c:plotArea>
      <c:layout/>
      <c:barChart>
        <c:barDir val="col"/>
        <c:grouping val="clustered"/>
        <c:varyColors val="1"/>
        <c:ser>
          <c:idx val="0"/>
          <c:order val="0"/>
          <c:tx>
            <c:strRef>
              <c:f>Sheet1!$B$1</c:f>
              <c:strCache>
                <c:ptCount val="1"/>
                <c:pt idx="0">
                  <c:v>2024</c:v>
                </c:pt>
              </c:strCache>
            </c:strRef>
          </c:tx>
          <c:spPr>
            <a:solidFill>
              <a:srgbClr val="009FDA"/>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Global
EdTech</c:v>
                </c:pt>
                <c:pt idx="1">
                  <c:v>Asia-
Pacific</c:v>
                </c:pt>
                <c:pt idx="2">
                  <c:v>Singapore</c:v>
                </c:pt>
              </c:strCache>
            </c:strRef>
          </c:cat>
          <c:val>
            <c:numRef>
              <c:f>Sheet1!$B$2:$B$4</c:f>
              <c:numCache>
                <c:formatCode>General</c:formatCode>
                <c:ptCount val="3"/>
                <c:pt idx="0">
                  <c:v>459</c:v>
                </c:pt>
                <c:pt idx="1">
                  <c:v>155.19999999999999</c:v>
                </c:pt>
                <c:pt idx="2">
                  <c:v>1.75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EF-46AE-9E8B-61BBEDAE2FC5}"/>
            </c:ext>
          </c:extLst>
        </c:ser>
        <c:ser>
          <c:idx val="1"/>
          <c:order val="1"/>
          <c:tx>
            <c:strRef>
              <c:f>Sheet1!$C$1</c:f>
              <c:strCache>
                <c:ptCount val="1"/>
                <c:pt idx="0">
                  <c:v>2027 (Projected)</c:v>
                </c:pt>
              </c:strCache>
            </c:strRef>
          </c:tx>
          <c:spPr>
            <a:solidFill>
              <a:srgbClr val="0A1F44"/>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Global
EdTech</c:v>
                </c:pt>
                <c:pt idx="1">
                  <c:v>Asia-
Pacific</c:v>
                </c:pt>
                <c:pt idx="2">
                  <c:v>Singapore</c:v>
                </c:pt>
              </c:strCache>
            </c:strRef>
          </c:cat>
          <c:val>
            <c:numRef>
              <c:f>Sheet1!$C$2:$C$4</c:f>
              <c:numCache>
                <c:formatCode>General</c:formatCode>
                <c:ptCount val="3"/>
                <c:pt idx="0">
                  <c:v>816.8</c:v>
                </c:pt>
                <c:pt idx="1">
                  <c:v>310.5</c:v>
                </c:pt>
                <c:pt idx="2">
                  <c:v>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4EF-46AE-9E8B-61BBEDAE2FC5}"/>
            </c:ext>
          </c:extLst>
        </c:ser>
        <c:dLbls>
          <c:showLegendKey val="0"/>
          <c:showVal val="0"/>
          <c:showCatName val="0"/>
          <c:showSerName val="0"/>
          <c:showPercent val="0"/>
          <c:showBubbleSize val="0"/>
        </c:dLbls>
        <c:gapWidth val="80"/>
        <c:axId val="-2068027336"/>
        <c:axId val="-2113994440"/>
      </c:barChart>
      <c:catAx>
        <c:axId val="-2068027336"/>
        <c:scaling>
          <c:orientation val="minMax"/>
        </c:scaling>
        <c:delete val="0"/>
        <c:axPos val="b"/>
        <c:title>
          <c:tx>
            <c:rich>
              <a:bodyPr/>
              <a:lstStyle/>
              <a:p>
                <a:pPr>
                  <a:defRPr sz="1400" b="0"/>
                </a:pPr>
                <a:r>
                  <a:rPr lang="en-US" sz="1400" b="0" dirty="0"/>
                  <a:t>Market</a:t>
                </a:r>
                <a:endParaRPr lang="en-SG" sz="1400" b="0" dirty="0"/>
              </a:p>
            </c:rich>
          </c:tx>
          <c:overlay val="0"/>
        </c:title>
        <c:numFmt formatCode="General" sourceLinked="0"/>
        <c:majorTickMark val="out"/>
        <c:minorTickMark val="none"/>
        <c:tickLblPos val="nextTo"/>
        <c:txPr>
          <a:bodyPr/>
          <a:lstStyle/>
          <a:p>
            <a:pPr>
              <a:defRPr sz="1400"/>
            </a:pPr>
            <a:endParaRPr lang="en-US"/>
          </a:p>
        </c:txPr>
        <c:crossAx val="-2113994440"/>
        <c:crossesAt val="0"/>
        <c:auto val="1"/>
        <c:lblAlgn val="ctr"/>
        <c:lblOffset val="100"/>
        <c:noMultiLvlLbl val="0"/>
      </c:catAx>
      <c:valAx>
        <c:axId val="-2113994440"/>
        <c:scaling>
          <c:orientation val="minMax"/>
        </c:scaling>
        <c:delete val="0"/>
        <c:axPos val="l"/>
        <c:majorGridlines/>
        <c:title>
          <c:tx>
            <c:rich>
              <a:bodyPr/>
              <a:lstStyle/>
              <a:p>
                <a:pPr>
                  <a:defRPr sz="1400" b="0"/>
                </a:pPr>
                <a:r>
                  <a:rPr lang="en-SG" sz="1400" b="0" dirty="0"/>
                  <a:t>Market Size (SGD Billions)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AI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3.75</c:v>
                </c:pt>
                <c:pt idx="1">
                  <c:v>1.5</c:v>
                </c:pt>
                <c:pt idx="2">
                  <c:v>1.5</c:v>
                </c:pt>
                <c:pt idx="3">
                  <c:v>1.5</c:v>
                </c:pt>
                <c:pt idx="4">
                  <c:v>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CC4-4102-BFD8-CFC2CFE3E48A}"/>
            </c:ext>
          </c:extLst>
        </c:ser>
        <c:ser>
          <c:idx val="1"/>
          <c:order val="1"/>
          <c:tx>
            <c:strRef>
              <c:f>Sheet1!$C$1</c:f>
              <c:strCache>
                <c:ptCount val="1"/>
                <c:pt idx="0">
                  <c:v>Returns</c:v>
                </c:pt>
              </c:strCache>
            </c:strRef>
          </c:tx>
          <c:spPr>
            <a:solidFill>
              <a:srgbClr val="00A65A"/>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2</c:v>
                </c:pt>
                <c:pt idx="1">
                  <c:v>6.5</c:v>
                </c:pt>
                <c:pt idx="2">
                  <c:v>7.5</c:v>
                </c:pt>
                <c:pt idx="3">
                  <c:v>8</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CC4-4102-BFD8-CFC2CFE3E48A}"/>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layout>
        <c:manualLayout>
          <c:xMode val="edge"/>
          <c:yMode val="edge"/>
          <c:x val="0.34762594779819184"/>
          <c:y val="0.88586949092300982"/>
          <c:w val="0.41817403032954215"/>
          <c:h val="8.374856463254593E-2"/>
        </c:manualLayout>
      </c:layout>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VR/AR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3.6</c:v>
                </c:pt>
                <c:pt idx="1">
                  <c:v>0.4</c:v>
                </c:pt>
                <c:pt idx="2">
                  <c:v>0.4</c:v>
                </c:pt>
                <c:pt idx="3">
                  <c:v>0.4</c:v>
                </c:pt>
                <c:pt idx="4">
                  <c:v>0.4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8C8-4293-9602-D2A22DD85F86}"/>
            </c:ext>
          </c:extLst>
        </c:ser>
        <c:ser>
          <c:idx val="1"/>
          <c:order val="1"/>
          <c:tx>
            <c:strRef>
              <c:f>Sheet1!$C$1</c:f>
              <c:strCache>
                <c:ptCount val="1"/>
                <c:pt idx="0">
                  <c:v>Returns</c:v>
                </c:pt>
              </c:strCache>
            </c:strRef>
          </c:tx>
          <c:spPr>
            <a:solidFill>
              <a:srgbClr val="00B894"/>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1.5</c:v>
                </c:pt>
                <c:pt idx="1">
                  <c:v>3.5</c:v>
                </c:pt>
                <c:pt idx="2">
                  <c:v>3.5</c:v>
                </c:pt>
                <c:pt idx="3">
                  <c:v>3.5</c:v>
                </c:pt>
                <c:pt idx="4">
                  <c:v>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8C8-4293-9602-D2A22DD85F86}"/>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dirty="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a:t>5G &amp; Edge Computing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00B0F0"/>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4.25</c:v>
                </c:pt>
                <c:pt idx="1">
                  <c:v>2</c:v>
                </c:pt>
                <c:pt idx="2">
                  <c:v>1.5</c:v>
                </c:pt>
                <c:pt idx="3">
                  <c:v>1</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6D3-478D-92FF-07456B83FA14}"/>
            </c:ext>
          </c:extLst>
        </c:ser>
        <c:ser>
          <c:idx val="1"/>
          <c:order val="1"/>
          <c:tx>
            <c:strRef>
              <c:f>Sheet1!$C$1</c:f>
              <c:strCache>
                <c:ptCount val="1"/>
                <c:pt idx="0">
                  <c:v>Returns</c:v>
                </c:pt>
              </c:strCache>
            </c:strRef>
          </c:tx>
          <c:spPr>
            <a:solidFill>
              <a:srgbClr val="C050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0.5</c:v>
                </c:pt>
                <c:pt idx="1">
                  <c:v>2</c:v>
                </c:pt>
                <c:pt idx="2">
                  <c:v>3.5</c:v>
                </c:pt>
                <c:pt idx="3">
                  <c:v>4.5</c:v>
                </c:pt>
                <c:pt idx="4">
                  <c:v>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6D3-478D-92FF-07456B83FA14}"/>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Blockchain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1.5</c:v>
                </c:pt>
                <c:pt idx="1">
                  <c:v>0.4</c:v>
                </c:pt>
                <c:pt idx="2">
                  <c:v>0.3</c:v>
                </c:pt>
                <c:pt idx="3">
                  <c:v>0.2</c:v>
                </c:pt>
                <c:pt idx="4">
                  <c:v>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944-45C9-BCC4-4EBAF731E4E1}"/>
            </c:ext>
          </c:extLst>
        </c:ser>
        <c:ser>
          <c:idx val="1"/>
          <c:order val="1"/>
          <c:tx>
            <c:strRef>
              <c:f>Sheet1!$C$1</c:f>
              <c:strCache>
                <c:ptCount val="1"/>
                <c:pt idx="0">
                  <c:v>Returns</c:v>
                </c:pt>
              </c:strCache>
            </c:strRef>
          </c:tx>
          <c:spPr>
            <a:solidFill>
              <a:srgbClr val="00CCD3"/>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0.2</c:v>
                </c:pt>
                <c:pt idx="1">
                  <c:v>0.5</c:v>
                </c:pt>
                <c:pt idx="2">
                  <c:v>0.8</c:v>
                </c:pt>
                <c:pt idx="3">
                  <c:v>1</c:v>
                </c:pt>
                <c:pt idx="4">
                  <c:v>1.2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944-45C9-BCC4-4EBAF731E4E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crossAx val="-2068027336"/>
        <c:crosses val="autoZero"/>
        <c:crossBetween val="between"/>
      </c:valAx>
    </c:plotArea>
    <c:legend>
      <c:legendPos val="b"/>
      <c:layout>
        <c:manualLayout>
          <c:xMode val="edge"/>
          <c:yMode val="edge"/>
          <c:x val="0.30609397783610381"/>
          <c:y val="0.86146277613735778"/>
          <c:w val="0.38781204432779237"/>
          <c:h val="9.9474723862642167E-2"/>
        </c:manualLayout>
      </c:layout>
      <c:overlay val="0"/>
      <c:txPr>
        <a:bodyPr/>
        <a:lstStyle/>
        <a:p>
          <a:pPr>
            <a:defRPr sz="1400"/>
          </a:pPr>
          <a:endParaRPr lang="en-US"/>
        </a:p>
      </c:txPr>
    </c:legend>
    <c:plotVisOnly val="1"/>
    <c:dispBlanksAs val="gap"/>
    <c:showDLblsOverMax val="1"/>
  </c:chart>
  <c:txPr>
    <a:bodyPr/>
    <a:lstStyle/>
    <a:p>
      <a:pPr>
        <a:defRPr sz="16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400"/>
            </a:pPr>
            <a:r>
              <a:rPr lang="en-US" sz="1400" dirty="0"/>
              <a:t>5-Year Net Return (SGD Millions)</a:t>
            </a:r>
          </a:p>
        </c:rich>
      </c:tx>
      <c:overlay val="0"/>
    </c:title>
    <c:autoTitleDeleted val="0"/>
    <c:plotArea>
      <c:layout/>
      <c:pieChart>
        <c:varyColors val="1"/>
        <c:ser>
          <c:idx val="0"/>
          <c:order val="0"/>
          <c:tx>
            <c:strRef>
              <c:f>Sheet1!$B$1</c:f>
              <c:strCache>
                <c:ptCount val="1"/>
                <c:pt idx="0">
                  <c:v>5-Year Net Return (SGD M)</c:v>
                </c:pt>
              </c:strCache>
            </c:strRef>
          </c:tx>
          <c:spPr>
            <a:ln>
              <a:solidFill>
                <a:schemeClr val="bg2"/>
              </a:solidFill>
            </a:ln>
          </c:spPr>
          <c:dPt>
            <c:idx val="0"/>
            <c:bubble3D val="0"/>
            <c:spPr>
              <a:solidFill>
                <a:schemeClr val="accent3">
                  <a:lumMod val="40000"/>
                  <a:lumOff val="60000"/>
                </a:schemeClr>
              </a:solidFill>
              <a:ln>
                <a:solidFill>
                  <a:schemeClr val="accent3">
                    <a:lumMod val="40000"/>
                    <a:lumOff val="60000"/>
                  </a:schemeClr>
                </a:solidFill>
              </a:ln>
            </c:spPr>
            <c:extLst>
              <c:ext xmlns:c16="http://schemas.microsoft.com/office/drawing/2014/chart" uri="{C3380CC4-5D6E-409C-BE32-E72D297353CC}">
                <c16:uniqueId val="{00000001-C8D8-4657-96EA-9DD18DC683B7}"/>
              </c:ext>
            </c:extLst>
          </c:dPt>
          <c:dPt>
            <c:idx val="1"/>
            <c:bubble3D val="0"/>
            <c:spPr>
              <a:solidFill>
                <a:srgbClr val="00B894"/>
              </a:solidFill>
              <a:ln>
                <a:solidFill>
                  <a:schemeClr val="bg2"/>
                </a:solidFill>
              </a:ln>
            </c:spPr>
            <c:extLst>
              <c:ext xmlns:c16="http://schemas.microsoft.com/office/drawing/2014/chart" uri="{C3380CC4-5D6E-409C-BE32-E72D297353CC}">
                <c16:uniqueId val="{00000003-C8D8-4657-96EA-9DD18DC683B7}"/>
              </c:ext>
            </c:extLst>
          </c:dPt>
          <c:dPt>
            <c:idx val="2"/>
            <c:bubble3D val="0"/>
            <c:spPr>
              <a:solidFill>
                <a:srgbClr val="FD7936"/>
              </a:solidFill>
              <a:ln>
                <a:solidFill>
                  <a:schemeClr val="bg2"/>
                </a:solidFill>
              </a:ln>
            </c:spPr>
            <c:extLst>
              <c:ext xmlns:c16="http://schemas.microsoft.com/office/drawing/2014/chart" uri="{C3380CC4-5D6E-409C-BE32-E72D297353CC}">
                <c16:uniqueId val="{00000005-C8D8-4657-96EA-9DD18DC683B7}"/>
              </c:ext>
            </c:extLst>
          </c:dPt>
          <c:dPt>
            <c:idx val="3"/>
            <c:bubble3D val="0"/>
            <c:spPr>
              <a:solidFill>
                <a:srgbClr val="00CCD3"/>
              </a:solidFill>
              <a:ln>
                <a:solidFill>
                  <a:schemeClr val="bg2"/>
                </a:solidFill>
              </a:ln>
            </c:spPr>
            <c:extLst>
              <c:ext xmlns:c16="http://schemas.microsoft.com/office/drawing/2014/chart" uri="{C3380CC4-5D6E-409C-BE32-E72D297353CC}">
                <c16:uniqueId val="{00000007-C8D8-4657-96EA-9DD18DC683B7}"/>
              </c:ext>
            </c:extLst>
          </c:dPt>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Sheet1!$A$2:$A$5</c:f>
              <c:strCache>
                <c:ptCount val="4"/>
                <c:pt idx="0">
                  <c:v>AI</c:v>
                </c:pt>
                <c:pt idx="1">
                  <c:v>VR/AR</c:v>
                </c:pt>
                <c:pt idx="2">
                  <c:v>5G &amp; Edge</c:v>
                </c:pt>
                <c:pt idx="3">
                  <c:v>Blockchain</c:v>
                </c:pt>
              </c:strCache>
            </c:strRef>
          </c:cat>
          <c:val>
            <c:numRef>
              <c:f>Sheet1!$B$2:$B$5</c:f>
              <c:numCache>
                <c:formatCode>General</c:formatCode>
                <c:ptCount val="4"/>
                <c:pt idx="0">
                  <c:v>15.6</c:v>
                </c:pt>
                <c:pt idx="1">
                  <c:v>10.3</c:v>
                </c:pt>
                <c:pt idx="2">
                  <c:v>4.8</c:v>
                </c:pt>
                <c:pt idx="3">
                  <c:v>1.59</c:v>
                </c:pt>
              </c:numCache>
            </c:numRef>
          </c:val>
          <c:extLst>
            <c:ext xmlns:c16="http://schemas.microsoft.com/office/drawing/2014/chart" uri="{C3380CC4-5D6E-409C-BE32-E72D297353CC}">
              <c16:uniqueId val="{00000008-C8D8-4657-96EA-9DD18DC683B7}"/>
            </c:ext>
          </c:extLst>
        </c:ser>
        <c:dLbls>
          <c:showLegendKey val="0"/>
          <c:showVal val="0"/>
          <c:showCatName val="0"/>
          <c:showSerName val="0"/>
          <c:showPercent val="0"/>
          <c:showBubbleSize val="0"/>
          <c:showLeaderLines val="1"/>
        </c:dLbls>
        <c:firstSliceAng val="0"/>
      </c:pieChart>
    </c:plotArea>
    <c:legend>
      <c:legendPos val="l"/>
      <c:layout>
        <c:manualLayout>
          <c:xMode val="edge"/>
          <c:yMode val="edge"/>
          <c:x val="2.6614824806693246E-2"/>
          <c:y val="0.22540234981651111"/>
          <c:w val="0.25584344428897787"/>
          <c:h val="0.62828737012618063"/>
        </c:manualLayout>
      </c:layout>
      <c:overlay val="1"/>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488358-CE1D-4105-A4E8-A5EFE35A96D8}" type="datetimeFigureOut">
              <a:rPr lang="en-SG" smtClean="0"/>
              <a:t>22/2/2026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15E3E3-35E6-4890-8A0A-99047F4971E8}" type="slidenum">
              <a:rPr lang="en-SG" smtClean="0"/>
              <a:t>‹#›</a:t>
            </a:fld>
            <a:endParaRPr lang="en-SG"/>
          </a:p>
        </p:txBody>
      </p:sp>
    </p:spTree>
    <p:extLst>
      <p:ext uri="{BB962C8B-B14F-4D97-AF65-F5344CB8AC3E}">
        <p14:creationId xmlns:p14="http://schemas.microsoft.com/office/powerpoint/2010/main" val="456455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everyone. We are Group 6, and today we will be presenting our team proposal on Emerging Technologies for Nanyang Polytechnic.</a:t>
            </a:r>
          </a:p>
          <a:p>
            <a:endParaRPr/>
          </a:p>
          <a:p>
            <a:r>
              <a:t>Our team consists of four members, each focusing on a specific emerging technology:</a:t>
            </a:r>
          </a:p>
          <a:p>
            <a:r>
              <a:t>- Clifton Chen Yi, our Team Lead, covers Artificial Intelligence.</a:t>
            </a:r>
          </a:p>
          <a:p>
            <a:r>
              <a:t>- Collin Koh Soon Ming focuses on Immersive Media, specifically VR and AR.</a:t>
            </a:r>
          </a:p>
          <a:p>
            <a:r>
              <a:t>- Shin Thant Aung Alex handles 5G and Edge Computing.</a:t>
            </a:r>
          </a:p>
          <a:p>
            <a:r>
              <a:t>- Declan Chua Yuan Lok is responsible for Blockchain-Based Certificate Verification.</a:t>
            </a:r>
          </a:p>
          <a:p>
            <a:endParaRPr/>
          </a:p>
          <a:p>
            <a:r>
              <a:t>We chose Nanyang Polytechnic in the Education sector as our organization. Our proposal explores how these four frontier technologies, identified in the IMDA Technology Roadmap, can enhance NYP's educational offerings, improve operational efficiency, and maintain its competitive edge.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agenda for today's presentation. We will cover eight key sections.</a:t>
            </a:r>
          </a:p>
          <a:p>
            <a:endParaRPr/>
          </a:p>
          <a:p>
            <a:r>
              <a:t>First, we will present the Executive Summary with our key findings and investment highlights.</a:t>
            </a:r>
          </a:p>
          <a:p>
            <a:r>
              <a:t>Then we will profile Nanyang Polytechnic and its educational value chain.</a:t>
            </a:r>
          </a:p>
          <a:p>
            <a:r>
              <a:t>Next, we will discuss six core problems and challenges NYP currently faces, mapped to the value chain.</a:t>
            </a:r>
          </a:p>
          <a:p>
            <a:r>
              <a:t>We will then look at the market opportunity, including market sizing and revenue potential.</a:t>
            </a:r>
          </a:p>
          <a:p>
            <a:r>
              <a:t>The core of our presentation covers the four technology solutions: AI, VR/AR, 5G and Edge Computing, and Blockchain.</a:t>
            </a:r>
          </a:p>
          <a:p>
            <a:r>
              <a:t>After that, we will present the consolidated investment and ROI analysis.</a:t>
            </a:r>
          </a:p>
          <a:p>
            <a:r>
              <a:t>We will outline our three-phase implementation roadmap and show how the technologies create synergy.</a:t>
            </a:r>
          </a:p>
          <a:p>
            <a:r>
              <a:t>Finally, we will conclude with our recommendations and next steps.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start with our Executive Summary.</a:t>
            </a:r>
          </a:p>
          <a:p>
            <a:endParaRPr dirty="0"/>
          </a:p>
          <a:p>
            <a:r>
              <a:rPr dirty="0"/>
              <a:t>The total estimated Year 1 investment across all four technologies ranges from SGD 8.8 to 17.1 million, with projected annual returns of SGD 10.5 to 23 million in combined revenue and cost savings.</a:t>
            </a:r>
          </a:p>
          <a:p>
            <a:endParaRPr dirty="0"/>
          </a:p>
          <a:p>
            <a:r>
              <a:rPr dirty="0"/>
              <a:t>The breakeven period is estimated at 1 to 2 years, and the combined five-year net return is approximately SGD 32.3 million.</a:t>
            </a:r>
          </a:p>
          <a:p>
            <a:endParaRPr dirty="0"/>
          </a:p>
          <a:p>
            <a:r>
              <a:rPr dirty="0"/>
              <a:t>Here are the highlights for each technology:</a:t>
            </a:r>
          </a:p>
          <a:p>
            <a:r>
              <a:rPr dirty="0"/>
              <a:t>AI can reduce administrative costs by SGD 2 to 4 million per year and improve student retention by 10 to 15 percent through adaptive learning and predictive analytics.</a:t>
            </a:r>
          </a:p>
          <a:p>
            <a:r>
              <a:rPr dirty="0"/>
              <a:t>VR/AR can expand practical training capacity beyond physical lab constraints, with the potential to generate SGD 2 to 5 million per year in B2B licensing revenue.</a:t>
            </a:r>
          </a:p>
          <a:p>
            <a:r>
              <a:rPr dirty="0"/>
              <a:t>5G and Edge Computing serve as the foundational infrastructure for a smart campus, lowering energy costs by 10 to 15 percent.</a:t>
            </a:r>
          </a:p>
          <a:p>
            <a:r>
              <a:rPr dirty="0"/>
              <a:t>Blockchain can reduce credential verification processing time from days to seconds and cut manual verification </a:t>
            </a:r>
            <a:r>
              <a:rPr dirty="0" err="1"/>
              <a:t>labour</a:t>
            </a:r>
            <a:r>
              <a:rPr dirty="0"/>
              <a:t> by 50 to 70 percent.</a:t>
            </a:r>
          </a:p>
          <a:p>
            <a:endParaRPr dirty="0"/>
          </a:p>
          <a:p>
            <a:r>
              <a:rPr dirty="0"/>
              <a:t>A phased three-year implementation roadmap manages risk while the four technologies reinforce one another to form a cohesive smart-campus ecosystem.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introduce our chosen organization, Nanyang Polytechnic.</a:t>
            </a:r>
          </a:p>
          <a:p>
            <a:endParaRPr/>
          </a:p>
          <a:p>
            <a:r>
              <a:t>NYP is one of Singapore's five government-funded polytechnics, established in 1992 and located in Ang Mo Kio. It serves approximately 15,000 full-time students and thousands of continuing-education learners each year.</a:t>
            </a:r>
          </a:p>
          <a:p>
            <a:endParaRPr/>
          </a:p>
          <a:p>
            <a:r>
              <a:t>NYP has six schools: School of Information Technology, School of Engineering, School of Business Management, School of Design and Media, School of Health and Social Sciences, and School of Applied Science.</a:t>
            </a:r>
          </a:p>
          <a:p>
            <a:endParaRPr/>
          </a:p>
          <a:p>
            <a:r>
              <a:t>The annual operating budget is estimated at SGD 200 to 300 million, funded by the Ministry of Education, Singapore.</a:t>
            </a:r>
          </a:p>
          <a:p>
            <a:endParaRPr/>
          </a:p>
          <a:p>
            <a:r>
              <a:t>NYP's mission is to nurture industry-ready professionals through practice-oriented education, empowering learners for work and life, and co-creating with industry for growth and sustainability.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NYP's Educational Value Chain, which encompasses the end-to-end activities that deliver value to its primary customers — students — and its secondary stakeholders — employers, industry partners, and the government.</a:t>
            </a:r>
          </a:p>
          <a:p>
            <a:endParaRPr/>
          </a:p>
          <a:p>
            <a:r>
              <a:t>The value chain consists of eight key activities:</a:t>
            </a:r>
          </a:p>
          <a:p>
            <a:r>
              <a:t>1. Student Recruitment and Admissions — Marketing, outreach, application processing.</a:t>
            </a:r>
          </a:p>
          <a:p>
            <a:r>
              <a:t>2. Curriculum Design and Development — Course creation, industry alignment, pedagogy innovation.</a:t>
            </a:r>
          </a:p>
          <a:p>
            <a:r>
              <a:t>3. Teaching and Learning Delivery — Lectures, tutorials, lab sessions, online learning.</a:t>
            </a:r>
          </a:p>
          <a:p>
            <a:r>
              <a:t>4. Student Support Services — Counseling, career guidance, financial aid.</a:t>
            </a:r>
          </a:p>
          <a:p>
            <a:r>
              <a:t>5. Assessment and Certification — Examinations, grading, diploma issuance, certificate verification.</a:t>
            </a:r>
          </a:p>
          <a:p>
            <a:r>
              <a:t>6. Industry Partnerships and Internships — Collaboration with companies for practical training.</a:t>
            </a:r>
          </a:p>
          <a:p>
            <a:r>
              <a:t>7. Continuing Education and Training (CET) — Lifelong learning programs for working adults.</a:t>
            </a:r>
          </a:p>
          <a:p>
            <a:r>
              <a:t>8. Campus Operations and Infrastructure — Facilities management, IT systems, security.</a:t>
            </a:r>
          </a:p>
          <a:p>
            <a:endParaRPr/>
          </a:p>
          <a:p>
            <a:r>
              <a:t>Each activity represents an area where emerging technologies can create measurable improvements. Our four proposed technologies address challenges across the entire value chain.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NYP faces six pressing challenges that directly affect specific stages of its value chain.</a:t>
            </a:r>
          </a:p>
          <a:p>
            <a:endParaRPr/>
          </a:p>
          <a:p>
            <a:r>
              <a:t>First, Scalability of Personalised Learning: With approximately 15,000 full-time students across diverse disciplines, providing personalized learning experiences is a significant challenge. Lecturers have large class sizes, making it difficult to tailor content to individual learning needs. This impacts Teaching and Learning.</a:t>
            </a:r>
          </a:p>
          <a:p>
            <a:endParaRPr/>
          </a:p>
          <a:p>
            <a:r>
              <a:t>Second, Limited Hands-On Training: Many courses, particularly in engineering, healthcare, and applied sciences, require hands-on practical training. However, physical lab spaces are limited and expensive to maintain. Equipment may be outdated or insufficient. This affects Teaching and Learning, as well as Industry Partnerships.</a:t>
            </a:r>
          </a:p>
          <a:p>
            <a:endParaRPr/>
          </a:p>
          <a:p>
            <a:r>
              <a:t>Third, Campus Connectivity Limitations: The existing network infrastructure faces bandwidth bottlenecks during peak hours with thousands of devices connecting simultaneously. This impacts Campus Operations.</a:t>
            </a:r>
          </a:p>
          <a:p>
            <a:endParaRPr/>
          </a:p>
          <a:p>
            <a:r>
              <a:t>Fourth, Certificate Fraud and Verification Delays: Verification of academic credentials is a time-consuming, manual process taking 3 to 10 working days. This affects Assessment and Certification.</a:t>
            </a:r>
          </a:p>
          <a:p>
            <a:endParaRPr/>
          </a:p>
          <a:p>
            <a:r>
              <a:t>Fifth, Rising Competition: NYP competes with other polytechnics, universities, and private education institutions for student enrollment. This impacts Recruitment.</a:t>
            </a:r>
          </a:p>
          <a:p>
            <a:endParaRPr/>
          </a:p>
          <a:p>
            <a:r>
              <a:t>Sixth, Environmental and Sustainability Concerns: Singapore faces environmental challenges including climate change and energy consumption. NYP has a responsibility to reduce its carbon footprint in line with the SG Green Plan 2030. This affects Campus Operations.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us look at the market opportunity.</a:t>
            </a:r>
          </a:p>
          <a:p>
            <a:endParaRPr/>
          </a:p>
          <a:p>
            <a:r>
              <a:t>The Singapore government allocates approximately SGD 13 billion annually to education, which is about 15 to 20 percent of the national budget, making it the second-largest area of government spending.</a:t>
            </a:r>
          </a:p>
          <a:p>
            <a:endParaRPr/>
          </a:p>
          <a:p>
            <a:r>
              <a:t>The five polytechnics collectively enroll approximately 70,000 full-time students. NYP captures approximately 21 percent of the polytechnic market with its 15,000 students.</a:t>
            </a:r>
          </a:p>
          <a:p>
            <a:endParaRPr/>
          </a:p>
          <a:p>
            <a:r>
              <a:t>The global Education Technology market is estimated at USD 340 billion in 2024, projected to reach USD 605 billion by 2027, representing a compound annual growth rate of approximately 16 percent. The Asia-Pacific EdTech market is estimated at USD 115 billion, growing at approximately 18 percent.</a:t>
            </a:r>
          </a:p>
          <a:p>
            <a:endParaRPr/>
          </a:p>
          <a:p>
            <a:r>
              <a:t>Singapore's EdTech market is estimated at SGD 1.5 to 2 billion, driven by government support through SkillsFuture and IMDA initiatives.</a:t>
            </a:r>
          </a:p>
          <a:p>
            <a:endParaRPr/>
          </a:p>
          <a:p>
            <a:r>
              <a:t>By adopting emerging technologies, NYP can unlock new revenue streams including AI-powered CET courses generating SGD 5 to 10 million, VR content licensing generating SGD 2 to 5 million, blockchain verification services, and smart-campus consulting. The total potential additional revenue is SGD 9.5 to 21 million per year.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will now move into the core of our presentation: the four emerging technology solutions.</a:t>
            </a:r>
          </a:p>
          <a:p>
            <a:endParaRPr/>
          </a:p>
          <a:p>
            <a:r>
              <a:t>Each team member will present their assigned technology and explain how it maps to NYP's value chain. The four technologies are Artificial Intelligence, Immersive Media (VR/AR), 5G and Edge Computing, and Blockchain-Based Certificate Verification.</a:t>
            </a:r>
          </a:p>
          <a:p>
            <a:endParaRPr/>
          </a:p>
          <a:p>
            <a:r>
              <a:t>As shown in our Technology-to-Value-Chain Alignment Matrix, every part of NYP's value chain benefits from at least one of these technologies, ensuring comprehensive coverage of the organization's needs.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 am Clifton, the Team Lead, and I will be presenting on Artificial Intelligence.</a:t>
            </a:r>
          </a:p>
          <a:p>
            <a:endParaRPr dirty="0"/>
          </a:p>
          <a:p>
            <a:r>
              <a:rPr dirty="0"/>
              <a:t>AI encompasses several key technologies relevant to education: Machine Learning algorithms that improve through experience, Natural Language Processing for understanding and generating human language, Computer Vision for interpreting visual information, and Generative AI for content creation and question answering.</a:t>
            </a:r>
          </a:p>
          <a:p>
            <a:endParaRPr dirty="0"/>
          </a:p>
          <a:p>
            <a:r>
              <a:rPr dirty="0"/>
              <a:t>According to the IMDA Technology Roadmap, AI is identified as a critical enabler for Singapore's digital economy.</a:t>
            </a:r>
          </a:p>
          <a:p>
            <a:endParaRPr dirty="0"/>
          </a:p>
          <a:p>
            <a:r>
              <a:rPr dirty="0"/>
              <a:t>There are four key applications of AI at NYP:</a:t>
            </a:r>
          </a:p>
          <a:p>
            <a:endParaRPr dirty="0"/>
          </a:p>
          <a:p>
            <a:r>
              <a:rPr dirty="0"/>
              <a:t>First, Adaptive Learning Platforms: AI-powered systems can personalize the educational experience by analyzing individual learning patterns, recommending customized learning paths, adjusting difficulty levels in real time, and identifying at-risk students early for intervention.</a:t>
            </a:r>
          </a:p>
          <a:p>
            <a:endParaRPr dirty="0"/>
          </a:p>
          <a:p>
            <a:r>
              <a:rPr dirty="0"/>
              <a:t>Second, AI Chatbots: NYP can deploy AI chatbots to handle routine student inquiries on course registration, financial aid, campus facilities, and IT support, providing 24/7 support and reducing administrative workload.</a:t>
            </a:r>
          </a:p>
          <a:p>
            <a:endParaRPr dirty="0"/>
          </a:p>
          <a:p>
            <a:r>
              <a:rPr dirty="0"/>
              <a:t>Third, Automated Assessment: NLP-based tools can grade essays and written assignments with detailed feedback, and AI can auto-grade coding assignments, freeing up lecturers for higher-value activities.</a:t>
            </a:r>
          </a:p>
          <a:p>
            <a:endParaRPr dirty="0"/>
          </a:p>
          <a:p>
            <a:r>
              <a:rPr dirty="0"/>
              <a:t>Fourth, Predictive Analytics: By analyzing historical data on attendance, grades, and engagement, AI models can predict which students are at risk of failing or dropping out, enabling targeted interventions.</a:t>
            </a:r>
          </a:p>
          <a:p>
            <a:endParaRPr dirty="0"/>
          </a:p>
          <a:p>
            <a:r>
              <a:rPr dirty="0"/>
              <a:t>A real-world example: Georgia State University deployed an AI chatbot called Pounce, which reduced summer enrollment melt by 21 percent through proactive engagement.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cover the impact, ROI, and challenges for AI adoption at NYP.</a:t>
            </a:r>
          </a:p>
          <a:p>
            <a:endParaRPr/>
          </a:p>
          <a:p>
            <a:r>
              <a:t>The key benefits include: improved student outcomes and retention rates with an estimated 10 to 15 percent improvement, reduced administrative costs through automation saving SGD 2 to 4 million per year, enhanced competitive positioning as an AI-forward institution, new revenue from AI-powered CET courses generating SGD 5 to 10 million per year, and personalized 24/7 learning and support for students through AI chatbots.</a:t>
            </a:r>
          </a:p>
          <a:p>
            <a:endParaRPr/>
          </a:p>
          <a:p>
            <a:r>
              <a:t>For the financial analysis: the five-year net return is approximately SGD 15.6 million, representing a 226 percent return on total investment, with breakeven achieved within Year 2.</a:t>
            </a:r>
          </a:p>
          <a:p>
            <a:endParaRPr/>
          </a:p>
          <a:p>
            <a:r>
              <a:t>However, there are key challenges to address:</a:t>
            </a:r>
          </a:p>
          <a:p>
            <a:r>
              <a:t>Data Privacy and Ethics: AI systems require large amounts of student data, and NYP must ensure compliance with Singapore's Personal Data Protection Act.</a:t>
            </a:r>
          </a:p>
          <a:p>
            <a:r>
              <a:t>Resistance to Change: Lecturers and staff may be resistant to AI tools they perceive as replacing their roles. Comprehensive change management and training programs are essential.</a:t>
            </a:r>
          </a:p>
          <a:p>
            <a:r>
              <a:t>Data Quality: AI models are only as good as the data they are trained on, so NYP must invest in data governance.</a:t>
            </a:r>
          </a:p>
          <a:p>
            <a:r>
              <a:t>Integration: AI solutions must integrate seamlessly with NYP's existing LMS and IT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everyone, I am Collin, and I will be presenting on Immersive Media, specifically VR and AR.</a:t>
            </a:r>
          </a:p>
          <a:p>
            <a:endParaRPr/>
          </a:p>
          <a:p>
            <a:r>
              <a:t>Immersive Media encompasses three types of technologies:</a:t>
            </a:r>
          </a:p>
          <a:p>
            <a:r>
              <a:t>Virtual Reality fully immerses users in computer-generated 3D environments using headsets like Meta Quest and HTC Vive.</a:t>
            </a:r>
          </a:p>
          <a:p>
            <a:r>
              <a:t>Augmented Reality overlays digital information onto the real world through devices such as smartphones, tablets, or AR glasses like Microsoft HoloLens and Apple Vision Pro.</a:t>
            </a:r>
          </a:p>
          <a:p>
            <a:r>
              <a:t>Mixed Reality blends real and virtual worlds, allowing digital and physical objects to interact in real time.</a:t>
            </a:r>
          </a:p>
          <a:p>
            <a:endParaRPr/>
          </a:p>
          <a:p>
            <a:r>
              <a:t>The global VR/AR market is projected to reach USD 300 billion by 2027, with education being one of the fastest-growing segments.</a:t>
            </a:r>
          </a:p>
          <a:p>
            <a:endParaRPr/>
          </a:p>
          <a:p>
            <a:r>
              <a:t>There are four key applications at NYP:</a:t>
            </a:r>
          </a:p>
          <a:p>
            <a:endParaRPr/>
          </a:p>
          <a:p>
            <a:r>
              <a:t>First, Virtual Labs: VR can create realistic virtual laboratories where students can practice engineering experiments, conduct chemistry and biology experiments safely, and simulate healthcare scenarios for nursing students.</a:t>
            </a:r>
          </a:p>
          <a:p>
            <a:endParaRPr/>
          </a:p>
          <a:p>
            <a:r>
              <a:t>Second, Immersive Learning: AR can enhance classroom learning by overlaying 3D models of complex structures like human anatomy and machine components, allowing students to interact with virtual objects in real time.</a:t>
            </a:r>
          </a:p>
          <a:p>
            <a:endParaRPr/>
          </a:p>
          <a:p>
            <a:r>
              <a:t>Third, Virtual Campus Tours: NYP can create VR-based virtual campus tours for prospective students, particularly valuable for attracting international students.</a:t>
            </a:r>
          </a:p>
          <a:p>
            <a:endParaRPr/>
          </a:p>
          <a:p>
            <a:r>
              <a:t>Fourth, Industry Training Simulations: NYP can develop VR training simulations for CET programs targeting industries such as aviation, construction, and hospitality, which can be licensed to industry partners.</a:t>
            </a:r>
          </a:p>
          <a:p>
            <a:endParaRPr/>
          </a:p>
          <a:p>
            <a:r>
              <a:t>Key fact: VR/AR training improves knowledge retention by 75 percent compared to traditional methods, according to PwC 2022.</a:t>
            </a:r>
          </a:p>
          <a:p>
            <a:endParaRPr/>
          </a:p>
          <a:p>
            <a:r>
              <a:t>Real-world examples include Labster, used by over 3,000 institutions with 200+ virtual lab experiments, and Microsoft HoloLens for 3D holographic anatomy in medical schools.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cover the impact, ROI, and challenges for VR/AR.</a:t>
            </a:r>
          </a:p>
          <a:p>
            <a:endParaRPr/>
          </a:p>
          <a:p>
            <a:r>
              <a:t>The key benefits include: expanding practical training beyond physical lab limits, reducing equipment maintenance costs by 15 to 25 percent, achieving 75 percent better knowledge retention compared to traditional methods, generating B2B licensing revenue of SGD 2 to 5 million per year from industry training simulations, and enhancing student recruitment through virtual campus tours.</a:t>
            </a:r>
          </a:p>
          <a:p>
            <a:endParaRPr/>
          </a:p>
          <a:p>
            <a:r>
              <a:t>For the financial analysis: the five-year net return is approximately SGD 10.3 million, representing a 198 percent return on total investment, with breakeven achieved within Year 2.</a:t>
            </a:r>
          </a:p>
          <a:p>
            <a:endParaRPr/>
          </a:p>
          <a:p>
            <a:r>
              <a:t>The Year 1 investment is estimated at SGD 2.5 to 4.7 million, which includes VR headsets, virtual lab development, AR application development, content creation tools, and a dedicated VR/AR studio space.</a:t>
            </a:r>
          </a:p>
          <a:p>
            <a:endParaRPr/>
          </a:p>
          <a:p>
            <a:r>
              <a:t>Key challenges include:</a:t>
            </a:r>
          </a:p>
          <a:p>
            <a:r>
              <a:t>High Initial Investment: VR/AR hardware and content development require significant upfront investment.</a:t>
            </a:r>
          </a:p>
          <a:p>
            <a:r>
              <a:t>Content Development: Creating high-quality, curriculum-aligned VR/AR content requires specialized skills in 3D modeling, UX design, and instructional design.</a:t>
            </a:r>
          </a:p>
          <a:p>
            <a:r>
              <a:t>Motion Sickness and Accessibility: Some users experience VR-induced motion sickness, and NYP must ensure alternative access methods.</a:t>
            </a:r>
          </a:p>
          <a:p>
            <a:r>
              <a:t>Hardware Refresh: VR/AR hardware evolves rapidly, requiring refresh cycles every 2 to 3 years.</a:t>
            </a:r>
          </a:p>
          <a:p>
            <a:r>
              <a:t>Pedagogical Integration: Lecturers need training on how to effectively integrate VR/AR into their teaching methodology.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 am Alex, and I will be presenting on 5G and Edge Computing.</a:t>
            </a:r>
          </a:p>
          <a:p>
            <a:endParaRPr/>
          </a:p>
          <a:p>
            <a:r>
              <a:t>5G is the latest generation of cellular technology, offering several key capabilities:</a:t>
            </a:r>
          </a:p>
          <a:p>
            <a:r>
              <a:t>Ultra-high speeds of up to 20 Gbps, which is 20 times faster than 4G.</a:t>
            </a:r>
          </a:p>
          <a:p>
            <a:r>
              <a:t>Ultra-low latency as low as 1 millisecond, compared to 30 to 50 milliseconds for 4G.</a:t>
            </a:r>
          </a:p>
          <a:p>
            <a:r>
              <a:t>Massive device connectivity supporting up to 1 million devices per square kilometre.</a:t>
            </a:r>
          </a:p>
          <a:p>
            <a:r>
              <a:t>Network slicing, which creates multiple virtual networks on a single physical infrastructure.</a:t>
            </a:r>
          </a:p>
          <a:p>
            <a:endParaRPr/>
          </a:p>
          <a:p>
            <a:r>
              <a:t>Edge Computing brings computation and data storage closer to the sources of data, rather than relying on centralised cloud data centres. This reduces latency, improves response times, and supports real-time AI and VR applications.</a:t>
            </a:r>
          </a:p>
          <a:p>
            <a:endParaRPr/>
          </a:p>
          <a:p>
            <a:r>
              <a:t>Singapore achieved nationwide standalone 5G coverage in 2025 through operators Singtel and StarHub.</a:t>
            </a:r>
          </a:p>
          <a:p>
            <a:endParaRPr/>
          </a:p>
          <a:p>
            <a:r>
              <a:t>There are four key applications at NYP:</a:t>
            </a:r>
          </a:p>
          <a:p>
            <a:endParaRPr/>
          </a:p>
          <a:p>
            <a:r>
              <a:t>Smart Campus Infrastructure: Deploy thousands of IoT sensors for real-time monitoring of air quality, temperature, lighting, and occupancy. AI-powered energy optimization can reduce campus energy consumption by 10 to 15 percent.</a:t>
            </a:r>
          </a:p>
          <a:p>
            <a:endParaRPr/>
          </a:p>
          <a:p>
            <a:r>
              <a:t>Enhanced Hybrid Learning: 5G enables seamless 4K/8K lecture streaming, real-time collaboration, and live remote lab access with minimal latency.</a:t>
            </a:r>
          </a:p>
          <a:p>
            <a:endParaRPr/>
          </a:p>
          <a:p>
            <a:r>
              <a:t>VR/AR and AI Enabler: 5G provides the high-bandwidth backbone essential for immersive VR/AR workloads and real-time AI applications.</a:t>
            </a:r>
          </a:p>
          <a:p>
            <a:endParaRPr/>
          </a:p>
          <a:p>
            <a:r>
              <a:t>Campus Security: 5G-connected security systems with AI-powered video surveillance, automated access control, and emergency alert systems.</a:t>
            </a:r>
          </a:p>
          <a:p>
            <a:endParaRPr/>
          </a:p>
          <a:p>
            <a:r>
              <a:t>Real-world example: NUS achieved 15 percent energy savings via smart building IoT and edge computing.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let me cover the impact, ROI, and challenges for 5G and Edge Computing.</a:t>
            </a:r>
          </a:p>
          <a:p>
            <a:endParaRPr/>
          </a:p>
          <a:p>
            <a:r>
              <a:t>The key benefits include: modernized campus infrastructure supporting next-generation applications, 10 to 15 percent energy cost savings via smart building management, foundational infrastructure for VR/AR, AI, and IoT initiatives, improved campus safety and security, and students gaining hands-on experience with 5G technology, enhancing their employability.</a:t>
            </a:r>
          </a:p>
          <a:p>
            <a:endParaRPr/>
          </a:p>
          <a:p>
            <a:r>
              <a:t>For the financial analysis: the five-year net return is approximately SGD 4.8 million, representing a 67 percent return on total investment, with breakeven achieved in Year 3 to 4. The longer payback period reflects the infrastructure nature of this investment. Importantly, this infrastructure investment enables and accelerates the ROI of the other three technologies.</a:t>
            </a:r>
          </a:p>
          <a:p>
            <a:endParaRPr/>
          </a:p>
          <a:p>
            <a:r>
              <a:t>The Year 1 investment is estimated at SGD 3.4 to 6.6 million, covering 5G infrastructure, edge computing servers, IoT sensors, network management systems, and integration with existing IT infrastructure.</a:t>
            </a:r>
          </a:p>
          <a:p>
            <a:endParaRPr/>
          </a:p>
          <a:p>
            <a:r>
              <a:t>Key challenges include:</a:t>
            </a:r>
          </a:p>
          <a:p>
            <a:r>
              <a:t>High Infrastructure Costs: NYP may need to partner with telcos like Singtel and StarHub to share costs.</a:t>
            </a:r>
          </a:p>
          <a:p>
            <a:r>
              <a:t>Spectrum and Regulatory Issues: Private 5G networks require spectrum allocation from IMDA.</a:t>
            </a:r>
          </a:p>
          <a:p>
            <a:r>
              <a:t>Cybersecurity Risks: Massive device connectivity increases the attack surface.</a:t>
            </a:r>
          </a:p>
          <a:p>
            <a:r>
              <a:t>Technical Expertise: Managing 5G and edge computing requires specialized skills.</a:t>
            </a:r>
          </a:p>
          <a:p>
            <a:r>
              <a:t>Interoperability: Ensuring seamless integration with existing campus systems is critical.</a:t>
            </a:r>
          </a:p>
        </p:txBody>
      </p:sp>
      <p:sp>
        <p:nvSpPr>
          <p:cNvPr id="4" name="Slide Number Placeholder 3"/>
          <p:cNvSpPr>
            <a:spLocks noGrp="1"/>
          </p:cNvSpPr>
          <p:nvPr>
            <p:ph type="sldNum" sz="quarter" idx="5"/>
          </p:nvPr>
        </p:nvSpPr>
        <p:spPr/>
        <p:txBody>
          <a:bodyPr/>
          <a:lstStyle/>
          <a:p>
            <a:fld id="{4D15E3E3-35E6-4890-8A0A-99047F4971E8}" type="slidenum">
              <a:rPr lang="en-SG" smtClean="0"/>
              <a:t>14</a:t>
            </a:fld>
            <a:endParaRPr lang="en-SG"/>
          </a:p>
        </p:txBody>
      </p:sp>
    </p:spTree>
    <p:extLst>
      <p:ext uri="{BB962C8B-B14F-4D97-AF65-F5344CB8AC3E}">
        <p14:creationId xmlns:p14="http://schemas.microsoft.com/office/powerpoint/2010/main" val="34885145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 I am Declan, and I will be presenting on Blockchain-Based Certificate Verification.</a:t>
            </a:r>
          </a:p>
          <a:p>
            <a:endParaRPr/>
          </a:p>
          <a:p>
            <a:r>
              <a:t>Let me first explain how blockchain works. Blockchain is a decentralised digital ledger commonly known for cryptocurrencies like Bitcoin, but it has many other uses including certificate verification.</a:t>
            </a:r>
          </a:p>
          <a:p>
            <a:r>
              <a:t>It operates on a decentralized network of computers, called nodes, each having an entire copy of the ledger.</a:t>
            </a:r>
          </a:p>
          <a:p>
            <a:r>
              <a:t>Data is grouped into blocks, each containing transactions and a cryptographic hash of the previous block, forming a chain.</a:t>
            </a:r>
          </a:p>
          <a:p>
            <a:r>
              <a:t>Adding a block requires network consensus, making it tamper-proof. Once added, blocks cannot be modified or removed.</a:t>
            </a:r>
          </a:p>
          <a:p>
            <a:endParaRPr/>
          </a:p>
          <a:p>
            <a:r>
              <a:t>There are four key applications at NYP:</a:t>
            </a:r>
          </a:p>
          <a:p>
            <a:endParaRPr/>
          </a:p>
          <a:p>
            <a:r>
              <a:t>Digital Diplomas: NYP can issue all diplomas and certificates as blockchain-verifiable digital certificates. Each certificate is cryptographically signed and stored on blockchain. Employers can instantly verify authenticity without contacting NYP.</a:t>
            </a:r>
          </a:p>
          <a:p>
            <a:endParaRPr/>
          </a:p>
          <a:p>
            <a:r>
              <a:t>Micro-Credentials: Blockchain enables issuance of granular, verifiable skill badges like Python Programming, Data Analysis, and Project Management. These are stackable and shareable on LinkedIn.</a:t>
            </a:r>
          </a:p>
          <a:p>
            <a:endParaRPr/>
          </a:p>
          <a:p>
            <a:r>
              <a:t>Fast Verification: The current manual process takes 3 to 10 working days. With blockchain, an employer inputs the certificate hash and blockchain confirms authenticity in seconds.</a:t>
            </a:r>
          </a:p>
          <a:p>
            <a:endParaRPr/>
          </a:p>
          <a:p>
            <a:r>
              <a:t>Academic Records: A blockchain-based system can store complete student transcripts, enable selective sharing of grades with employers, and facilitate credit transfer between institutions.</a:t>
            </a:r>
          </a:p>
          <a:p>
            <a:endParaRPr/>
          </a:p>
          <a:p>
            <a:r>
              <a:t>NYP already participates in Singapore's OpenCerts platform but can expand to cover graduation diplomas, competition awards, CET certificates, internship certificates, and skill-based micro-credentials.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me cover the impact, ROI, and challenges for Blockchain.</a:t>
            </a:r>
          </a:p>
          <a:p>
            <a:endParaRPr/>
          </a:p>
          <a:p>
            <a:r>
              <a:t>The key benefits include:</a:t>
            </a:r>
          </a:p>
          <a:p>
            <a:r>
              <a:t>For NYP: Elimination of manual verification workload with a 50 to 70 percent labour cut, enhanced institutional reputation through tamper-proof credentials, and alignment with Singapore's OpenCerts and Smart Nation initiatives.</a:t>
            </a:r>
          </a:p>
          <a:p>
            <a:r>
              <a:t>For Students: Portable, cross-border credentials, protection against credential fraud, and granular skill-level credentials that showcase specific competencies.</a:t>
            </a:r>
          </a:p>
          <a:p>
            <a:r>
              <a:t>For Employers: Instant verification of candidate qualifications in seconds instead of days, and elimination of the risk of hiring based on fake credentials.</a:t>
            </a:r>
          </a:p>
          <a:p>
            <a:endParaRPr/>
          </a:p>
          <a:p>
            <a:r>
              <a:t>For the financial analysis: the five-year net return is approximately SGD 1.59 million, representing an 88 percent return on total investment, with breakeven achieved within Year 3. While the absolute figures are modest, the strategic value exceeds the financial return in terms of credibility and fraud elimination.</a:t>
            </a:r>
          </a:p>
          <a:p>
            <a:endParaRPr/>
          </a:p>
          <a:p>
            <a:r>
              <a:t>The Year 1 investment is estimated at SGD 900K to 1.8 million, making it the lowest-cost technology in our proposal.</a:t>
            </a:r>
          </a:p>
          <a:p>
            <a:endParaRPr/>
          </a:p>
          <a:p>
            <a:r>
              <a:t>Key challenges include:</a:t>
            </a:r>
          </a:p>
          <a:p>
            <a:r>
              <a:t>Stakeholder Adoption: Success depends on employers and institutions accepting blockchain-verified credentials.</a:t>
            </a:r>
          </a:p>
          <a:p>
            <a:r>
              <a:t>Interoperability: NYP must ensure compatibility with OpenCerts framework and international standards.</a:t>
            </a:r>
          </a:p>
          <a:p>
            <a:r>
              <a:t>User Education: Students, staff, and employers need to understand how to use blockchain credentials.</a:t>
            </a:r>
          </a:p>
          <a:p>
            <a:r>
              <a:t>Secure Cryptographic Hash: The hash must be secure enough to prevent information extraction.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will now present our consolidated financials, the phased implementation plan, and how the four technologies create synergy together.</a:t>
            </a:r>
          </a:p>
          <a:p>
            <a:endParaRPr/>
          </a:p>
          <a:p>
            <a:r>
              <a:t>This section brings together the investment requirements across all four technologies and outlines a practical roadmap for implementation over three years.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shows our Consolidated Investment Summary across all four technologies.</a:t>
            </a:r>
          </a:p>
          <a:p>
            <a:endParaRPr/>
          </a:p>
          <a:p>
            <a:r>
              <a:t>For AI: Year 1 investment of SGD 2.5 to 5 million, generating annual returns of SGD 5 to 10 million, with a five-year net return of SGD 15.6 million and breakeven in Year 2.</a:t>
            </a:r>
          </a:p>
          <a:p>
            <a:endParaRPr/>
          </a:p>
          <a:p>
            <a:r>
              <a:t>For VR/AR: Year 1 investment of SGD 2.3 to 4.6 million, generating annual returns of SGD 2 to 5 million, with a five-year net return of SGD 10.3 million and breakeven in Year 2.</a:t>
            </a:r>
          </a:p>
          <a:p>
            <a:endParaRPr/>
          </a:p>
          <a:p>
            <a:r>
              <a:t>For 5G and Edge Computing: Year 1 investment of SGD 3 to 5.5 million, generating annual returns of SGD 1.5 to 3 million, with a five-year net return of SGD 4.8 million and breakeven in Year 3 to 4.</a:t>
            </a:r>
          </a:p>
          <a:p>
            <a:endParaRPr/>
          </a:p>
          <a:p>
            <a:r>
              <a:t>For Blockchain: Year 1 investment of SGD 1 to 2 million, generating annual returns of SGD 0.5 to 1 million, with a five-year net return of SGD 1.59 million and breakeven in Year 3.</a:t>
            </a:r>
          </a:p>
          <a:p>
            <a:endParaRPr/>
          </a:p>
          <a:p>
            <a:r>
              <a:t>In total: Year 1 investment of SGD 8.8 to 17.1 million, projected annual returns of SGD 10.5 to 23 million, and a combined five-year net return of approximately SGD 32.3 million, with overall breakeven in Year 1 to 2.</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implementation follows a phased three-year approach to manage risk and maximise ROI.</a:t>
            </a:r>
          </a:p>
          <a:p>
            <a:endParaRPr/>
          </a:p>
          <a:p>
            <a:r>
              <a:t>Phase 1, Year 1 — Foundation:</a:t>
            </a:r>
          </a:p>
          <a:p>
            <a:r>
              <a:t>We start with quick wins and lower-cost technologies.</a:t>
            </a:r>
          </a:p>
          <a:p>
            <a:r>
              <a:t>Deploy an AI chatbot for student services to provide immediate 24/7 support.</a:t>
            </a:r>
          </a:p>
          <a:p>
            <a:r>
              <a:t>Implement blockchain credentials building on the existing OpenCerts framework.</a:t>
            </a:r>
          </a:p>
          <a:p>
            <a:r>
              <a:t>Begin 5G infrastructure planning and pilot with telco partners.</a:t>
            </a:r>
          </a:p>
          <a:p>
            <a:r>
              <a:t>Develop the first VR lab prototypes for selected courses.</a:t>
            </a:r>
          </a:p>
          <a:p>
            <a:endParaRPr/>
          </a:p>
          <a:p>
            <a:r>
              <a:t>Phase 2, Year 2 — Expansion:</a:t>
            </a:r>
          </a:p>
          <a:p>
            <a:r>
              <a:t>Scale AI adaptive learning across all six schools.</a:t>
            </a:r>
          </a:p>
          <a:p>
            <a:r>
              <a:t>Launch 10 or more VR virtual labs covering multiple disciplines.</a:t>
            </a:r>
          </a:p>
          <a:p>
            <a:r>
              <a:t>Deploy 5G infrastructure campus-wide.</a:t>
            </a:r>
          </a:p>
          <a:p>
            <a:r>
              <a:t>Expand blockchain to include micro-credentials and skill badges.</a:t>
            </a:r>
          </a:p>
          <a:p>
            <a:endParaRPr/>
          </a:p>
          <a:p>
            <a:r>
              <a:t>Phase 3, Year 3 — Optimisation:</a:t>
            </a:r>
          </a:p>
          <a:p>
            <a:r>
              <a:t>Integrate all technologies into a cohesive smart-campus ecosystem.</a:t>
            </a:r>
          </a:p>
          <a:p>
            <a:r>
              <a:t>Monetise VR content through B2B licensing and blockchain verification services.</a:t>
            </a:r>
          </a:p>
          <a:p>
            <a:r>
              <a:t>Conduct a comprehensive ROI evaluation and adjust the strategy based on results.</a:t>
            </a:r>
          </a:p>
          <a:p>
            <a:endParaRPr/>
          </a:p>
          <a:p>
            <a:r>
              <a:t>This phased approach prioritizes quick-win, lower-cost technologies in Phase 1 while laying the groundwork for infrastructure-heavy initiatives.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important point is that the four technologies are not independent — they create a synergistic ecosystem.</a:t>
            </a:r>
          </a:p>
          <a:p>
            <a:endParaRPr/>
          </a:p>
          <a:p>
            <a:r>
              <a:t>5G enables VR/AR: High-bandwidth, low-latency 5G connectivity is essential for seamless VR/AR experiences. Without 5G, immersive applications would face buffering and lag issues.</a:t>
            </a:r>
          </a:p>
          <a:p>
            <a:endParaRPr/>
          </a:p>
          <a:p>
            <a:r>
              <a:t>AI enhances VR/AR: AI can personalize VR/AR learning scenarios based on individual student performance, creating truly adaptive immersive experiences.</a:t>
            </a:r>
          </a:p>
          <a:p>
            <a:endParaRPr/>
          </a:p>
          <a:p>
            <a:r>
              <a:t>Edge Computing supports all: Edge servers provide the low-latency processing required by AI inference, VR rendering, and IoT data processing. This distributed computing approach ensures real-time responsiveness.</a:t>
            </a:r>
          </a:p>
          <a:p>
            <a:endParaRPr/>
          </a:p>
          <a:p>
            <a:r>
              <a:t>Blockchain secures AI credentials: As AI-driven assessment becomes more prevalent, blockchain ensures the integrity and verifiability of AI-generated evaluations and credentials.</a:t>
            </a:r>
          </a:p>
          <a:p>
            <a:endParaRPr/>
          </a:p>
          <a:p>
            <a:r>
              <a:t>By adopting these technologies in a coordinated manner, Nanyang Polytechnic can transform its operations, enhance the student experience, and secure its position as Singapore's leading polytechnic in the digital age. The synergy multiplier effect means the combined ROI exceeds the sum of individual technology returns.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our proposal demonstrates five key points.</a:t>
            </a:r>
          </a:p>
          <a:p>
            <a:endParaRPr/>
          </a:p>
          <a:p>
            <a:r>
              <a:t>First, Comprehensive Coverage: The four technologies address NYP's core challenges across the entire value chain, from student recruitment to campus operations.</a:t>
            </a:r>
          </a:p>
          <a:p>
            <a:endParaRPr/>
          </a:p>
          <a:p>
            <a:r>
              <a:t>Second, Strong ROI: The combined five-year net return is approximately SGD 32.3 million on an investment of SGD 8.8 to 17.1 million.</a:t>
            </a:r>
          </a:p>
          <a:p>
            <a:endParaRPr/>
          </a:p>
          <a:p>
            <a:r>
              <a:t>Third, Managed Risk: Our phased three-year roadmap starts with quick wins first, specifically the AI chatbot and blockchain, before scaling to larger infrastructure investments.</a:t>
            </a:r>
          </a:p>
          <a:p>
            <a:endParaRPr/>
          </a:p>
          <a:p>
            <a:r>
              <a:t>Fourth, Synergy Multiplier: The technology synergies create a multiplier effect on ROI, as each technology enhances the effectiveness of the others.</a:t>
            </a:r>
          </a:p>
          <a:p>
            <a:endParaRPr/>
          </a:p>
          <a:p>
            <a:r>
              <a:t>Fifth, Market Leadership: This positions NYP as Singapore's leading polytechnic in the digital age.</a:t>
            </a:r>
          </a:p>
          <a:p>
            <a:endParaRPr/>
          </a:p>
          <a:p>
            <a:r>
              <a:t>Our five recommendations are:</a:t>
            </a:r>
          </a:p>
          <a:p>
            <a:r>
              <a:t>1. Approve Phase 1 funding of SGD 3 to 5 million for AI and Blockchain pilots.</a:t>
            </a:r>
          </a:p>
          <a:p>
            <a:r>
              <a:t>2. Establish a Technology Steering Committee to oversee implementation.</a:t>
            </a:r>
          </a:p>
          <a:p>
            <a:r>
              <a:t>3. Begin 5G partnership discussions with Singtel and StarHub.</a:t>
            </a:r>
          </a:p>
          <a:p>
            <a:r>
              <a:t>4. Commission VR lab prototype development.</a:t>
            </a:r>
          </a:p>
          <a:p>
            <a:r>
              <a:t>5. Set up a data governance framework for PDPA compliance.</a:t>
            </a:r>
          </a:p>
          <a:p>
            <a:endParaRPr/>
          </a:p>
          <a:p>
            <a:r>
              <a:t>With these actions, NYP can embark on its digital transformation journey immediately.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We hope our proposal has demonstrated the significant potential of these four emerging technologies for Nanyang Polytechnic.</a:t>
            </a:r>
          </a:p>
          <a:p>
            <a:endParaRPr/>
          </a:p>
          <a:p>
            <a:r>
              <a:t>We are now happy to take any questions you may have. Each team member can address questions related to their respective technology area:</a:t>
            </a:r>
          </a:p>
          <a:p>
            <a:r>
              <a:t>Clifton for Artificial Intelligence,</a:t>
            </a:r>
          </a:p>
          <a:p>
            <a:r>
              <a:t>Collin for Virtual Reality and Augmented Reality,</a:t>
            </a:r>
          </a:p>
          <a:p>
            <a:r>
              <a:t>Alex for 5G and Edge Computing, and</a:t>
            </a:r>
          </a:p>
          <a:p>
            <a:r>
              <a:t>Declan for Blockchain.</a:t>
            </a:r>
          </a:p>
          <a:p>
            <a:endParaRPr/>
          </a:p>
          <a:p>
            <a: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chart" Target="../charts/char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chart" Target="../charts/char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chart" Target="../charts/char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9144000" y="-1828800"/>
            <a:ext cx="7315200" cy="73152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2743200" y="3657600"/>
            <a:ext cx="6400800" cy="64008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058400" y="4572000"/>
            <a:ext cx="3657600" cy="365760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828800" y="1371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058400" y="914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74320" y="4796377"/>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972800" y="5943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912614"/>
            <a:ext cx="10058400" cy="369332"/>
          </a:xfrm>
          <a:prstGeom prst="rect">
            <a:avLst/>
          </a:prstGeom>
          <a:noFill/>
        </p:spPr>
        <p:txBody>
          <a:bodyPr wrap="square">
            <a:spAutoFit/>
          </a:bodyPr>
          <a:lstStyle/>
          <a:p>
            <a:pPr algn="l"/>
            <a:r>
              <a:rPr lang="en-US" sz="1800" b="1" dirty="0">
                <a:solidFill>
                  <a:schemeClr val="accent3">
                    <a:lumMod val="60000"/>
                    <a:lumOff val="40000"/>
                  </a:schemeClr>
                </a:solidFill>
                <a:latin typeface="Calibri"/>
              </a:rPr>
              <a:t>GROUP 6 </a:t>
            </a:r>
            <a:r>
              <a:rPr sz="1800" b="1" dirty="0">
                <a:solidFill>
                  <a:schemeClr val="accent3">
                    <a:lumMod val="60000"/>
                    <a:lumOff val="40000"/>
                  </a:schemeClr>
                </a:solidFill>
                <a:latin typeface="Calibri"/>
              </a:rPr>
              <a:t>PROPOSAL</a:t>
            </a:r>
          </a:p>
        </p:txBody>
      </p:sp>
      <p:sp>
        <p:nvSpPr>
          <p:cNvPr id="10" name="Rectangle 9"/>
          <p:cNvSpPr/>
          <p:nvPr/>
        </p:nvSpPr>
        <p:spPr>
          <a:xfrm>
            <a:off x="1097280" y="1920240"/>
            <a:ext cx="109728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7280" y="2194560"/>
            <a:ext cx="9144000" cy="1645920"/>
          </a:xfrm>
          <a:prstGeom prst="rect">
            <a:avLst/>
          </a:prstGeom>
          <a:noFill/>
        </p:spPr>
        <p:txBody>
          <a:bodyPr wrap="square">
            <a:spAutoFit/>
          </a:bodyPr>
          <a:lstStyle/>
          <a:p>
            <a:pPr algn="l"/>
            <a:r>
              <a:rPr sz="4800" b="1">
                <a:solidFill>
                  <a:srgbClr val="FFFFFF"/>
                </a:solidFill>
                <a:latin typeface="Calibri Light"/>
              </a:rPr>
              <a:t>Emerging Technologies
for Nanyang Polytechnic</a:t>
            </a:r>
          </a:p>
        </p:txBody>
      </p:sp>
      <p:sp>
        <p:nvSpPr>
          <p:cNvPr id="12" name="TextBox 11"/>
          <p:cNvSpPr txBox="1"/>
          <p:nvPr/>
        </p:nvSpPr>
        <p:spPr>
          <a:xfrm>
            <a:off x="1097280" y="4114800"/>
            <a:ext cx="9144000" cy="338554"/>
          </a:xfrm>
          <a:prstGeom prst="rect">
            <a:avLst/>
          </a:prstGeom>
          <a:noFill/>
        </p:spPr>
        <p:txBody>
          <a:bodyPr wrap="square">
            <a:spAutoFit/>
          </a:bodyPr>
          <a:lstStyle/>
          <a:p>
            <a:pPr algn="l"/>
            <a:r>
              <a:rPr sz="1600" b="0" dirty="0">
                <a:solidFill>
                  <a:srgbClr val="E9ECEF"/>
                </a:solidFill>
                <a:latin typeface="Calibri"/>
              </a:rPr>
              <a:t>Competency Unit: Emerging Technologies </a:t>
            </a:r>
            <a:r>
              <a:rPr lang="en-US" sz="1600" b="0" dirty="0">
                <a:solidFill>
                  <a:srgbClr val="E9ECEF"/>
                </a:solidFill>
                <a:latin typeface="Calibri"/>
              </a:rPr>
              <a:t>Synthesis</a:t>
            </a:r>
            <a:endParaRPr sz="1600" b="0" dirty="0">
              <a:solidFill>
                <a:srgbClr val="E9ECEF"/>
              </a:solidFill>
              <a:latin typeface="Calibri"/>
            </a:endParaRPr>
          </a:p>
        </p:txBody>
      </p:sp>
      <p:sp>
        <p:nvSpPr>
          <p:cNvPr id="13" name="Rounded Rectangle 12"/>
          <p:cNvSpPr/>
          <p:nvPr/>
        </p:nvSpPr>
        <p:spPr>
          <a:xfrm>
            <a:off x="1097280" y="4937760"/>
            <a:ext cx="2148840" cy="109728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5014109"/>
            <a:ext cx="2423160" cy="307777"/>
          </a:xfrm>
          <a:prstGeom prst="rect">
            <a:avLst/>
          </a:prstGeom>
          <a:noFill/>
        </p:spPr>
        <p:txBody>
          <a:bodyPr wrap="square">
            <a:spAutoFit/>
          </a:bodyPr>
          <a:lstStyle/>
          <a:p>
            <a:pPr algn="l"/>
            <a:r>
              <a:rPr sz="1400" b="1" dirty="0">
                <a:solidFill>
                  <a:srgbClr val="FFFFFF"/>
                </a:solidFill>
                <a:latin typeface="Calibri"/>
              </a:rPr>
              <a:t>🤖  Clifton</a:t>
            </a:r>
            <a:r>
              <a:rPr lang="en-US" sz="1400" b="1" dirty="0">
                <a:solidFill>
                  <a:srgbClr val="FFFFFF"/>
                </a:solidFill>
                <a:latin typeface="Calibri"/>
              </a:rPr>
              <a:t> Chen Yi-231220B</a:t>
            </a:r>
            <a:endParaRPr sz="1400" b="1" dirty="0">
              <a:solidFill>
                <a:srgbClr val="FFFFFF"/>
              </a:solidFill>
              <a:latin typeface="Calibri"/>
            </a:endParaRPr>
          </a:p>
        </p:txBody>
      </p:sp>
      <p:sp>
        <p:nvSpPr>
          <p:cNvPr id="15" name="TextBox 14"/>
          <p:cNvSpPr txBox="1"/>
          <p:nvPr/>
        </p:nvSpPr>
        <p:spPr>
          <a:xfrm>
            <a:off x="1303020" y="5486383"/>
            <a:ext cx="1828800" cy="523220"/>
          </a:xfrm>
          <a:prstGeom prst="rect">
            <a:avLst/>
          </a:prstGeom>
          <a:noFill/>
        </p:spPr>
        <p:txBody>
          <a:bodyPr wrap="square">
            <a:spAutoFit/>
          </a:bodyPr>
          <a:lstStyle/>
          <a:p>
            <a:r>
              <a:rPr lang="en-SG" sz="1400" b="1" dirty="0">
                <a:solidFill>
                  <a:srgbClr val="FFFFFF"/>
                </a:solidFill>
              </a:rPr>
              <a:t>Artificial Intelligence (AI)</a:t>
            </a:r>
            <a:endParaRPr sz="1400" b="0" dirty="0">
              <a:solidFill>
                <a:srgbClr val="FFFFFF"/>
              </a:solidFill>
              <a:latin typeface="Calibri"/>
            </a:endParaRPr>
          </a:p>
        </p:txBody>
      </p:sp>
      <p:sp>
        <p:nvSpPr>
          <p:cNvPr id="16" name="Rounded Rectangle 15"/>
          <p:cNvSpPr/>
          <p:nvPr/>
        </p:nvSpPr>
        <p:spPr>
          <a:xfrm>
            <a:off x="3474720" y="4937760"/>
            <a:ext cx="2057400" cy="109728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40184" y="4979257"/>
            <a:ext cx="1800496" cy="523220"/>
          </a:xfrm>
          <a:prstGeom prst="rect">
            <a:avLst/>
          </a:prstGeom>
          <a:noFill/>
        </p:spPr>
        <p:txBody>
          <a:bodyPr wrap="square">
            <a:spAutoFit/>
          </a:bodyPr>
          <a:lstStyle/>
          <a:p>
            <a:r>
              <a:rPr sz="1400" b="1" dirty="0">
                <a:solidFill>
                  <a:srgbClr val="FFFFFF"/>
                </a:solidFill>
                <a:latin typeface="Calibri"/>
              </a:rPr>
              <a:t>🥽  Collin</a:t>
            </a:r>
            <a:r>
              <a:rPr lang="en-US" sz="1400" b="1" dirty="0">
                <a:solidFill>
                  <a:srgbClr val="FFFFFF"/>
                </a:solidFill>
                <a:latin typeface="Calibri"/>
              </a:rPr>
              <a:t> Koh Soon Ming-253991P</a:t>
            </a:r>
            <a:endParaRPr sz="1400" b="1" dirty="0">
              <a:solidFill>
                <a:srgbClr val="FFFFFF"/>
              </a:solidFill>
              <a:latin typeface="Calibri"/>
            </a:endParaRPr>
          </a:p>
        </p:txBody>
      </p:sp>
      <p:sp>
        <p:nvSpPr>
          <p:cNvPr id="18" name="TextBox 17"/>
          <p:cNvSpPr txBox="1"/>
          <p:nvPr/>
        </p:nvSpPr>
        <p:spPr>
          <a:xfrm>
            <a:off x="3703320" y="5520529"/>
            <a:ext cx="1828800" cy="523220"/>
          </a:xfrm>
          <a:prstGeom prst="rect">
            <a:avLst/>
          </a:prstGeom>
          <a:noFill/>
        </p:spPr>
        <p:txBody>
          <a:bodyPr wrap="square">
            <a:spAutoFit/>
          </a:bodyPr>
          <a:lstStyle/>
          <a:p>
            <a:r>
              <a:rPr lang="en-US" sz="1400" b="1" dirty="0">
                <a:solidFill>
                  <a:srgbClr val="FFFFFF"/>
                </a:solidFill>
              </a:rPr>
              <a:t>Virtual/Augmented Reality – VR/AR</a:t>
            </a:r>
            <a:endParaRPr sz="1400" b="0" dirty="0">
              <a:solidFill>
                <a:srgbClr val="FFFFFF"/>
              </a:solidFill>
              <a:latin typeface="Calibri"/>
            </a:endParaRPr>
          </a:p>
        </p:txBody>
      </p:sp>
      <p:sp>
        <p:nvSpPr>
          <p:cNvPr id="19" name="Rounded Rectangle 18"/>
          <p:cNvSpPr/>
          <p:nvPr/>
        </p:nvSpPr>
        <p:spPr>
          <a:xfrm>
            <a:off x="5852160" y="4937759"/>
            <a:ext cx="2103120" cy="1105989"/>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9320" y="4960267"/>
            <a:ext cx="1965960" cy="523220"/>
          </a:xfrm>
          <a:prstGeom prst="rect">
            <a:avLst/>
          </a:prstGeom>
          <a:noFill/>
        </p:spPr>
        <p:txBody>
          <a:bodyPr wrap="square">
            <a:spAutoFit/>
          </a:bodyPr>
          <a:lstStyle/>
          <a:p>
            <a:pPr algn="l"/>
            <a:r>
              <a:rPr sz="1400" b="1" dirty="0">
                <a:solidFill>
                  <a:srgbClr val="FFFFFF"/>
                </a:solidFill>
                <a:latin typeface="Calibri"/>
              </a:rPr>
              <a:t>📡  </a:t>
            </a:r>
            <a:r>
              <a:rPr lang="en-US" sz="1400" b="1" dirty="0">
                <a:solidFill>
                  <a:srgbClr val="FFFFFF"/>
                </a:solidFill>
                <a:latin typeface="Calibri"/>
              </a:rPr>
              <a:t>Shin Thant Aung </a:t>
            </a:r>
            <a:r>
              <a:rPr sz="1400" b="1" dirty="0">
                <a:solidFill>
                  <a:srgbClr val="FFFFFF"/>
                </a:solidFill>
                <a:latin typeface="Calibri"/>
              </a:rPr>
              <a:t>Alex</a:t>
            </a:r>
            <a:r>
              <a:rPr lang="en-US" sz="1400" b="1" dirty="0">
                <a:solidFill>
                  <a:srgbClr val="FFFFFF"/>
                </a:solidFill>
                <a:latin typeface="Calibri"/>
              </a:rPr>
              <a:t>–243816M</a:t>
            </a:r>
            <a:endParaRPr sz="1400" b="1" dirty="0">
              <a:solidFill>
                <a:srgbClr val="FFFFFF"/>
              </a:solidFill>
              <a:latin typeface="Calibri"/>
            </a:endParaRPr>
          </a:p>
        </p:txBody>
      </p:sp>
      <p:sp>
        <p:nvSpPr>
          <p:cNvPr id="21" name="TextBox 20"/>
          <p:cNvSpPr txBox="1"/>
          <p:nvPr/>
        </p:nvSpPr>
        <p:spPr>
          <a:xfrm>
            <a:off x="5989320" y="5576499"/>
            <a:ext cx="1828800" cy="307777"/>
          </a:xfrm>
          <a:prstGeom prst="rect">
            <a:avLst/>
          </a:prstGeom>
          <a:noFill/>
        </p:spPr>
        <p:txBody>
          <a:bodyPr wrap="square">
            <a:spAutoFit/>
          </a:bodyPr>
          <a:lstStyle/>
          <a:p>
            <a:r>
              <a:rPr lang="en-SG" sz="1400" b="1" dirty="0">
                <a:solidFill>
                  <a:srgbClr val="FFFFFF"/>
                </a:solidFill>
              </a:rPr>
              <a:t>5G &amp; Edge Computing </a:t>
            </a:r>
          </a:p>
        </p:txBody>
      </p:sp>
      <p:sp>
        <p:nvSpPr>
          <p:cNvPr id="22" name="Rounded Rectangle 21"/>
          <p:cNvSpPr/>
          <p:nvPr/>
        </p:nvSpPr>
        <p:spPr>
          <a:xfrm>
            <a:off x="8229600" y="4937759"/>
            <a:ext cx="2103120" cy="1105989"/>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3" name="TextBox 22"/>
          <p:cNvSpPr txBox="1"/>
          <p:nvPr/>
        </p:nvSpPr>
        <p:spPr>
          <a:xfrm>
            <a:off x="8366760" y="4930429"/>
            <a:ext cx="1828800" cy="523220"/>
          </a:xfrm>
          <a:prstGeom prst="rect">
            <a:avLst/>
          </a:prstGeom>
          <a:noFill/>
        </p:spPr>
        <p:txBody>
          <a:bodyPr wrap="square">
            <a:spAutoFit/>
          </a:bodyPr>
          <a:lstStyle/>
          <a:p>
            <a:pPr algn="l"/>
            <a:r>
              <a:rPr sz="1400" b="1" dirty="0">
                <a:solidFill>
                  <a:srgbClr val="FFFFFF"/>
                </a:solidFill>
                <a:latin typeface="Calibri"/>
              </a:rPr>
              <a:t>🔗  Declan</a:t>
            </a:r>
            <a:r>
              <a:rPr lang="en-US" sz="1400" b="1" dirty="0">
                <a:solidFill>
                  <a:srgbClr val="FFFFFF"/>
                </a:solidFill>
                <a:latin typeface="Calibri"/>
              </a:rPr>
              <a:t> Chua Yuan Lok-240598B</a:t>
            </a:r>
            <a:endParaRPr sz="1400" b="1" dirty="0">
              <a:solidFill>
                <a:srgbClr val="FFFFFF"/>
              </a:solidFill>
              <a:latin typeface="Calibri"/>
            </a:endParaRPr>
          </a:p>
        </p:txBody>
      </p:sp>
      <p:sp>
        <p:nvSpPr>
          <p:cNvPr id="24" name="TextBox 23"/>
          <p:cNvSpPr txBox="1"/>
          <p:nvPr/>
        </p:nvSpPr>
        <p:spPr>
          <a:xfrm>
            <a:off x="8412480" y="5576500"/>
            <a:ext cx="1828800" cy="307777"/>
          </a:xfrm>
          <a:prstGeom prst="rect">
            <a:avLst/>
          </a:prstGeom>
          <a:noFill/>
        </p:spPr>
        <p:txBody>
          <a:bodyPr wrap="square">
            <a:spAutoFit/>
          </a:bodyPr>
          <a:lstStyle/>
          <a:p>
            <a:r>
              <a:rPr lang="en-SG" sz="1400" b="1" dirty="0">
                <a:solidFill>
                  <a:srgbClr val="FFFFFF"/>
                </a:solidFill>
              </a:rPr>
              <a:t>Blockchain</a:t>
            </a:r>
            <a:endParaRPr sz="1400" b="0" dirty="0">
              <a:solidFill>
                <a:srgbClr val="FFFFFF"/>
              </a:solidFill>
              <a:latin typeface="Calibri"/>
            </a:endParaRPr>
          </a:p>
        </p:txBody>
      </p:sp>
      <p:sp>
        <p:nvSpPr>
          <p:cNvPr id="25" name="TextBox 24"/>
          <p:cNvSpPr txBox="1"/>
          <p:nvPr/>
        </p:nvSpPr>
        <p:spPr>
          <a:xfrm>
            <a:off x="6365967" y="4114801"/>
            <a:ext cx="3448594" cy="307777"/>
          </a:xfrm>
          <a:prstGeom prst="rect">
            <a:avLst/>
          </a:prstGeom>
          <a:noFill/>
        </p:spPr>
        <p:txBody>
          <a:bodyPr wrap="square">
            <a:spAutoFit/>
          </a:bodyPr>
          <a:lstStyle/>
          <a:p>
            <a:pPr algn="r"/>
            <a:r>
              <a:rPr lang="en-US" sz="1400" b="0" dirty="0">
                <a:solidFill>
                  <a:srgbClr val="FFFF00"/>
                </a:solidFill>
                <a:latin typeface="Calibri"/>
              </a:rPr>
              <a:t> 19 </a:t>
            </a:r>
            <a:r>
              <a:rPr sz="1400" b="0" dirty="0">
                <a:solidFill>
                  <a:srgbClr val="FFFF00"/>
                </a:solidFill>
                <a:latin typeface="Calibri"/>
              </a:rPr>
              <a:t>February 2026  |  Sector: Education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Agenda</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Presentation Overview</a:t>
            </a:r>
          </a:p>
        </p:txBody>
      </p:sp>
      <p:sp>
        <p:nvSpPr>
          <p:cNvPr id="6" name="Oval 5"/>
          <p:cNvSpPr/>
          <p:nvPr/>
        </p:nvSpPr>
        <p:spPr>
          <a:xfrm>
            <a:off x="640079" y="1600200"/>
            <a:ext cx="715479" cy="6400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1</a:t>
            </a:r>
          </a:p>
        </p:txBody>
      </p:sp>
      <p:sp>
        <p:nvSpPr>
          <p:cNvPr id="7" name="TextBox 6"/>
          <p:cNvSpPr txBox="1"/>
          <p:nvPr/>
        </p:nvSpPr>
        <p:spPr>
          <a:xfrm>
            <a:off x="1463040" y="1554480"/>
            <a:ext cx="4572000" cy="411480"/>
          </a:xfrm>
          <a:prstGeom prst="rect">
            <a:avLst/>
          </a:prstGeom>
          <a:noFill/>
        </p:spPr>
        <p:txBody>
          <a:bodyPr wrap="square">
            <a:spAutoFit/>
          </a:bodyPr>
          <a:lstStyle/>
          <a:p>
            <a:pPr algn="l"/>
            <a:r>
              <a:rPr sz="2000" b="1">
                <a:solidFill>
                  <a:srgbClr val="002B5C"/>
                </a:solidFill>
                <a:latin typeface="Calibri"/>
              </a:rPr>
              <a:t>Executive Summary</a:t>
            </a:r>
          </a:p>
        </p:txBody>
      </p:sp>
      <p:sp>
        <p:nvSpPr>
          <p:cNvPr id="8" name="TextBox 7"/>
          <p:cNvSpPr txBox="1"/>
          <p:nvPr/>
        </p:nvSpPr>
        <p:spPr>
          <a:xfrm>
            <a:off x="1463040" y="1920240"/>
            <a:ext cx="4572000" cy="320040"/>
          </a:xfrm>
          <a:prstGeom prst="rect">
            <a:avLst/>
          </a:prstGeom>
          <a:noFill/>
        </p:spPr>
        <p:txBody>
          <a:bodyPr wrap="square">
            <a:spAutoFit/>
          </a:bodyPr>
          <a:lstStyle/>
          <a:p>
            <a:pPr algn="l"/>
            <a:r>
              <a:rPr sz="1400" b="0" dirty="0">
                <a:solidFill>
                  <a:srgbClr val="6C757D"/>
                </a:solidFill>
                <a:latin typeface="Calibri"/>
              </a:rPr>
              <a:t>Key findings &amp; investment highlights</a:t>
            </a:r>
          </a:p>
        </p:txBody>
      </p:sp>
      <p:sp>
        <p:nvSpPr>
          <p:cNvPr id="9" name="Oval 8"/>
          <p:cNvSpPr/>
          <p:nvPr/>
        </p:nvSpPr>
        <p:spPr>
          <a:xfrm>
            <a:off x="6309360" y="1600200"/>
            <a:ext cx="640080" cy="64008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5</a:t>
            </a:r>
          </a:p>
        </p:txBody>
      </p:sp>
      <p:sp>
        <p:nvSpPr>
          <p:cNvPr id="10" name="TextBox 9"/>
          <p:cNvSpPr txBox="1"/>
          <p:nvPr/>
        </p:nvSpPr>
        <p:spPr>
          <a:xfrm>
            <a:off x="7075380" y="1554480"/>
            <a:ext cx="4572000" cy="411480"/>
          </a:xfrm>
          <a:prstGeom prst="rect">
            <a:avLst/>
          </a:prstGeom>
          <a:noFill/>
        </p:spPr>
        <p:txBody>
          <a:bodyPr wrap="square">
            <a:spAutoFit/>
          </a:bodyPr>
          <a:lstStyle/>
          <a:p>
            <a:pPr algn="l"/>
            <a:r>
              <a:rPr sz="2000" b="1" dirty="0" err="1">
                <a:solidFill>
                  <a:srgbClr val="002B5C"/>
                </a:solidFill>
                <a:latin typeface="Calibri"/>
              </a:rPr>
              <a:t>Organisation</a:t>
            </a:r>
            <a:r>
              <a:rPr sz="2000" b="1" dirty="0">
                <a:solidFill>
                  <a:srgbClr val="002B5C"/>
                </a:solidFill>
                <a:latin typeface="Calibri"/>
              </a:rPr>
              <a:t> &amp; Value Chain</a:t>
            </a:r>
          </a:p>
        </p:txBody>
      </p:sp>
      <p:sp>
        <p:nvSpPr>
          <p:cNvPr id="11" name="TextBox 10"/>
          <p:cNvSpPr txBox="1"/>
          <p:nvPr/>
        </p:nvSpPr>
        <p:spPr>
          <a:xfrm>
            <a:off x="7132320" y="1920240"/>
            <a:ext cx="4572000" cy="320040"/>
          </a:xfrm>
          <a:prstGeom prst="rect">
            <a:avLst/>
          </a:prstGeom>
          <a:noFill/>
        </p:spPr>
        <p:txBody>
          <a:bodyPr wrap="square">
            <a:spAutoFit/>
          </a:bodyPr>
          <a:lstStyle/>
          <a:p>
            <a:pPr algn="l"/>
            <a:r>
              <a:rPr sz="1400" b="0">
                <a:solidFill>
                  <a:srgbClr val="6C757D"/>
                </a:solidFill>
                <a:latin typeface="Calibri"/>
              </a:rPr>
              <a:t>NYP profile, educational value chain</a:t>
            </a:r>
          </a:p>
        </p:txBody>
      </p:sp>
      <p:sp>
        <p:nvSpPr>
          <p:cNvPr id="12" name="Oval 11"/>
          <p:cNvSpPr/>
          <p:nvPr/>
        </p:nvSpPr>
        <p:spPr>
          <a:xfrm>
            <a:off x="640080" y="2834640"/>
            <a:ext cx="715478" cy="59436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200" dirty="0">
                <a:solidFill>
                  <a:srgbClr val="FFFFFF"/>
                </a:solidFill>
              </a:rPr>
              <a:t>2</a:t>
            </a:r>
            <a:endParaRPr sz="2200" dirty="0">
              <a:solidFill>
                <a:srgbClr val="FFFFFF"/>
              </a:solidFill>
            </a:endParaRPr>
          </a:p>
        </p:txBody>
      </p:sp>
      <p:sp>
        <p:nvSpPr>
          <p:cNvPr id="13" name="TextBox 12"/>
          <p:cNvSpPr txBox="1"/>
          <p:nvPr/>
        </p:nvSpPr>
        <p:spPr>
          <a:xfrm>
            <a:off x="1463040" y="2788920"/>
            <a:ext cx="4572000" cy="411480"/>
          </a:xfrm>
          <a:prstGeom prst="rect">
            <a:avLst/>
          </a:prstGeom>
          <a:noFill/>
        </p:spPr>
        <p:txBody>
          <a:bodyPr wrap="square">
            <a:spAutoFit/>
          </a:bodyPr>
          <a:lstStyle/>
          <a:p>
            <a:pPr algn="l"/>
            <a:r>
              <a:rPr sz="2000" b="1">
                <a:solidFill>
                  <a:srgbClr val="002B5C"/>
                </a:solidFill>
                <a:latin typeface="Calibri"/>
              </a:rPr>
              <a:t>Problems &amp; Challenges</a:t>
            </a:r>
          </a:p>
        </p:txBody>
      </p:sp>
      <p:sp>
        <p:nvSpPr>
          <p:cNvPr id="14" name="TextBox 13"/>
          <p:cNvSpPr txBox="1"/>
          <p:nvPr/>
        </p:nvSpPr>
        <p:spPr>
          <a:xfrm>
            <a:off x="1463040" y="3154680"/>
            <a:ext cx="4572000" cy="320040"/>
          </a:xfrm>
          <a:prstGeom prst="rect">
            <a:avLst/>
          </a:prstGeom>
          <a:noFill/>
        </p:spPr>
        <p:txBody>
          <a:bodyPr wrap="square">
            <a:spAutoFit/>
          </a:bodyPr>
          <a:lstStyle/>
          <a:p>
            <a:pPr algn="l"/>
            <a:r>
              <a:rPr sz="1400" b="0">
                <a:solidFill>
                  <a:srgbClr val="6C757D"/>
                </a:solidFill>
                <a:latin typeface="Calibri"/>
              </a:rPr>
              <a:t>Six core challenges mapped to value chain</a:t>
            </a:r>
          </a:p>
        </p:txBody>
      </p:sp>
      <p:sp>
        <p:nvSpPr>
          <p:cNvPr id="15" name="Oval 14"/>
          <p:cNvSpPr/>
          <p:nvPr/>
        </p:nvSpPr>
        <p:spPr>
          <a:xfrm>
            <a:off x="6309360" y="2834640"/>
            <a:ext cx="640080" cy="6400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6</a:t>
            </a:r>
          </a:p>
        </p:txBody>
      </p:sp>
      <p:sp>
        <p:nvSpPr>
          <p:cNvPr id="16" name="TextBox 15"/>
          <p:cNvSpPr txBox="1"/>
          <p:nvPr/>
        </p:nvSpPr>
        <p:spPr>
          <a:xfrm>
            <a:off x="7132320" y="2788920"/>
            <a:ext cx="4572000" cy="411480"/>
          </a:xfrm>
          <a:prstGeom prst="rect">
            <a:avLst/>
          </a:prstGeom>
          <a:noFill/>
        </p:spPr>
        <p:txBody>
          <a:bodyPr wrap="square">
            <a:spAutoFit/>
          </a:bodyPr>
          <a:lstStyle/>
          <a:p>
            <a:pPr algn="l"/>
            <a:r>
              <a:rPr sz="2000" b="1">
                <a:solidFill>
                  <a:srgbClr val="002B5C"/>
                </a:solidFill>
                <a:latin typeface="Calibri"/>
              </a:rPr>
              <a:t>Market Opportunity</a:t>
            </a:r>
          </a:p>
        </p:txBody>
      </p:sp>
      <p:sp>
        <p:nvSpPr>
          <p:cNvPr id="17" name="TextBox 16"/>
          <p:cNvSpPr txBox="1"/>
          <p:nvPr/>
        </p:nvSpPr>
        <p:spPr>
          <a:xfrm>
            <a:off x="7132320" y="3154680"/>
            <a:ext cx="4572000" cy="320040"/>
          </a:xfrm>
          <a:prstGeom prst="rect">
            <a:avLst/>
          </a:prstGeom>
          <a:noFill/>
        </p:spPr>
        <p:txBody>
          <a:bodyPr wrap="square">
            <a:spAutoFit/>
          </a:bodyPr>
          <a:lstStyle/>
          <a:p>
            <a:pPr algn="l"/>
            <a:r>
              <a:rPr sz="1400" b="0">
                <a:solidFill>
                  <a:srgbClr val="6C757D"/>
                </a:solidFill>
                <a:latin typeface="Calibri"/>
              </a:rPr>
              <a:t>Market sizing &amp; revenue potential</a:t>
            </a:r>
          </a:p>
        </p:txBody>
      </p:sp>
      <p:sp>
        <p:nvSpPr>
          <p:cNvPr id="18" name="Oval 17"/>
          <p:cNvSpPr/>
          <p:nvPr/>
        </p:nvSpPr>
        <p:spPr>
          <a:xfrm>
            <a:off x="640080" y="4069080"/>
            <a:ext cx="640080" cy="64008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sz="2200" dirty="0">
              <a:solidFill>
                <a:srgbClr val="FFFFFF"/>
              </a:solidFill>
            </a:endParaRPr>
            <a:r>
              <a:rPr lang="en-US" dirty="0"/>
              <a:t>3</a:t>
            </a:r>
          </a:p>
        </p:txBody>
      </p:sp>
      <p:sp>
        <p:nvSpPr>
          <p:cNvPr id="19" name="TextBox 18"/>
          <p:cNvSpPr txBox="1"/>
          <p:nvPr/>
        </p:nvSpPr>
        <p:spPr>
          <a:xfrm>
            <a:off x="1463040" y="4023360"/>
            <a:ext cx="4572000" cy="411480"/>
          </a:xfrm>
          <a:prstGeom prst="rect">
            <a:avLst/>
          </a:prstGeom>
          <a:noFill/>
        </p:spPr>
        <p:txBody>
          <a:bodyPr wrap="square">
            <a:spAutoFit/>
          </a:bodyPr>
          <a:lstStyle/>
          <a:p>
            <a:pPr algn="l"/>
            <a:r>
              <a:rPr lang="en-US" sz="2000" b="1" dirty="0">
                <a:solidFill>
                  <a:srgbClr val="002B5C"/>
                </a:solidFill>
                <a:latin typeface="Calibri"/>
              </a:rPr>
              <a:t>Emerging </a:t>
            </a:r>
            <a:r>
              <a:rPr sz="2000" b="1" dirty="0">
                <a:solidFill>
                  <a:srgbClr val="002B5C"/>
                </a:solidFill>
                <a:latin typeface="Calibri"/>
              </a:rPr>
              <a:t>Technology Solutions</a:t>
            </a:r>
          </a:p>
        </p:txBody>
      </p:sp>
      <p:sp>
        <p:nvSpPr>
          <p:cNvPr id="20" name="TextBox 19"/>
          <p:cNvSpPr txBox="1"/>
          <p:nvPr/>
        </p:nvSpPr>
        <p:spPr>
          <a:xfrm>
            <a:off x="1463040" y="4389120"/>
            <a:ext cx="4572000" cy="320040"/>
          </a:xfrm>
          <a:prstGeom prst="rect">
            <a:avLst/>
          </a:prstGeom>
          <a:noFill/>
        </p:spPr>
        <p:txBody>
          <a:bodyPr wrap="square">
            <a:spAutoFit/>
          </a:bodyPr>
          <a:lstStyle/>
          <a:p>
            <a:pPr algn="l"/>
            <a:r>
              <a:rPr sz="1400" b="0" dirty="0">
                <a:solidFill>
                  <a:srgbClr val="6C757D"/>
                </a:solidFill>
                <a:latin typeface="Calibri"/>
              </a:rPr>
              <a:t>AI · VR/AR · 5G &amp; Edge · Blockchain</a:t>
            </a:r>
          </a:p>
        </p:txBody>
      </p:sp>
      <p:sp>
        <p:nvSpPr>
          <p:cNvPr id="21" name="Oval 20"/>
          <p:cNvSpPr/>
          <p:nvPr/>
        </p:nvSpPr>
        <p:spPr>
          <a:xfrm>
            <a:off x="6309360" y="4069080"/>
            <a:ext cx="640080" cy="6400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7</a:t>
            </a:r>
          </a:p>
        </p:txBody>
      </p:sp>
      <p:sp>
        <p:nvSpPr>
          <p:cNvPr id="22" name="TextBox 21"/>
          <p:cNvSpPr txBox="1"/>
          <p:nvPr/>
        </p:nvSpPr>
        <p:spPr>
          <a:xfrm>
            <a:off x="7132319" y="4023360"/>
            <a:ext cx="5059375" cy="411480"/>
          </a:xfrm>
          <a:prstGeom prst="rect">
            <a:avLst/>
          </a:prstGeom>
          <a:noFill/>
        </p:spPr>
        <p:txBody>
          <a:bodyPr wrap="square">
            <a:spAutoFit/>
          </a:bodyPr>
          <a:lstStyle/>
          <a:p>
            <a:pPr algn="l"/>
            <a:r>
              <a:rPr sz="2000" b="1" dirty="0">
                <a:solidFill>
                  <a:srgbClr val="002B5C"/>
                </a:solidFill>
                <a:latin typeface="Calibri"/>
              </a:rPr>
              <a:t>Investment &amp; R</a:t>
            </a:r>
            <a:r>
              <a:rPr lang="en-US" sz="2000" b="1" dirty="0">
                <a:solidFill>
                  <a:srgbClr val="002B5C"/>
                </a:solidFill>
                <a:latin typeface="Calibri"/>
              </a:rPr>
              <a:t>eturn on Investment (RO</a:t>
            </a:r>
            <a:r>
              <a:rPr sz="2000" b="1" dirty="0">
                <a:solidFill>
                  <a:srgbClr val="002B5C"/>
                </a:solidFill>
                <a:latin typeface="Calibri"/>
              </a:rPr>
              <a:t>I</a:t>
            </a:r>
            <a:r>
              <a:rPr lang="en-US" sz="2000" b="1" dirty="0">
                <a:solidFill>
                  <a:srgbClr val="002B5C"/>
                </a:solidFill>
                <a:latin typeface="Calibri"/>
              </a:rPr>
              <a:t>)</a:t>
            </a:r>
            <a:endParaRPr sz="2000" b="1" dirty="0">
              <a:solidFill>
                <a:srgbClr val="002B5C"/>
              </a:solidFill>
              <a:latin typeface="Calibri"/>
            </a:endParaRPr>
          </a:p>
        </p:txBody>
      </p:sp>
      <p:sp>
        <p:nvSpPr>
          <p:cNvPr id="23" name="TextBox 22"/>
          <p:cNvSpPr txBox="1"/>
          <p:nvPr/>
        </p:nvSpPr>
        <p:spPr>
          <a:xfrm>
            <a:off x="7132320" y="4389120"/>
            <a:ext cx="4572000" cy="320040"/>
          </a:xfrm>
          <a:prstGeom prst="rect">
            <a:avLst/>
          </a:prstGeom>
          <a:noFill/>
        </p:spPr>
        <p:txBody>
          <a:bodyPr wrap="square">
            <a:spAutoFit/>
          </a:bodyPr>
          <a:lstStyle/>
          <a:p>
            <a:pPr algn="l"/>
            <a:r>
              <a:rPr sz="1400" b="0">
                <a:solidFill>
                  <a:srgbClr val="6C757D"/>
                </a:solidFill>
                <a:latin typeface="Calibri"/>
              </a:rPr>
              <a:t>Consolidated cost-benefit analysis</a:t>
            </a:r>
          </a:p>
        </p:txBody>
      </p:sp>
      <p:sp>
        <p:nvSpPr>
          <p:cNvPr id="24" name="Oval 23"/>
          <p:cNvSpPr/>
          <p:nvPr/>
        </p:nvSpPr>
        <p:spPr>
          <a:xfrm>
            <a:off x="640080" y="5303520"/>
            <a:ext cx="640080" cy="64008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4</a:t>
            </a:r>
          </a:p>
        </p:txBody>
      </p:sp>
      <p:sp>
        <p:nvSpPr>
          <p:cNvPr id="25" name="TextBox 24"/>
          <p:cNvSpPr txBox="1"/>
          <p:nvPr/>
        </p:nvSpPr>
        <p:spPr>
          <a:xfrm>
            <a:off x="1463040" y="5257800"/>
            <a:ext cx="4572000" cy="411480"/>
          </a:xfrm>
          <a:prstGeom prst="rect">
            <a:avLst/>
          </a:prstGeom>
          <a:noFill/>
        </p:spPr>
        <p:txBody>
          <a:bodyPr wrap="square">
            <a:spAutoFit/>
          </a:bodyPr>
          <a:lstStyle/>
          <a:p>
            <a:pPr algn="l"/>
            <a:r>
              <a:rPr sz="2000" b="1">
                <a:solidFill>
                  <a:srgbClr val="002B5C"/>
                </a:solidFill>
                <a:latin typeface="Calibri"/>
              </a:rPr>
              <a:t>Implementation Roadmap</a:t>
            </a:r>
          </a:p>
        </p:txBody>
      </p:sp>
      <p:sp>
        <p:nvSpPr>
          <p:cNvPr id="26" name="TextBox 25"/>
          <p:cNvSpPr txBox="1"/>
          <p:nvPr/>
        </p:nvSpPr>
        <p:spPr>
          <a:xfrm>
            <a:off x="1463040" y="5623560"/>
            <a:ext cx="4572000" cy="320040"/>
          </a:xfrm>
          <a:prstGeom prst="rect">
            <a:avLst/>
          </a:prstGeom>
          <a:noFill/>
        </p:spPr>
        <p:txBody>
          <a:bodyPr wrap="square">
            <a:spAutoFit/>
          </a:bodyPr>
          <a:lstStyle/>
          <a:p>
            <a:pPr algn="l"/>
            <a:r>
              <a:rPr sz="1400" b="0" dirty="0">
                <a:solidFill>
                  <a:srgbClr val="6C757D"/>
                </a:solidFill>
                <a:latin typeface="Calibri"/>
              </a:rPr>
              <a:t>Three-phase plan &amp; technology synergy</a:t>
            </a:r>
          </a:p>
        </p:txBody>
      </p:sp>
      <p:sp>
        <p:nvSpPr>
          <p:cNvPr id="27" name="Oval 26"/>
          <p:cNvSpPr/>
          <p:nvPr/>
        </p:nvSpPr>
        <p:spPr>
          <a:xfrm>
            <a:off x="6309360" y="5303520"/>
            <a:ext cx="640080" cy="64008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8</a:t>
            </a:r>
          </a:p>
        </p:txBody>
      </p:sp>
      <p:sp>
        <p:nvSpPr>
          <p:cNvPr id="28" name="TextBox 27"/>
          <p:cNvSpPr txBox="1"/>
          <p:nvPr/>
        </p:nvSpPr>
        <p:spPr>
          <a:xfrm>
            <a:off x="7132320" y="5257800"/>
            <a:ext cx="4572000" cy="411480"/>
          </a:xfrm>
          <a:prstGeom prst="rect">
            <a:avLst/>
          </a:prstGeom>
          <a:noFill/>
        </p:spPr>
        <p:txBody>
          <a:bodyPr wrap="square">
            <a:spAutoFit/>
          </a:bodyPr>
          <a:lstStyle/>
          <a:p>
            <a:pPr algn="l"/>
            <a:r>
              <a:rPr sz="2000" b="1">
                <a:solidFill>
                  <a:srgbClr val="002B5C"/>
                </a:solidFill>
                <a:latin typeface="Calibri"/>
              </a:rPr>
              <a:t>Conclusion</a:t>
            </a:r>
          </a:p>
        </p:txBody>
      </p:sp>
      <p:sp>
        <p:nvSpPr>
          <p:cNvPr id="29" name="TextBox 28"/>
          <p:cNvSpPr txBox="1"/>
          <p:nvPr/>
        </p:nvSpPr>
        <p:spPr>
          <a:xfrm>
            <a:off x="7132320" y="5623560"/>
            <a:ext cx="4572000" cy="320040"/>
          </a:xfrm>
          <a:prstGeom prst="rect">
            <a:avLst/>
          </a:prstGeom>
          <a:noFill/>
        </p:spPr>
        <p:txBody>
          <a:bodyPr wrap="square">
            <a:spAutoFit/>
          </a:bodyPr>
          <a:lstStyle/>
          <a:p>
            <a:pPr algn="l"/>
            <a:r>
              <a:rPr sz="1400" b="0">
                <a:solidFill>
                  <a:srgbClr val="6C757D"/>
                </a:solidFill>
                <a:latin typeface="Calibri"/>
              </a:rPr>
              <a:t>Recommendations &amp; next steps</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252881"/>
            <a:ext cx="9144000" cy="731520"/>
          </a:xfrm>
          <a:prstGeom prst="rect">
            <a:avLst/>
          </a:prstGeom>
          <a:noFill/>
        </p:spPr>
        <p:txBody>
          <a:bodyPr wrap="square">
            <a:spAutoFit/>
          </a:bodyPr>
          <a:lstStyle/>
          <a:p>
            <a:pPr algn="l"/>
            <a:r>
              <a:rPr sz="3400" b="1" dirty="0">
                <a:solidFill>
                  <a:srgbClr val="FFFFFF"/>
                </a:solidFill>
                <a:latin typeface="Calibri Light"/>
              </a:rPr>
              <a:t>Executive Summary</a:t>
            </a:r>
          </a:p>
        </p:txBody>
      </p:sp>
      <p:sp>
        <p:nvSpPr>
          <p:cNvPr id="5" name="TextBox 4"/>
          <p:cNvSpPr txBox="1"/>
          <p:nvPr/>
        </p:nvSpPr>
        <p:spPr>
          <a:xfrm>
            <a:off x="548640" y="792183"/>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Four</a:t>
            </a:r>
            <a:r>
              <a:rPr lang="en-US" sz="1600" b="0" dirty="0">
                <a:solidFill>
                  <a:schemeClr val="accent3">
                    <a:lumMod val="60000"/>
                    <a:lumOff val="40000"/>
                  </a:schemeClr>
                </a:solidFill>
                <a:latin typeface="Calibri"/>
              </a:rPr>
              <a:t> emerging</a:t>
            </a:r>
            <a:r>
              <a:rPr sz="1600" b="0" dirty="0">
                <a:solidFill>
                  <a:schemeClr val="accent3">
                    <a:lumMod val="60000"/>
                    <a:lumOff val="40000"/>
                  </a:schemeClr>
                </a:solidFill>
                <a:latin typeface="Calibri"/>
              </a:rPr>
              <a:t> technologies, one smart campus vision</a:t>
            </a:r>
          </a:p>
        </p:txBody>
      </p:sp>
      <p:sp>
        <p:nvSpPr>
          <p:cNvPr id="6" name="Rounded Rectangle 5"/>
          <p:cNvSpPr/>
          <p:nvPr/>
        </p:nvSpPr>
        <p:spPr>
          <a:xfrm>
            <a:off x="54864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94360" y="1600200"/>
            <a:ext cx="2560320" cy="64008"/>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828800"/>
            <a:ext cx="2423160" cy="492443"/>
          </a:xfrm>
          <a:prstGeom prst="rect">
            <a:avLst/>
          </a:prstGeom>
          <a:noFill/>
        </p:spPr>
        <p:txBody>
          <a:bodyPr wrap="square">
            <a:spAutoFit/>
          </a:bodyPr>
          <a:lstStyle/>
          <a:p>
            <a:pPr algn="ctr"/>
            <a:r>
              <a:rPr sz="2600" b="1" dirty="0">
                <a:solidFill>
                  <a:srgbClr val="009FDA"/>
                </a:solidFill>
                <a:latin typeface="Calibri"/>
              </a:rPr>
              <a:t>SGD 8.8–17.1M</a:t>
            </a:r>
          </a:p>
        </p:txBody>
      </p:sp>
      <p:sp>
        <p:nvSpPr>
          <p:cNvPr id="9" name="TextBox 8"/>
          <p:cNvSpPr txBox="1"/>
          <p:nvPr/>
        </p:nvSpPr>
        <p:spPr>
          <a:xfrm>
            <a:off x="731520" y="2331720"/>
            <a:ext cx="2286000" cy="307777"/>
          </a:xfrm>
          <a:prstGeom prst="rect">
            <a:avLst/>
          </a:prstGeom>
          <a:noFill/>
        </p:spPr>
        <p:txBody>
          <a:bodyPr wrap="square">
            <a:spAutoFit/>
          </a:bodyPr>
          <a:lstStyle/>
          <a:p>
            <a:pPr algn="ctr"/>
            <a:r>
              <a:rPr sz="1300" b="0" dirty="0">
                <a:solidFill>
                  <a:srgbClr val="6C757D"/>
                </a:solidFill>
                <a:latin typeface="Calibri"/>
              </a:rPr>
              <a:t>Year 1 </a:t>
            </a:r>
            <a:r>
              <a:rPr sz="1400" b="0" dirty="0">
                <a:solidFill>
                  <a:srgbClr val="6C757D"/>
                </a:solidFill>
                <a:latin typeface="Calibri"/>
              </a:rPr>
              <a:t>Investment</a:t>
            </a:r>
          </a:p>
        </p:txBody>
      </p:sp>
      <p:sp>
        <p:nvSpPr>
          <p:cNvPr id="10" name="Rounded Rectangle 9"/>
          <p:cNvSpPr/>
          <p:nvPr/>
        </p:nvSpPr>
        <p:spPr>
          <a:xfrm>
            <a:off x="3474720" y="1543776"/>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29000" y="1600200"/>
            <a:ext cx="2560320" cy="64008"/>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6160" y="1828800"/>
            <a:ext cx="2286000" cy="502920"/>
          </a:xfrm>
          <a:prstGeom prst="rect">
            <a:avLst/>
          </a:prstGeom>
          <a:noFill/>
        </p:spPr>
        <p:txBody>
          <a:bodyPr wrap="square">
            <a:spAutoFit/>
          </a:bodyPr>
          <a:lstStyle/>
          <a:p>
            <a:pPr algn="ctr"/>
            <a:r>
              <a:rPr sz="2600" b="1">
                <a:solidFill>
                  <a:srgbClr val="00A65A"/>
                </a:solidFill>
                <a:latin typeface="Calibri"/>
              </a:rPr>
              <a:t>SGD 10.5–23M</a:t>
            </a:r>
          </a:p>
        </p:txBody>
      </p:sp>
      <p:sp>
        <p:nvSpPr>
          <p:cNvPr id="13" name="TextBox 12"/>
          <p:cNvSpPr txBox="1"/>
          <p:nvPr/>
        </p:nvSpPr>
        <p:spPr>
          <a:xfrm>
            <a:off x="3566160" y="2331720"/>
            <a:ext cx="2286000" cy="307777"/>
          </a:xfrm>
          <a:prstGeom prst="rect">
            <a:avLst/>
          </a:prstGeom>
          <a:noFill/>
        </p:spPr>
        <p:txBody>
          <a:bodyPr wrap="square">
            <a:spAutoFit/>
          </a:bodyPr>
          <a:lstStyle/>
          <a:p>
            <a:pPr algn="ctr"/>
            <a:r>
              <a:rPr sz="1400" b="0" dirty="0">
                <a:solidFill>
                  <a:srgbClr val="6C757D"/>
                </a:solidFill>
                <a:latin typeface="Calibri"/>
              </a:rPr>
              <a:t>Projected</a:t>
            </a:r>
            <a:r>
              <a:rPr sz="1300" b="0" dirty="0">
                <a:solidFill>
                  <a:srgbClr val="6C757D"/>
                </a:solidFill>
                <a:latin typeface="Calibri"/>
              </a:rPr>
              <a:t> Annual Returns</a:t>
            </a:r>
          </a:p>
        </p:txBody>
      </p:sp>
      <p:sp>
        <p:nvSpPr>
          <p:cNvPr id="14" name="Rounded Rectangle 13"/>
          <p:cNvSpPr/>
          <p:nvPr/>
        </p:nvSpPr>
        <p:spPr>
          <a:xfrm>
            <a:off x="621792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63640" y="1600200"/>
            <a:ext cx="2560320" cy="6400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1828800"/>
            <a:ext cx="2286000" cy="502920"/>
          </a:xfrm>
          <a:prstGeom prst="rect">
            <a:avLst/>
          </a:prstGeom>
          <a:noFill/>
        </p:spPr>
        <p:txBody>
          <a:bodyPr wrap="square">
            <a:spAutoFit/>
          </a:bodyPr>
          <a:lstStyle/>
          <a:p>
            <a:pPr algn="ctr"/>
            <a:r>
              <a:rPr lang="en-US" sz="2600" b="1" dirty="0">
                <a:solidFill>
                  <a:srgbClr val="FFB700"/>
                </a:solidFill>
                <a:latin typeface="Calibri"/>
              </a:rPr>
              <a:t>2-4</a:t>
            </a:r>
            <a:r>
              <a:rPr sz="2600" b="1" dirty="0">
                <a:solidFill>
                  <a:srgbClr val="FFB700"/>
                </a:solidFill>
                <a:latin typeface="Calibri"/>
              </a:rPr>
              <a:t> Years</a:t>
            </a:r>
          </a:p>
        </p:txBody>
      </p:sp>
      <p:sp>
        <p:nvSpPr>
          <p:cNvPr id="17" name="TextBox 16"/>
          <p:cNvSpPr txBox="1"/>
          <p:nvPr/>
        </p:nvSpPr>
        <p:spPr>
          <a:xfrm>
            <a:off x="6400800" y="2331720"/>
            <a:ext cx="2286000" cy="307777"/>
          </a:xfrm>
          <a:prstGeom prst="rect">
            <a:avLst/>
          </a:prstGeom>
          <a:noFill/>
        </p:spPr>
        <p:txBody>
          <a:bodyPr wrap="square">
            <a:spAutoFit/>
          </a:bodyPr>
          <a:lstStyle/>
          <a:p>
            <a:pPr algn="ctr"/>
            <a:r>
              <a:rPr sz="1300" b="0" dirty="0">
                <a:solidFill>
                  <a:srgbClr val="6C757D"/>
                </a:solidFill>
                <a:latin typeface="Calibri"/>
              </a:rPr>
              <a:t>Breakeven </a:t>
            </a:r>
            <a:r>
              <a:rPr sz="1400" b="0" dirty="0">
                <a:solidFill>
                  <a:srgbClr val="6C757D"/>
                </a:solidFill>
                <a:latin typeface="Calibri"/>
              </a:rPr>
              <a:t>Period</a:t>
            </a:r>
          </a:p>
        </p:txBody>
      </p:sp>
      <p:sp>
        <p:nvSpPr>
          <p:cNvPr id="18" name="Rounded Rectangle 17"/>
          <p:cNvSpPr/>
          <p:nvPr/>
        </p:nvSpPr>
        <p:spPr>
          <a:xfrm>
            <a:off x="905256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098280" y="160020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35440" y="1828800"/>
            <a:ext cx="2286000" cy="502920"/>
          </a:xfrm>
          <a:prstGeom prst="rect">
            <a:avLst/>
          </a:prstGeom>
          <a:noFill/>
        </p:spPr>
        <p:txBody>
          <a:bodyPr wrap="square">
            <a:spAutoFit/>
          </a:bodyPr>
          <a:lstStyle/>
          <a:p>
            <a:pPr algn="ctr"/>
            <a:r>
              <a:rPr sz="2600" b="1">
                <a:solidFill>
                  <a:srgbClr val="6C5CE7"/>
                </a:solidFill>
                <a:latin typeface="Calibri"/>
              </a:rPr>
              <a:t>SGD 32.3M</a:t>
            </a:r>
          </a:p>
        </p:txBody>
      </p:sp>
      <p:sp>
        <p:nvSpPr>
          <p:cNvPr id="21" name="TextBox 20"/>
          <p:cNvSpPr txBox="1"/>
          <p:nvPr/>
        </p:nvSpPr>
        <p:spPr>
          <a:xfrm>
            <a:off x="9235440" y="2331720"/>
            <a:ext cx="2286000" cy="307777"/>
          </a:xfrm>
          <a:prstGeom prst="rect">
            <a:avLst/>
          </a:prstGeom>
          <a:noFill/>
        </p:spPr>
        <p:txBody>
          <a:bodyPr wrap="square">
            <a:spAutoFit/>
          </a:bodyPr>
          <a:lstStyle/>
          <a:p>
            <a:pPr algn="ctr"/>
            <a:r>
              <a:rPr sz="1400" b="0" dirty="0">
                <a:solidFill>
                  <a:srgbClr val="6C757D"/>
                </a:solidFill>
                <a:latin typeface="Calibri"/>
              </a:rPr>
              <a:t>Five-Year</a:t>
            </a:r>
            <a:r>
              <a:rPr sz="1300" b="0" dirty="0">
                <a:solidFill>
                  <a:srgbClr val="6C757D"/>
                </a:solidFill>
                <a:latin typeface="Calibri"/>
              </a:rPr>
              <a:t> Net Return</a:t>
            </a:r>
          </a:p>
        </p:txBody>
      </p:sp>
      <p:sp>
        <p:nvSpPr>
          <p:cNvPr id="22" name="Rounded Rectangle 21"/>
          <p:cNvSpPr/>
          <p:nvPr/>
        </p:nvSpPr>
        <p:spPr>
          <a:xfrm>
            <a:off x="548640" y="3017520"/>
            <a:ext cx="2651760" cy="137160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3813" y="3140404"/>
            <a:ext cx="3112347" cy="369332"/>
          </a:xfrm>
          <a:prstGeom prst="rect">
            <a:avLst/>
          </a:prstGeom>
          <a:noFill/>
        </p:spPr>
        <p:txBody>
          <a:bodyPr wrap="square">
            <a:spAutoFit/>
          </a:bodyPr>
          <a:lstStyle/>
          <a:p>
            <a:pPr algn="l"/>
            <a:r>
              <a:rPr sz="1800" b="1" dirty="0">
                <a:solidFill>
                  <a:srgbClr val="FFFFFF"/>
                </a:solidFill>
                <a:latin typeface="Calibri"/>
              </a:rPr>
              <a:t>🤖 </a:t>
            </a:r>
            <a:r>
              <a:rPr lang="en-SG" sz="1800" b="1" dirty="0">
                <a:solidFill>
                  <a:srgbClr val="FFFFFF"/>
                </a:solidFill>
                <a:latin typeface="Calibri"/>
              </a:rPr>
              <a:t>Artificial </a:t>
            </a:r>
            <a:r>
              <a:rPr lang="en-SG" sz="1600" b="1" dirty="0">
                <a:solidFill>
                  <a:srgbClr val="FFFFFF"/>
                </a:solidFill>
                <a:latin typeface="Calibri"/>
              </a:rPr>
              <a:t>Intelligence</a:t>
            </a:r>
            <a:r>
              <a:rPr lang="en-SG" sz="1800" b="1" dirty="0">
                <a:solidFill>
                  <a:srgbClr val="FFFFFF"/>
                </a:solidFill>
                <a:latin typeface="Calibri"/>
              </a:rPr>
              <a:t> (AI)</a:t>
            </a:r>
            <a:endParaRPr sz="1800" b="1" dirty="0">
              <a:solidFill>
                <a:srgbClr val="FFFFFF"/>
              </a:solidFill>
              <a:latin typeface="Calibri"/>
            </a:endParaRPr>
          </a:p>
        </p:txBody>
      </p:sp>
      <p:sp>
        <p:nvSpPr>
          <p:cNvPr id="24" name="TextBox 23"/>
          <p:cNvSpPr txBox="1"/>
          <p:nvPr/>
        </p:nvSpPr>
        <p:spPr>
          <a:xfrm>
            <a:off x="731520" y="3591851"/>
            <a:ext cx="2286000" cy="738664"/>
          </a:xfrm>
          <a:prstGeom prst="rect">
            <a:avLst/>
          </a:prstGeom>
          <a:noFill/>
        </p:spPr>
        <p:txBody>
          <a:bodyPr wrap="square">
            <a:spAutoFit/>
          </a:bodyPr>
          <a:lstStyle/>
          <a:p>
            <a:pPr algn="l"/>
            <a:r>
              <a:rPr sz="1400" b="0" dirty="0">
                <a:solidFill>
                  <a:srgbClr val="FFFFFF"/>
                </a:solidFill>
                <a:latin typeface="Calibri"/>
              </a:rPr>
              <a:t>Reduce admin costs by SGD 2–4M/yr
Improve retention 10–15%</a:t>
            </a:r>
          </a:p>
        </p:txBody>
      </p:sp>
      <p:sp>
        <p:nvSpPr>
          <p:cNvPr id="25" name="Rounded Rectangle 24"/>
          <p:cNvSpPr/>
          <p:nvPr/>
        </p:nvSpPr>
        <p:spPr>
          <a:xfrm>
            <a:off x="3383280" y="3017520"/>
            <a:ext cx="2651760" cy="137160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66160" y="3083560"/>
            <a:ext cx="2529840" cy="584775"/>
          </a:xfrm>
          <a:prstGeom prst="rect">
            <a:avLst/>
          </a:prstGeom>
          <a:noFill/>
        </p:spPr>
        <p:txBody>
          <a:bodyPr wrap="square">
            <a:spAutoFit/>
          </a:bodyPr>
          <a:lstStyle/>
          <a:p>
            <a:pPr algn="l"/>
            <a:r>
              <a:rPr sz="1600" b="1" dirty="0">
                <a:solidFill>
                  <a:srgbClr val="FFFFFF"/>
                </a:solidFill>
                <a:latin typeface="Calibri"/>
              </a:rPr>
              <a:t>🥽  </a:t>
            </a:r>
            <a:r>
              <a:rPr lang="en-US" sz="1600" b="1" dirty="0">
                <a:solidFill>
                  <a:srgbClr val="FFFFFF"/>
                </a:solidFill>
                <a:latin typeface="Calibri"/>
              </a:rPr>
              <a:t>Virtual/Augmented Reality – VR/AR</a:t>
            </a:r>
            <a:endParaRPr sz="1600" b="1" dirty="0">
              <a:solidFill>
                <a:srgbClr val="FFFFFF"/>
              </a:solidFill>
              <a:latin typeface="Calibri"/>
            </a:endParaRPr>
          </a:p>
        </p:txBody>
      </p:sp>
      <p:sp>
        <p:nvSpPr>
          <p:cNvPr id="27" name="TextBox 26"/>
          <p:cNvSpPr txBox="1"/>
          <p:nvPr/>
        </p:nvSpPr>
        <p:spPr>
          <a:xfrm>
            <a:off x="3566160" y="3670310"/>
            <a:ext cx="2286000" cy="523220"/>
          </a:xfrm>
          <a:prstGeom prst="rect">
            <a:avLst/>
          </a:prstGeom>
          <a:noFill/>
        </p:spPr>
        <p:txBody>
          <a:bodyPr wrap="square">
            <a:spAutoFit/>
          </a:bodyPr>
          <a:lstStyle/>
          <a:p>
            <a:pPr algn="l"/>
            <a:r>
              <a:rPr sz="1400" b="0" dirty="0">
                <a:solidFill>
                  <a:srgbClr val="FFFFFF"/>
                </a:solidFill>
                <a:latin typeface="Calibri"/>
              </a:rPr>
              <a:t>Expand training capacity
SGD 2–5M/yr B2B licensing</a:t>
            </a:r>
          </a:p>
        </p:txBody>
      </p:sp>
      <p:sp>
        <p:nvSpPr>
          <p:cNvPr id="28" name="Rounded Rectangle 27"/>
          <p:cNvSpPr/>
          <p:nvPr/>
        </p:nvSpPr>
        <p:spPr>
          <a:xfrm>
            <a:off x="6217920" y="3017520"/>
            <a:ext cx="2651760" cy="137160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63640" y="3171182"/>
            <a:ext cx="2590800" cy="338554"/>
          </a:xfrm>
          <a:prstGeom prst="rect">
            <a:avLst/>
          </a:prstGeom>
          <a:noFill/>
        </p:spPr>
        <p:txBody>
          <a:bodyPr wrap="square">
            <a:spAutoFit/>
          </a:bodyPr>
          <a:lstStyle/>
          <a:p>
            <a:pPr algn="l"/>
            <a:r>
              <a:rPr sz="1600" b="1" dirty="0">
                <a:solidFill>
                  <a:srgbClr val="FFFFFF"/>
                </a:solidFill>
                <a:latin typeface="Calibri"/>
              </a:rPr>
              <a:t>📡  5G &amp; Edge</a:t>
            </a:r>
            <a:r>
              <a:rPr lang="en-US" sz="1600" b="1" dirty="0">
                <a:solidFill>
                  <a:srgbClr val="FFFFFF"/>
                </a:solidFill>
                <a:latin typeface="Calibri"/>
              </a:rPr>
              <a:t> Computing </a:t>
            </a:r>
            <a:endParaRPr sz="1600" b="1" dirty="0">
              <a:solidFill>
                <a:srgbClr val="FFFFFF"/>
              </a:solidFill>
              <a:latin typeface="Calibri"/>
            </a:endParaRPr>
          </a:p>
        </p:txBody>
      </p:sp>
      <p:sp>
        <p:nvSpPr>
          <p:cNvPr id="30" name="TextBox 29"/>
          <p:cNvSpPr txBox="1"/>
          <p:nvPr/>
        </p:nvSpPr>
        <p:spPr>
          <a:xfrm>
            <a:off x="6416040" y="3606256"/>
            <a:ext cx="2286000" cy="523220"/>
          </a:xfrm>
          <a:prstGeom prst="rect">
            <a:avLst/>
          </a:prstGeom>
          <a:noFill/>
        </p:spPr>
        <p:txBody>
          <a:bodyPr wrap="square">
            <a:spAutoFit/>
          </a:bodyPr>
          <a:lstStyle/>
          <a:p>
            <a:pPr algn="l"/>
            <a:r>
              <a:rPr sz="1400" b="0" dirty="0">
                <a:solidFill>
                  <a:srgbClr val="FFFFFF"/>
                </a:solidFill>
                <a:latin typeface="Calibri"/>
              </a:rPr>
              <a:t>Smart-campus backbone
Lower energy costs 10–15%</a:t>
            </a:r>
          </a:p>
        </p:txBody>
      </p:sp>
      <p:sp>
        <p:nvSpPr>
          <p:cNvPr id="31" name="Rounded Rectangle 30"/>
          <p:cNvSpPr/>
          <p:nvPr/>
        </p:nvSpPr>
        <p:spPr>
          <a:xfrm>
            <a:off x="9052560" y="3017520"/>
            <a:ext cx="2651760" cy="137160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235440" y="3200400"/>
            <a:ext cx="2286000" cy="338554"/>
          </a:xfrm>
          <a:prstGeom prst="rect">
            <a:avLst/>
          </a:prstGeom>
          <a:noFill/>
        </p:spPr>
        <p:txBody>
          <a:bodyPr wrap="square">
            <a:spAutoFit/>
          </a:bodyPr>
          <a:lstStyle/>
          <a:p>
            <a:pPr algn="l"/>
            <a:r>
              <a:rPr sz="1600" b="1" dirty="0">
                <a:solidFill>
                  <a:srgbClr val="FFFFFF"/>
                </a:solidFill>
                <a:latin typeface="Calibri"/>
              </a:rPr>
              <a:t>🔗  Blockchain</a:t>
            </a:r>
          </a:p>
        </p:txBody>
      </p:sp>
      <p:sp>
        <p:nvSpPr>
          <p:cNvPr id="33" name="TextBox 32"/>
          <p:cNvSpPr txBox="1"/>
          <p:nvPr/>
        </p:nvSpPr>
        <p:spPr>
          <a:xfrm>
            <a:off x="9235440" y="3611880"/>
            <a:ext cx="2286000" cy="523220"/>
          </a:xfrm>
          <a:prstGeom prst="rect">
            <a:avLst/>
          </a:prstGeom>
          <a:noFill/>
        </p:spPr>
        <p:txBody>
          <a:bodyPr wrap="square">
            <a:spAutoFit/>
          </a:bodyPr>
          <a:lstStyle/>
          <a:p>
            <a:pPr algn="l"/>
            <a:r>
              <a:rPr sz="1400" b="0" dirty="0">
                <a:solidFill>
                  <a:srgbClr val="FFFFFF"/>
                </a:solidFill>
                <a:latin typeface="Calibri"/>
              </a:rPr>
              <a:t>Verify credentials in seconds
Cut manual </a:t>
            </a:r>
            <a:r>
              <a:rPr sz="1400" b="0" dirty="0" err="1">
                <a:solidFill>
                  <a:srgbClr val="FFFFFF"/>
                </a:solidFill>
                <a:latin typeface="Calibri"/>
              </a:rPr>
              <a:t>labour</a:t>
            </a:r>
            <a:r>
              <a:rPr sz="1400" b="0" dirty="0">
                <a:solidFill>
                  <a:srgbClr val="FFFFFF"/>
                </a:solidFill>
                <a:latin typeface="Calibri"/>
              </a:rPr>
              <a:t> 50–70%</a:t>
            </a:r>
          </a:p>
        </p:txBody>
      </p:sp>
      <p:sp>
        <p:nvSpPr>
          <p:cNvPr id="34" name="Rounded Rectangle 33"/>
          <p:cNvSpPr/>
          <p:nvPr/>
        </p:nvSpPr>
        <p:spPr>
          <a:xfrm>
            <a:off x="548640" y="4754880"/>
            <a:ext cx="1106424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9487" y="4916896"/>
            <a:ext cx="10332720" cy="731520"/>
          </a:xfrm>
          <a:prstGeom prst="rect">
            <a:avLst/>
          </a:prstGeom>
          <a:noFill/>
        </p:spPr>
        <p:txBody>
          <a:bodyPr wrap="square">
            <a:spAutoFit/>
          </a:bodyPr>
          <a:lstStyle/>
          <a:p>
            <a:pPr algn="ctr"/>
            <a:r>
              <a:rPr sz="1500" b="0" dirty="0">
                <a:solidFill>
                  <a:srgbClr val="002B5C"/>
                </a:solidFill>
                <a:latin typeface="Calibri"/>
              </a:rPr>
              <a:t>💡  A phased three-year implementation roadmap manages risk while the four technologies reinforce one another to form a cohesive smart-campus ecosystem — positioning NYP as Singapore's leading polytechnic in the digital age.</a:t>
            </a:r>
          </a:p>
        </p:txBody>
      </p:sp>
      <p:sp>
        <p:nvSpPr>
          <p:cNvPr id="36" name="Rectangle 35"/>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8" name="TextBox 37"/>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Organisation Overview</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Nanyang Polytechnic (NYP)</a:t>
            </a:r>
          </a:p>
        </p:txBody>
      </p:sp>
      <p:sp>
        <p:nvSpPr>
          <p:cNvPr id="6" name="Rounded Rectangle 5"/>
          <p:cNvSpPr/>
          <p:nvPr/>
        </p:nvSpPr>
        <p:spPr>
          <a:xfrm>
            <a:off x="54864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485900" y="1714500"/>
            <a:ext cx="777240" cy="7772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8" name="TextBox 7"/>
          <p:cNvSpPr txBox="1"/>
          <p:nvPr/>
        </p:nvSpPr>
        <p:spPr>
          <a:xfrm>
            <a:off x="731520" y="2628900"/>
            <a:ext cx="2286000" cy="274320"/>
          </a:xfrm>
          <a:prstGeom prst="rect">
            <a:avLst/>
          </a:prstGeom>
          <a:noFill/>
        </p:spPr>
        <p:txBody>
          <a:bodyPr wrap="square">
            <a:spAutoFit/>
          </a:bodyPr>
          <a:lstStyle/>
          <a:p>
            <a:pPr algn="ctr"/>
            <a:r>
              <a:rPr sz="1400" b="1" dirty="0">
                <a:solidFill>
                  <a:srgbClr val="009FDA"/>
                </a:solidFill>
                <a:latin typeface="Calibri"/>
              </a:rPr>
              <a:t>Established</a:t>
            </a:r>
          </a:p>
        </p:txBody>
      </p:sp>
      <p:sp>
        <p:nvSpPr>
          <p:cNvPr id="9" name="TextBox 8"/>
          <p:cNvSpPr txBox="1"/>
          <p:nvPr/>
        </p:nvSpPr>
        <p:spPr>
          <a:xfrm>
            <a:off x="731520" y="2878348"/>
            <a:ext cx="2286000" cy="523220"/>
          </a:xfrm>
          <a:prstGeom prst="rect">
            <a:avLst/>
          </a:prstGeom>
          <a:noFill/>
        </p:spPr>
        <p:txBody>
          <a:bodyPr wrap="square">
            <a:spAutoFit/>
          </a:bodyPr>
          <a:lstStyle/>
          <a:p>
            <a:pPr algn="ctr"/>
            <a:r>
              <a:rPr sz="1400" b="0" dirty="0">
                <a:solidFill>
                  <a:srgbClr val="2D2D2D"/>
                </a:solidFill>
                <a:latin typeface="Calibri"/>
              </a:rPr>
              <a:t>1992
Ang Mo Kio, S</a:t>
            </a:r>
            <a:r>
              <a:rPr lang="en-US" sz="1400" b="0" dirty="0">
                <a:solidFill>
                  <a:srgbClr val="2D2D2D"/>
                </a:solidFill>
                <a:latin typeface="Calibri"/>
              </a:rPr>
              <a:t>ingapore</a:t>
            </a:r>
            <a:endParaRPr sz="1400" b="0" dirty="0">
              <a:solidFill>
                <a:srgbClr val="2D2D2D"/>
              </a:solidFill>
              <a:latin typeface="Calibri"/>
            </a:endParaRPr>
          </a:p>
        </p:txBody>
      </p:sp>
      <p:sp>
        <p:nvSpPr>
          <p:cNvPr id="10" name="Rounded Rectangle 9"/>
          <p:cNvSpPr/>
          <p:nvPr/>
        </p:nvSpPr>
        <p:spPr>
          <a:xfrm>
            <a:off x="338328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320540" y="1714500"/>
            <a:ext cx="777240" cy="77724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12" name="TextBox 11"/>
          <p:cNvSpPr txBox="1"/>
          <p:nvPr/>
        </p:nvSpPr>
        <p:spPr>
          <a:xfrm>
            <a:off x="3566160" y="2560426"/>
            <a:ext cx="2286000" cy="307777"/>
          </a:xfrm>
          <a:prstGeom prst="rect">
            <a:avLst/>
          </a:prstGeom>
          <a:noFill/>
        </p:spPr>
        <p:txBody>
          <a:bodyPr wrap="square">
            <a:spAutoFit/>
          </a:bodyPr>
          <a:lstStyle/>
          <a:p>
            <a:pPr algn="ctr"/>
            <a:r>
              <a:rPr sz="1400" b="1" dirty="0">
                <a:solidFill>
                  <a:srgbClr val="00A65A"/>
                </a:solidFill>
                <a:latin typeface="Calibri"/>
              </a:rPr>
              <a:t>Students</a:t>
            </a:r>
          </a:p>
        </p:txBody>
      </p:sp>
      <p:sp>
        <p:nvSpPr>
          <p:cNvPr id="13" name="TextBox 12"/>
          <p:cNvSpPr txBox="1"/>
          <p:nvPr/>
        </p:nvSpPr>
        <p:spPr>
          <a:xfrm>
            <a:off x="3566160" y="2868203"/>
            <a:ext cx="2286000" cy="523220"/>
          </a:xfrm>
          <a:prstGeom prst="rect">
            <a:avLst/>
          </a:prstGeom>
          <a:noFill/>
        </p:spPr>
        <p:txBody>
          <a:bodyPr wrap="square">
            <a:spAutoFit/>
          </a:bodyPr>
          <a:lstStyle/>
          <a:p>
            <a:pPr algn="ctr"/>
            <a:r>
              <a:rPr sz="1400" b="0" dirty="0">
                <a:solidFill>
                  <a:srgbClr val="2D2D2D"/>
                </a:solidFill>
                <a:latin typeface="Calibri"/>
              </a:rPr>
              <a:t>~15,000 FT
+ CET learners</a:t>
            </a:r>
          </a:p>
        </p:txBody>
      </p:sp>
      <p:sp>
        <p:nvSpPr>
          <p:cNvPr id="14" name="Rounded Rectangle 13"/>
          <p:cNvSpPr/>
          <p:nvPr/>
        </p:nvSpPr>
        <p:spPr>
          <a:xfrm>
            <a:off x="621792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155180" y="1710154"/>
            <a:ext cx="777240" cy="77724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6" name="TextBox 15"/>
          <p:cNvSpPr txBox="1"/>
          <p:nvPr/>
        </p:nvSpPr>
        <p:spPr>
          <a:xfrm>
            <a:off x="6400800" y="2593883"/>
            <a:ext cx="2286000" cy="274320"/>
          </a:xfrm>
          <a:prstGeom prst="rect">
            <a:avLst/>
          </a:prstGeom>
          <a:noFill/>
        </p:spPr>
        <p:txBody>
          <a:bodyPr wrap="square">
            <a:spAutoFit/>
          </a:bodyPr>
          <a:lstStyle/>
          <a:p>
            <a:pPr algn="ctr"/>
            <a:r>
              <a:rPr sz="1400" b="1" dirty="0">
                <a:solidFill>
                  <a:srgbClr val="6C5CE7"/>
                </a:solidFill>
                <a:latin typeface="Calibri"/>
              </a:rPr>
              <a:t>Schools</a:t>
            </a:r>
          </a:p>
        </p:txBody>
      </p:sp>
      <p:sp>
        <p:nvSpPr>
          <p:cNvPr id="17" name="TextBox 16"/>
          <p:cNvSpPr txBox="1"/>
          <p:nvPr/>
        </p:nvSpPr>
        <p:spPr>
          <a:xfrm>
            <a:off x="6400800" y="2868203"/>
            <a:ext cx="2286000" cy="523220"/>
          </a:xfrm>
          <a:prstGeom prst="rect">
            <a:avLst/>
          </a:prstGeom>
          <a:noFill/>
        </p:spPr>
        <p:txBody>
          <a:bodyPr wrap="square">
            <a:spAutoFit/>
          </a:bodyPr>
          <a:lstStyle/>
          <a:p>
            <a:pPr algn="ctr"/>
            <a:r>
              <a:rPr sz="1400" b="0" dirty="0">
                <a:solidFill>
                  <a:srgbClr val="2D2D2D"/>
                </a:solidFill>
                <a:latin typeface="Calibri"/>
              </a:rPr>
              <a:t>6 Schools
across disciplines</a:t>
            </a:r>
          </a:p>
        </p:txBody>
      </p:sp>
      <p:sp>
        <p:nvSpPr>
          <p:cNvPr id="18" name="Rounded Rectangle 17"/>
          <p:cNvSpPr/>
          <p:nvPr/>
        </p:nvSpPr>
        <p:spPr>
          <a:xfrm>
            <a:off x="905256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989820" y="1710154"/>
            <a:ext cx="777240" cy="77724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20" name="TextBox 19"/>
          <p:cNvSpPr txBox="1"/>
          <p:nvPr/>
        </p:nvSpPr>
        <p:spPr>
          <a:xfrm>
            <a:off x="9235440" y="2591534"/>
            <a:ext cx="2286000" cy="274320"/>
          </a:xfrm>
          <a:prstGeom prst="rect">
            <a:avLst/>
          </a:prstGeom>
          <a:noFill/>
        </p:spPr>
        <p:txBody>
          <a:bodyPr wrap="square">
            <a:spAutoFit/>
          </a:bodyPr>
          <a:lstStyle/>
          <a:p>
            <a:pPr algn="ctr"/>
            <a:r>
              <a:rPr sz="1400" b="1" dirty="0">
                <a:solidFill>
                  <a:srgbClr val="FFB700"/>
                </a:solidFill>
                <a:latin typeface="Calibri"/>
              </a:rPr>
              <a:t>Budget</a:t>
            </a:r>
          </a:p>
        </p:txBody>
      </p:sp>
      <p:sp>
        <p:nvSpPr>
          <p:cNvPr id="21" name="TextBox 20"/>
          <p:cNvSpPr txBox="1"/>
          <p:nvPr/>
        </p:nvSpPr>
        <p:spPr>
          <a:xfrm>
            <a:off x="9235440" y="2878348"/>
            <a:ext cx="2286000" cy="523220"/>
          </a:xfrm>
          <a:prstGeom prst="rect">
            <a:avLst/>
          </a:prstGeom>
          <a:noFill/>
        </p:spPr>
        <p:txBody>
          <a:bodyPr wrap="square">
            <a:spAutoFit/>
          </a:bodyPr>
          <a:lstStyle/>
          <a:p>
            <a:pPr algn="ctr"/>
            <a:r>
              <a:rPr sz="1400" b="0" dirty="0">
                <a:solidFill>
                  <a:srgbClr val="2D2D2D"/>
                </a:solidFill>
                <a:latin typeface="Calibri"/>
              </a:rPr>
              <a:t>SGD 200–300M
(MOE-funded)</a:t>
            </a:r>
          </a:p>
        </p:txBody>
      </p:sp>
      <p:sp>
        <p:nvSpPr>
          <p:cNvPr id="22" name="Rounded Rectangle 21"/>
          <p:cNvSpPr/>
          <p:nvPr/>
        </p:nvSpPr>
        <p:spPr>
          <a:xfrm>
            <a:off x="548640" y="3657600"/>
            <a:ext cx="11064240" cy="822960"/>
          </a:xfrm>
          <a:prstGeom prst="round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399" y="3799332"/>
            <a:ext cx="10332720" cy="738664"/>
          </a:xfrm>
          <a:prstGeom prst="rect">
            <a:avLst/>
          </a:prstGeom>
          <a:noFill/>
        </p:spPr>
        <p:txBody>
          <a:bodyPr wrap="square">
            <a:spAutoFit/>
          </a:bodyPr>
          <a:lstStyle/>
          <a:p>
            <a:pPr algn="ctr"/>
            <a:r>
              <a:rPr sz="1400" b="1" dirty="0">
                <a:solidFill>
                  <a:schemeClr val="bg1"/>
                </a:solidFill>
                <a:latin typeface="Calibri"/>
              </a:rPr>
              <a:t>🎯  Mission: </a:t>
            </a:r>
            <a:r>
              <a:rPr lang="en-US" sz="1400" dirty="0">
                <a:solidFill>
                  <a:schemeClr val="bg1"/>
                </a:solidFill>
              </a:rPr>
              <a:t>Empowering Learners for Work &amp; Life</a:t>
            </a:r>
          </a:p>
          <a:p>
            <a:pPr algn="ctr"/>
            <a:r>
              <a:rPr lang="en-US" sz="1400" dirty="0">
                <a:solidFill>
                  <a:schemeClr val="bg1"/>
                </a:solidFill>
              </a:rPr>
              <a:t>Co-creating with Industry for Growth &amp; Sustainability</a:t>
            </a:r>
          </a:p>
          <a:p>
            <a:pPr algn="ctr"/>
            <a:endParaRPr sz="1400" b="1" dirty="0">
              <a:solidFill>
                <a:schemeClr val="bg1"/>
              </a:solidFill>
              <a:latin typeface="Calibri"/>
            </a:endParaRPr>
          </a:p>
        </p:txBody>
      </p:sp>
      <p:sp>
        <p:nvSpPr>
          <p:cNvPr id="24" name="TextBox 23"/>
          <p:cNvSpPr txBox="1"/>
          <p:nvPr/>
        </p:nvSpPr>
        <p:spPr>
          <a:xfrm>
            <a:off x="548640" y="4754880"/>
            <a:ext cx="3566160" cy="307777"/>
          </a:xfrm>
          <a:prstGeom prst="rect">
            <a:avLst/>
          </a:prstGeom>
          <a:noFill/>
        </p:spPr>
        <p:txBody>
          <a:bodyPr wrap="square">
            <a:spAutoFit/>
          </a:bodyPr>
          <a:lstStyle/>
          <a:p>
            <a:pPr algn="l"/>
            <a:r>
              <a:rPr sz="1400" b="0" dirty="0">
                <a:solidFill>
                  <a:srgbClr val="2D2D2D"/>
                </a:solidFill>
                <a:latin typeface="Calibri"/>
              </a:rPr>
              <a:t>▸  School of Information Technology</a:t>
            </a:r>
          </a:p>
        </p:txBody>
      </p:sp>
      <p:sp>
        <p:nvSpPr>
          <p:cNvPr id="25" name="TextBox 24"/>
          <p:cNvSpPr txBox="1"/>
          <p:nvPr/>
        </p:nvSpPr>
        <p:spPr>
          <a:xfrm>
            <a:off x="4297679" y="4754880"/>
            <a:ext cx="3566160" cy="307777"/>
          </a:xfrm>
          <a:prstGeom prst="rect">
            <a:avLst/>
          </a:prstGeom>
          <a:noFill/>
        </p:spPr>
        <p:txBody>
          <a:bodyPr wrap="square">
            <a:spAutoFit/>
          </a:bodyPr>
          <a:lstStyle/>
          <a:p>
            <a:pPr algn="l"/>
            <a:r>
              <a:rPr sz="1400" b="0" dirty="0">
                <a:solidFill>
                  <a:srgbClr val="2D2D2D"/>
                </a:solidFill>
                <a:latin typeface="Calibri"/>
              </a:rPr>
              <a:t>▸  School of Engineering</a:t>
            </a:r>
          </a:p>
        </p:txBody>
      </p:sp>
      <p:sp>
        <p:nvSpPr>
          <p:cNvPr id="26" name="TextBox 25"/>
          <p:cNvSpPr txBox="1"/>
          <p:nvPr/>
        </p:nvSpPr>
        <p:spPr>
          <a:xfrm>
            <a:off x="8046719" y="4754880"/>
            <a:ext cx="3566160" cy="307777"/>
          </a:xfrm>
          <a:prstGeom prst="rect">
            <a:avLst/>
          </a:prstGeom>
          <a:noFill/>
        </p:spPr>
        <p:txBody>
          <a:bodyPr wrap="square">
            <a:spAutoFit/>
          </a:bodyPr>
          <a:lstStyle/>
          <a:p>
            <a:pPr algn="l"/>
            <a:r>
              <a:rPr sz="1400" b="0">
                <a:solidFill>
                  <a:srgbClr val="2D2D2D"/>
                </a:solidFill>
                <a:latin typeface="Calibri"/>
              </a:rPr>
              <a:t>▸  School of Business Management</a:t>
            </a:r>
          </a:p>
        </p:txBody>
      </p:sp>
      <p:sp>
        <p:nvSpPr>
          <p:cNvPr id="27" name="TextBox 26"/>
          <p:cNvSpPr txBox="1"/>
          <p:nvPr/>
        </p:nvSpPr>
        <p:spPr>
          <a:xfrm>
            <a:off x="548640" y="5257800"/>
            <a:ext cx="3566160" cy="307777"/>
          </a:xfrm>
          <a:prstGeom prst="rect">
            <a:avLst/>
          </a:prstGeom>
          <a:noFill/>
        </p:spPr>
        <p:txBody>
          <a:bodyPr wrap="square">
            <a:spAutoFit/>
          </a:bodyPr>
          <a:lstStyle/>
          <a:p>
            <a:pPr algn="l"/>
            <a:r>
              <a:rPr sz="1400" b="0">
                <a:solidFill>
                  <a:srgbClr val="2D2D2D"/>
                </a:solidFill>
                <a:latin typeface="Calibri"/>
              </a:rPr>
              <a:t>▸  School of Design &amp; Media</a:t>
            </a:r>
          </a:p>
        </p:txBody>
      </p:sp>
      <p:sp>
        <p:nvSpPr>
          <p:cNvPr id="28" name="TextBox 27"/>
          <p:cNvSpPr txBox="1"/>
          <p:nvPr/>
        </p:nvSpPr>
        <p:spPr>
          <a:xfrm>
            <a:off x="4297679" y="5257800"/>
            <a:ext cx="3566160" cy="307777"/>
          </a:xfrm>
          <a:prstGeom prst="rect">
            <a:avLst/>
          </a:prstGeom>
          <a:noFill/>
        </p:spPr>
        <p:txBody>
          <a:bodyPr wrap="square">
            <a:spAutoFit/>
          </a:bodyPr>
          <a:lstStyle/>
          <a:p>
            <a:pPr algn="l"/>
            <a:r>
              <a:rPr sz="1400" b="0" dirty="0">
                <a:solidFill>
                  <a:srgbClr val="2D2D2D"/>
                </a:solidFill>
                <a:latin typeface="Calibri"/>
              </a:rPr>
              <a:t>▸  School of Health &amp; Social Sciences</a:t>
            </a:r>
          </a:p>
        </p:txBody>
      </p:sp>
      <p:sp>
        <p:nvSpPr>
          <p:cNvPr id="29" name="TextBox 28"/>
          <p:cNvSpPr txBox="1"/>
          <p:nvPr/>
        </p:nvSpPr>
        <p:spPr>
          <a:xfrm>
            <a:off x="8046719" y="5257800"/>
            <a:ext cx="3566160" cy="307777"/>
          </a:xfrm>
          <a:prstGeom prst="rect">
            <a:avLst/>
          </a:prstGeom>
          <a:noFill/>
        </p:spPr>
        <p:txBody>
          <a:bodyPr wrap="square">
            <a:spAutoFit/>
          </a:bodyPr>
          <a:lstStyle/>
          <a:p>
            <a:pPr algn="l"/>
            <a:r>
              <a:rPr sz="1400" b="0" dirty="0">
                <a:solidFill>
                  <a:srgbClr val="2D2D2D"/>
                </a:solidFill>
                <a:latin typeface="Calibri"/>
              </a:rPr>
              <a:t>▸  School of Applied Science</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NYP's Educational Value Chain</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End-to-end activities delivering value to students, employers &amp; government</a:t>
            </a:r>
          </a:p>
        </p:txBody>
      </p:sp>
      <p:sp>
        <p:nvSpPr>
          <p:cNvPr id="6" name="Rounded Rectangle 5"/>
          <p:cNvSpPr/>
          <p:nvPr/>
        </p:nvSpPr>
        <p:spPr>
          <a:xfrm>
            <a:off x="365760"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21792" y="2057400"/>
            <a:ext cx="777240" cy="7772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8" name="TextBox 7"/>
          <p:cNvSpPr txBox="1"/>
          <p:nvPr/>
        </p:nvSpPr>
        <p:spPr>
          <a:xfrm>
            <a:off x="411480" y="3017520"/>
            <a:ext cx="1234440" cy="523220"/>
          </a:xfrm>
          <a:prstGeom prst="rect">
            <a:avLst/>
          </a:prstGeom>
          <a:noFill/>
        </p:spPr>
        <p:txBody>
          <a:bodyPr wrap="square">
            <a:spAutoFit/>
          </a:bodyPr>
          <a:lstStyle/>
          <a:p>
            <a:pPr algn="ctr"/>
            <a:r>
              <a:rPr sz="1400" b="1" dirty="0">
                <a:solidFill>
                  <a:srgbClr val="002B5C"/>
                </a:solidFill>
                <a:latin typeface="Calibri"/>
              </a:rPr>
              <a:t>Student
Recruitment</a:t>
            </a:r>
          </a:p>
        </p:txBody>
      </p:sp>
      <p:sp>
        <p:nvSpPr>
          <p:cNvPr id="9" name="TextBox 8"/>
          <p:cNvSpPr txBox="1"/>
          <p:nvPr/>
        </p:nvSpPr>
        <p:spPr>
          <a:xfrm>
            <a:off x="1627632" y="2651760"/>
            <a:ext cx="274320" cy="430887"/>
          </a:xfrm>
          <a:prstGeom prst="rect">
            <a:avLst/>
          </a:prstGeom>
          <a:noFill/>
        </p:spPr>
        <p:txBody>
          <a:bodyPr wrap="square">
            <a:spAutoFit/>
          </a:bodyPr>
          <a:lstStyle/>
          <a:p>
            <a:pPr algn="ctr"/>
            <a:r>
              <a:rPr sz="2200" b="1" dirty="0">
                <a:solidFill>
                  <a:srgbClr val="009FDA"/>
                </a:solidFill>
                <a:latin typeface="Calibri"/>
              </a:rPr>
              <a:t>→</a:t>
            </a:r>
          </a:p>
        </p:txBody>
      </p:sp>
      <p:sp>
        <p:nvSpPr>
          <p:cNvPr id="10" name="Rounded Rectangle 9"/>
          <p:cNvSpPr/>
          <p:nvPr/>
        </p:nvSpPr>
        <p:spPr>
          <a:xfrm>
            <a:off x="1810512"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66544" y="2057400"/>
            <a:ext cx="777240" cy="77724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2" name="TextBox 11"/>
          <p:cNvSpPr txBox="1"/>
          <p:nvPr/>
        </p:nvSpPr>
        <p:spPr>
          <a:xfrm>
            <a:off x="1856232" y="3017520"/>
            <a:ext cx="1234440" cy="523220"/>
          </a:xfrm>
          <a:prstGeom prst="rect">
            <a:avLst/>
          </a:prstGeom>
          <a:noFill/>
        </p:spPr>
        <p:txBody>
          <a:bodyPr wrap="square">
            <a:spAutoFit/>
          </a:bodyPr>
          <a:lstStyle/>
          <a:p>
            <a:pPr algn="ctr"/>
            <a:r>
              <a:rPr sz="1400" b="1" dirty="0">
                <a:solidFill>
                  <a:srgbClr val="002B5C"/>
                </a:solidFill>
                <a:latin typeface="Calibri"/>
              </a:rPr>
              <a:t>Curriculum
Design</a:t>
            </a:r>
          </a:p>
        </p:txBody>
      </p:sp>
      <p:sp>
        <p:nvSpPr>
          <p:cNvPr id="13" name="TextBox 12"/>
          <p:cNvSpPr txBox="1"/>
          <p:nvPr/>
        </p:nvSpPr>
        <p:spPr>
          <a:xfrm>
            <a:off x="3072384"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4" name="Rounded Rectangle 13"/>
          <p:cNvSpPr/>
          <p:nvPr/>
        </p:nvSpPr>
        <p:spPr>
          <a:xfrm>
            <a:off x="3255264"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511296" y="2057400"/>
            <a:ext cx="777240" cy="77724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6" name="TextBox 15"/>
          <p:cNvSpPr txBox="1"/>
          <p:nvPr/>
        </p:nvSpPr>
        <p:spPr>
          <a:xfrm>
            <a:off x="3300984" y="3017520"/>
            <a:ext cx="1234440" cy="523220"/>
          </a:xfrm>
          <a:prstGeom prst="rect">
            <a:avLst/>
          </a:prstGeom>
          <a:noFill/>
        </p:spPr>
        <p:txBody>
          <a:bodyPr wrap="square">
            <a:spAutoFit/>
          </a:bodyPr>
          <a:lstStyle/>
          <a:p>
            <a:pPr algn="ctr"/>
            <a:r>
              <a:rPr sz="1400" b="1" dirty="0">
                <a:solidFill>
                  <a:srgbClr val="002B5C"/>
                </a:solidFill>
                <a:latin typeface="Calibri"/>
              </a:rPr>
              <a:t>Teaching &amp;
Learning</a:t>
            </a:r>
          </a:p>
        </p:txBody>
      </p:sp>
      <p:sp>
        <p:nvSpPr>
          <p:cNvPr id="17" name="TextBox 16"/>
          <p:cNvSpPr txBox="1"/>
          <p:nvPr/>
        </p:nvSpPr>
        <p:spPr>
          <a:xfrm>
            <a:off x="4517136"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8" name="Rounded Rectangle 17"/>
          <p:cNvSpPr/>
          <p:nvPr/>
        </p:nvSpPr>
        <p:spPr>
          <a:xfrm>
            <a:off x="4700016"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56048" y="2057400"/>
            <a:ext cx="777240" cy="77724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0" name="TextBox 19"/>
          <p:cNvSpPr txBox="1"/>
          <p:nvPr/>
        </p:nvSpPr>
        <p:spPr>
          <a:xfrm>
            <a:off x="4745736" y="3017520"/>
            <a:ext cx="1234440" cy="523220"/>
          </a:xfrm>
          <a:prstGeom prst="rect">
            <a:avLst/>
          </a:prstGeom>
          <a:noFill/>
        </p:spPr>
        <p:txBody>
          <a:bodyPr wrap="square">
            <a:spAutoFit/>
          </a:bodyPr>
          <a:lstStyle/>
          <a:p>
            <a:pPr algn="ctr"/>
            <a:r>
              <a:rPr sz="1400" b="1" dirty="0">
                <a:solidFill>
                  <a:srgbClr val="002B5C"/>
                </a:solidFill>
                <a:latin typeface="Calibri"/>
              </a:rPr>
              <a:t>Student
Support</a:t>
            </a:r>
          </a:p>
        </p:txBody>
      </p:sp>
      <p:sp>
        <p:nvSpPr>
          <p:cNvPr id="21" name="TextBox 20"/>
          <p:cNvSpPr txBox="1"/>
          <p:nvPr/>
        </p:nvSpPr>
        <p:spPr>
          <a:xfrm>
            <a:off x="5961888" y="2651760"/>
            <a:ext cx="274320" cy="365760"/>
          </a:xfrm>
          <a:prstGeom prst="rect">
            <a:avLst/>
          </a:prstGeom>
          <a:noFill/>
        </p:spPr>
        <p:txBody>
          <a:bodyPr wrap="square">
            <a:spAutoFit/>
          </a:bodyPr>
          <a:lstStyle/>
          <a:p>
            <a:pPr algn="ctr"/>
            <a:r>
              <a:rPr sz="2200" b="1" dirty="0">
                <a:solidFill>
                  <a:srgbClr val="009FDA"/>
                </a:solidFill>
                <a:latin typeface="Calibri"/>
              </a:rPr>
              <a:t>→</a:t>
            </a:r>
          </a:p>
        </p:txBody>
      </p:sp>
      <p:sp>
        <p:nvSpPr>
          <p:cNvPr id="22" name="Rounded Rectangle 21"/>
          <p:cNvSpPr/>
          <p:nvPr/>
        </p:nvSpPr>
        <p:spPr>
          <a:xfrm>
            <a:off x="6144768"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400800" y="2057400"/>
            <a:ext cx="777240" cy="77724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4" name="TextBox 23"/>
          <p:cNvSpPr txBox="1"/>
          <p:nvPr/>
        </p:nvSpPr>
        <p:spPr>
          <a:xfrm>
            <a:off x="6190488" y="3017520"/>
            <a:ext cx="1234440" cy="523220"/>
          </a:xfrm>
          <a:prstGeom prst="rect">
            <a:avLst/>
          </a:prstGeom>
          <a:noFill/>
        </p:spPr>
        <p:txBody>
          <a:bodyPr wrap="square">
            <a:spAutoFit/>
          </a:bodyPr>
          <a:lstStyle/>
          <a:p>
            <a:pPr algn="ctr"/>
            <a:r>
              <a:rPr sz="1400" b="1" dirty="0">
                <a:solidFill>
                  <a:srgbClr val="002B5C"/>
                </a:solidFill>
                <a:latin typeface="Calibri"/>
              </a:rPr>
              <a:t>Assessment &amp;
Certification</a:t>
            </a:r>
          </a:p>
        </p:txBody>
      </p:sp>
      <p:sp>
        <p:nvSpPr>
          <p:cNvPr id="25" name="TextBox 24"/>
          <p:cNvSpPr txBox="1"/>
          <p:nvPr/>
        </p:nvSpPr>
        <p:spPr>
          <a:xfrm>
            <a:off x="7406640"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26" name="Rounded Rectangle 25"/>
          <p:cNvSpPr/>
          <p:nvPr/>
        </p:nvSpPr>
        <p:spPr>
          <a:xfrm>
            <a:off x="7589520"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845552" y="2057400"/>
            <a:ext cx="777240" cy="77724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8" name="TextBox 27"/>
          <p:cNvSpPr txBox="1"/>
          <p:nvPr/>
        </p:nvSpPr>
        <p:spPr>
          <a:xfrm>
            <a:off x="7635240" y="3017520"/>
            <a:ext cx="1234440" cy="523220"/>
          </a:xfrm>
          <a:prstGeom prst="rect">
            <a:avLst/>
          </a:prstGeom>
          <a:noFill/>
        </p:spPr>
        <p:txBody>
          <a:bodyPr wrap="square">
            <a:spAutoFit/>
          </a:bodyPr>
          <a:lstStyle/>
          <a:p>
            <a:pPr algn="ctr"/>
            <a:r>
              <a:rPr sz="1400" b="1" dirty="0">
                <a:solidFill>
                  <a:srgbClr val="002B5C"/>
                </a:solidFill>
                <a:latin typeface="Calibri"/>
              </a:rPr>
              <a:t>Industry
Partnerships</a:t>
            </a:r>
          </a:p>
        </p:txBody>
      </p:sp>
      <p:sp>
        <p:nvSpPr>
          <p:cNvPr id="29" name="TextBox 28"/>
          <p:cNvSpPr txBox="1"/>
          <p:nvPr/>
        </p:nvSpPr>
        <p:spPr>
          <a:xfrm>
            <a:off x="8851392"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30" name="Rounded Rectangle 29"/>
          <p:cNvSpPr/>
          <p:nvPr/>
        </p:nvSpPr>
        <p:spPr>
          <a:xfrm>
            <a:off x="9034272"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9290304" y="2057400"/>
            <a:ext cx="777240" cy="77724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2" name="TextBox 31"/>
          <p:cNvSpPr txBox="1"/>
          <p:nvPr/>
        </p:nvSpPr>
        <p:spPr>
          <a:xfrm>
            <a:off x="9079992" y="3017520"/>
            <a:ext cx="1234440" cy="523220"/>
          </a:xfrm>
          <a:prstGeom prst="rect">
            <a:avLst/>
          </a:prstGeom>
          <a:noFill/>
        </p:spPr>
        <p:txBody>
          <a:bodyPr wrap="square">
            <a:spAutoFit/>
          </a:bodyPr>
          <a:lstStyle/>
          <a:p>
            <a:pPr algn="ctr"/>
            <a:r>
              <a:rPr sz="1400" b="1" dirty="0">
                <a:solidFill>
                  <a:srgbClr val="002B5C"/>
                </a:solidFill>
                <a:latin typeface="Calibri"/>
              </a:rPr>
              <a:t>CET
Programs</a:t>
            </a:r>
          </a:p>
        </p:txBody>
      </p:sp>
      <p:sp>
        <p:nvSpPr>
          <p:cNvPr id="33" name="TextBox 32"/>
          <p:cNvSpPr txBox="1"/>
          <p:nvPr/>
        </p:nvSpPr>
        <p:spPr>
          <a:xfrm>
            <a:off x="10296144"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34" name="Rounded Rectangle 33"/>
          <p:cNvSpPr/>
          <p:nvPr/>
        </p:nvSpPr>
        <p:spPr>
          <a:xfrm>
            <a:off x="10479024"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0735056" y="2057400"/>
            <a:ext cx="777240" cy="77724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6" name="TextBox 35"/>
          <p:cNvSpPr txBox="1"/>
          <p:nvPr/>
        </p:nvSpPr>
        <p:spPr>
          <a:xfrm>
            <a:off x="10524744" y="3017520"/>
            <a:ext cx="1234440" cy="523220"/>
          </a:xfrm>
          <a:prstGeom prst="rect">
            <a:avLst/>
          </a:prstGeom>
          <a:noFill/>
        </p:spPr>
        <p:txBody>
          <a:bodyPr wrap="square">
            <a:spAutoFit/>
          </a:bodyPr>
          <a:lstStyle/>
          <a:p>
            <a:pPr algn="ctr"/>
            <a:r>
              <a:rPr sz="1400" b="1" dirty="0">
                <a:solidFill>
                  <a:srgbClr val="002B5C"/>
                </a:solidFill>
                <a:latin typeface="Calibri"/>
              </a:rPr>
              <a:t>Campus
Operations</a:t>
            </a:r>
          </a:p>
        </p:txBody>
      </p:sp>
      <p:sp>
        <p:nvSpPr>
          <p:cNvPr id="37" name="Rounded Rectangle 36"/>
          <p:cNvSpPr/>
          <p:nvPr/>
        </p:nvSpPr>
        <p:spPr>
          <a:xfrm>
            <a:off x="548640" y="4389120"/>
            <a:ext cx="11064240" cy="731520"/>
          </a:xfrm>
          <a:prstGeom prst="roundRect">
            <a:avLst/>
          </a:prstGeom>
          <a:solidFill>
            <a:srgbClr val="D6E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29487" y="4592320"/>
            <a:ext cx="10332720" cy="548640"/>
          </a:xfrm>
          <a:prstGeom prst="rect">
            <a:avLst/>
          </a:prstGeom>
          <a:noFill/>
        </p:spPr>
        <p:txBody>
          <a:bodyPr wrap="square">
            <a:spAutoFit/>
          </a:bodyPr>
          <a:lstStyle/>
          <a:p>
            <a:pPr algn="ctr"/>
            <a:r>
              <a:rPr sz="1500" b="1" dirty="0">
                <a:solidFill>
                  <a:srgbClr val="002B5C"/>
                </a:solidFill>
                <a:latin typeface="Calibri"/>
              </a:rPr>
              <a:t>Each activity represents an area where emerging technologies can create measurable improvements</a:t>
            </a:r>
          </a:p>
        </p:txBody>
      </p:sp>
      <p:sp>
        <p:nvSpPr>
          <p:cNvPr id="39" name="Rectangle 38"/>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1" name="TextBox 40"/>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Current Problems &amp; Challenges</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Six core challenges mapped to the value chain</a:t>
            </a:r>
          </a:p>
        </p:txBody>
      </p:sp>
      <p:sp>
        <p:nvSpPr>
          <p:cNvPr id="6" name="Rounded Rectangle 5"/>
          <p:cNvSpPr/>
          <p:nvPr/>
        </p:nvSpPr>
        <p:spPr>
          <a:xfrm>
            <a:off x="45720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600200"/>
            <a:ext cx="3474720" cy="64008"/>
          </a:xfrm>
          <a:prstGeom prst="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40080" y="1783080"/>
            <a:ext cx="640080" cy="64008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9" name="TextBox 8"/>
          <p:cNvSpPr txBox="1"/>
          <p:nvPr/>
        </p:nvSpPr>
        <p:spPr>
          <a:xfrm>
            <a:off x="1417320" y="1783080"/>
            <a:ext cx="2377440" cy="594360"/>
          </a:xfrm>
          <a:prstGeom prst="rect">
            <a:avLst/>
          </a:prstGeom>
          <a:noFill/>
        </p:spPr>
        <p:txBody>
          <a:bodyPr wrap="square">
            <a:spAutoFit/>
          </a:bodyPr>
          <a:lstStyle/>
          <a:p>
            <a:pPr algn="l"/>
            <a:r>
              <a:rPr sz="1600" b="1">
                <a:solidFill>
                  <a:srgbClr val="002B5C"/>
                </a:solidFill>
                <a:latin typeface="Calibri"/>
              </a:rPr>
              <a:t>Scalability of
Personalised Learning</a:t>
            </a:r>
          </a:p>
        </p:txBody>
      </p:sp>
      <p:sp>
        <p:nvSpPr>
          <p:cNvPr id="10" name="TextBox 9"/>
          <p:cNvSpPr txBox="1"/>
          <p:nvPr/>
        </p:nvSpPr>
        <p:spPr>
          <a:xfrm>
            <a:off x="640080" y="2514600"/>
            <a:ext cx="3200400" cy="307777"/>
          </a:xfrm>
          <a:prstGeom prst="rect">
            <a:avLst/>
          </a:prstGeom>
          <a:noFill/>
        </p:spPr>
        <p:txBody>
          <a:bodyPr wrap="square">
            <a:spAutoFit/>
          </a:bodyPr>
          <a:lstStyle/>
          <a:p>
            <a:pPr algn="l"/>
            <a:r>
              <a:rPr sz="1400" b="0" dirty="0">
                <a:solidFill>
                  <a:srgbClr val="2D2D2D"/>
                </a:solidFill>
                <a:latin typeface="Calibri"/>
              </a:rPr>
              <a:t>Large class sizes limit individual attention</a:t>
            </a:r>
          </a:p>
        </p:txBody>
      </p:sp>
      <p:sp>
        <p:nvSpPr>
          <p:cNvPr id="11" name="Rounded Rectangle 10"/>
          <p:cNvSpPr/>
          <p:nvPr/>
        </p:nvSpPr>
        <p:spPr>
          <a:xfrm>
            <a:off x="640080" y="3108960"/>
            <a:ext cx="2286000" cy="365760"/>
          </a:xfrm>
          <a:prstGeom prst="round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136392"/>
            <a:ext cx="2103120" cy="320040"/>
          </a:xfrm>
          <a:prstGeom prst="rect">
            <a:avLst/>
          </a:prstGeom>
          <a:noFill/>
        </p:spPr>
        <p:txBody>
          <a:bodyPr wrap="square">
            <a:spAutoFit/>
          </a:bodyPr>
          <a:lstStyle/>
          <a:p>
            <a:pPr algn="l"/>
            <a:r>
              <a:rPr sz="1400" b="1" dirty="0">
                <a:solidFill>
                  <a:srgbClr val="FFFFFF"/>
                </a:solidFill>
                <a:latin typeface="Calibri"/>
              </a:rPr>
              <a:t>↳ Teaching &amp; Learning</a:t>
            </a:r>
          </a:p>
        </p:txBody>
      </p:sp>
      <p:sp>
        <p:nvSpPr>
          <p:cNvPr id="13" name="Rounded Rectangle 12"/>
          <p:cNvSpPr/>
          <p:nvPr/>
        </p:nvSpPr>
        <p:spPr>
          <a:xfrm>
            <a:off x="425196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97680" y="1600200"/>
            <a:ext cx="34747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434840" y="1783080"/>
            <a:ext cx="640080" cy="64008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16" name="TextBox 15"/>
          <p:cNvSpPr txBox="1"/>
          <p:nvPr/>
        </p:nvSpPr>
        <p:spPr>
          <a:xfrm>
            <a:off x="5212080" y="1783080"/>
            <a:ext cx="2377440" cy="594360"/>
          </a:xfrm>
          <a:prstGeom prst="rect">
            <a:avLst/>
          </a:prstGeom>
          <a:noFill/>
        </p:spPr>
        <p:txBody>
          <a:bodyPr wrap="square">
            <a:spAutoFit/>
          </a:bodyPr>
          <a:lstStyle/>
          <a:p>
            <a:pPr algn="l"/>
            <a:r>
              <a:rPr sz="1600" b="1">
                <a:solidFill>
                  <a:srgbClr val="002B5C"/>
                </a:solidFill>
                <a:latin typeface="Calibri"/>
              </a:rPr>
              <a:t>Limited Hands-On
Training</a:t>
            </a:r>
          </a:p>
        </p:txBody>
      </p:sp>
      <p:sp>
        <p:nvSpPr>
          <p:cNvPr id="17" name="TextBox 16"/>
          <p:cNvSpPr txBox="1"/>
          <p:nvPr/>
        </p:nvSpPr>
        <p:spPr>
          <a:xfrm>
            <a:off x="4434840" y="2514600"/>
            <a:ext cx="3200400" cy="523220"/>
          </a:xfrm>
          <a:prstGeom prst="rect">
            <a:avLst/>
          </a:prstGeom>
          <a:noFill/>
        </p:spPr>
        <p:txBody>
          <a:bodyPr wrap="square">
            <a:spAutoFit/>
          </a:bodyPr>
          <a:lstStyle/>
          <a:p>
            <a:pPr algn="l"/>
            <a:r>
              <a:rPr sz="1400" b="0" dirty="0">
                <a:solidFill>
                  <a:srgbClr val="2D2D2D"/>
                </a:solidFill>
                <a:latin typeface="Calibri"/>
              </a:rPr>
              <a:t>Physical lab constraints &amp; costly equipment</a:t>
            </a:r>
          </a:p>
        </p:txBody>
      </p:sp>
      <p:sp>
        <p:nvSpPr>
          <p:cNvPr id="18" name="Rounded Rectangle 17"/>
          <p:cNvSpPr/>
          <p:nvPr/>
        </p:nvSpPr>
        <p:spPr>
          <a:xfrm>
            <a:off x="4434840" y="3108960"/>
            <a:ext cx="2286000" cy="36576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26280" y="3136392"/>
            <a:ext cx="2103120" cy="320040"/>
          </a:xfrm>
          <a:prstGeom prst="rect">
            <a:avLst/>
          </a:prstGeom>
          <a:noFill/>
        </p:spPr>
        <p:txBody>
          <a:bodyPr wrap="square">
            <a:spAutoFit/>
          </a:bodyPr>
          <a:lstStyle/>
          <a:p>
            <a:pPr algn="l"/>
            <a:r>
              <a:rPr sz="1400" b="1" dirty="0">
                <a:solidFill>
                  <a:srgbClr val="FFFFFF"/>
                </a:solidFill>
                <a:latin typeface="Calibri"/>
              </a:rPr>
              <a:t>↳ Teaching &amp; Learning</a:t>
            </a:r>
          </a:p>
        </p:txBody>
      </p:sp>
      <p:sp>
        <p:nvSpPr>
          <p:cNvPr id="20" name="Rounded Rectangle 19"/>
          <p:cNvSpPr/>
          <p:nvPr/>
        </p:nvSpPr>
        <p:spPr>
          <a:xfrm>
            <a:off x="804672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92440" y="1600200"/>
            <a:ext cx="3474720" cy="64008"/>
          </a:xfrm>
          <a:prstGeom prst="rect">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229600" y="1783080"/>
            <a:ext cx="640080" cy="64008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3" name="TextBox 22"/>
          <p:cNvSpPr txBox="1"/>
          <p:nvPr/>
        </p:nvSpPr>
        <p:spPr>
          <a:xfrm>
            <a:off x="9006840" y="1783080"/>
            <a:ext cx="2377440" cy="594360"/>
          </a:xfrm>
          <a:prstGeom prst="rect">
            <a:avLst/>
          </a:prstGeom>
          <a:noFill/>
        </p:spPr>
        <p:txBody>
          <a:bodyPr wrap="square">
            <a:spAutoFit/>
          </a:bodyPr>
          <a:lstStyle/>
          <a:p>
            <a:pPr algn="l"/>
            <a:r>
              <a:rPr sz="1600" b="1">
                <a:solidFill>
                  <a:srgbClr val="002B5C"/>
                </a:solidFill>
                <a:latin typeface="Calibri"/>
              </a:rPr>
              <a:t>Campus Connectivity
Limitations</a:t>
            </a:r>
          </a:p>
        </p:txBody>
      </p:sp>
      <p:sp>
        <p:nvSpPr>
          <p:cNvPr id="24" name="TextBox 23"/>
          <p:cNvSpPr txBox="1"/>
          <p:nvPr/>
        </p:nvSpPr>
        <p:spPr>
          <a:xfrm>
            <a:off x="8229600" y="2514600"/>
            <a:ext cx="3200400" cy="523220"/>
          </a:xfrm>
          <a:prstGeom prst="rect">
            <a:avLst/>
          </a:prstGeom>
          <a:noFill/>
        </p:spPr>
        <p:txBody>
          <a:bodyPr wrap="square">
            <a:spAutoFit/>
          </a:bodyPr>
          <a:lstStyle/>
          <a:p>
            <a:pPr algn="l"/>
            <a:r>
              <a:rPr sz="1400" b="0" dirty="0">
                <a:solidFill>
                  <a:srgbClr val="2D2D2D"/>
                </a:solidFill>
                <a:latin typeface="Calibri"/>
              </a:rPr>
              <a:t>Bandwidth bottlenecks during peak hours</a:t>
            </a:r>
          </a:p>
        </p:txBody>
      </p:sp>
      <p:sp>
        <p:nvSpPr>
          <p:cNvPr id="25" name="Rounded Rectangle 24"/>
          <p:cNvSpPr/>
          <p:nvPr/>
        </p:nvSpPr>
        <p:spPr>
          <a:xfrm>
            <a:off x="8229600" y="3108960"/>
            <a:ext cx="2286000" cy="365760"/>
          </a:xfrm>
          <a:prstGeom prst="roundRect">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321040" y="3136392"/>
            <a:ext cx="2103120" cy="320040"/>
          </a:xfrm>
          <a:prstGeom prst="rect">
            <a:avLst/>
          </a:prstGeom>
          <a:noFill/>
        </p:spPr>
        <p:txBody>
          <a:bodyPr wrap="square">
            <a:spAutoFit/>
          </a:bodyPr>
          <a:lstStyle/>
          <a:p>
            <a:pPr algn="l"/>
            <a:r>
              <a:rPr sz="1400" b="1" dirty="0">
                <a:solidFill>
                  <a:srgbClr val="FFFFFF"/>
                </a:solidFill>
                <a:latin typeface="Calibri"/>
              </a:rPr>
              <a:t>↳ Campus Operations</a:t>
            </a:r>
          </a:p>
        </p:txBody>
      </p:sp>
      <p:sp>
        <p:nvSpPr>
          <p:cNvPr id="27" name="Rounded Rectangle 26"/>
          <p:cNvSpPr/>
          <p:nvPr/>
        </p:nvSpPr>
        <p:spPr>
          <a:xfrm>
            <a:off x="45720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02920" y="4023359"/>
            <a:ext cx="34747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40080" y="4206239"/>
            <a:ext cx="640080" cy="64008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0" name="TextBox 29"/>
          <p:cNvSpPr txBox="1"/>
          <p:nvPr/>
        </p:nvSpPr>
        <p:spPr>
          <a:xfrm>
            <a:off x="1417320" y="4206239"/>
            <a:ext cx="2377440" cy="594360"/>
          </a:xfrm>
          <a:prstGeom prst="rect">
            <a:avLst/>
          </a:prstGeom>
          <a:noFill/>
        </p:spPr>
        <p:txBody>
          <a:bodyPr wrap="square">
            <a:spAutoFit/>
          </a:bodyPr>
          <a:lstStyle/>
          <a:p>
            <a:pPr algn="l"/>
            <a:r>
              <a:rPr sz="1600" b="1">
                <a:solidFill>
                  <a:srgbClr val="002B5C"/>
                </a:solidFill>
                <a:latin typeface="Calibri"/>
              </a:rPr>
              <a:t>Certificate Fraud &amp;
Verification Delays</a:t>
            </a:r>
          </a:p>
        </p:txBody>
      </p:sp>
      <p:sp>
        <p:nvSpPr>
          <p:cNvPr id="31" name="TextBox 30"/>
          <p:cNvSpPr txBox="1"/>
          <p:nvPr/>
        </p:nvSpPr>
        <p:spPr>
          <a:xfrm>
            <a:off x="640080" y="4937759"/>
            <a:ext cx="3200400" cy="523220"/>
          </a:xfrm>
          <a:prstGeom prst="rect">
            <a:avLst/>
          </a:prstGeom>
          <a:noFill/>
        </p:spPr>
        <p:txBody>
          <a:bodyPr wrap="square">
            <a:spAutoFit/>
          </a:bodyPr>
          <a:lstStyle/>
          <a:p>
            <a:pPr algn="l"/>
            <a:r>
              <a:rPr sz="1400" b="0" dirty="0">
                <a:solidFill>
                  <a:srgbClr val="2D2D2D"/>
                </a:solidFill>
                <a:latin typeface="Calibri"/>
              </a:rPr>
              <a:t>3–10 working days for manual verification</a:t>
            </a:r>
          </a:p>
        </p:txBody>
      </p:sp>
      <p:sp>
        <p:nvSpPr>
          <p:cNvPr id="32" name="Rounded Rectangle 31"/>
          <p:cNvSpPr/>
          <p:nvPr/>
        </p:nvSpPr>
        <p:spPr>
          <a:xfrm>
            <a:off x="640080" y="5532119"/>
            <a:ext cx="2286000" cy="36576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559551"/>
            <a:ext cx="2103120" cy="320040"/>
          </a:xfrm>
          <a:prstGeom prst="rect">
            <a:avLst/>
          </a:prstGeom>
          <a:noFill/>
        </p:spPr>
        <p:txBody>
          <a:bodyPr wrap="square">
            <a:spAutoFit/>
          </a:bodyPr>
          <a:lstStyle/>
          <a:p>
            <a:pPr algn="l"/>
            <a:r>
              <a:rPr sz="1400" b="1" dirty="0">
                <a:solidFill>
                  <a:srgbClr val="FFFFFF"/>
                </a:solidFill>
                <a:latin typeface="Calibri"/>
              </a:rPr>
              <a:t>↳ Assessment</a:t>
            </a:r>
          </a:p>
        </p:txBody>
      </p:sp>
      <p:sp>
        <p:nvSpPr>
          <p:cNvPr id="34" name="Rounded Rectangle 33"/>
          <p:cNvSpPr/>
          <p:nvPr/>
        </p:nvSpPr>
        <p:spPr>
          <a:xfrm>
            <a:off x="425196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297680" y="4023359"/>
            <a:ext cx="3474720" cy="6400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434840" y="4206239"/>
            <a:ext cx="640080" cy="6400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7" name="TextBox 36"/>
          <p:cNvSpPr txBox="1"/>
          <p:nvPr/>
        </p:nvSpPr>
        <p:spPr>
          <a:xfrm>
            <a:off x="5212080" y="4206239"/>
            <a:ext cx="2377440" cy="594360"/>
          </a:xfrm>
          <a:prstGeom prst="rect">
            <a:avLst/>
          </a:prstGeom>
          <a:noFill/>
        </p:spPr>
        <p:txBody>
          <a:bodyPr wrap="square">
            <a:spAutoFit/>
          </a:bodyPr>
          <a:lstStyle/>
          <a:p>
            <a:pPr algn="l"/>
            <a:r>
              <a:rPr sz="1600" b="1" dirty="0">
                <a:solidFill>
                  <a:srgbClr val="002B5C"/>
                </a:solidFill>
                <a:latin typeface="Calibri"/>
              </a:rPr>
              <a:t>Rising Competition</a:t>
            </a:r>
          </a:p>
        </p:txBody>
      </p:sp>
      <p:sp>
        <p:nvSpPr>
          <p:cNvPr id="38" name="TextBox 37"/>
          <p:cNvSpPr txBox="1"/>
          <p:nvPr/>
        </p:nvSpPr>
        <p:spPr>
          <a:xfrm>
            <a:off x="4434840" y="4937759"/>
            <a:ext cx="3200400" cy="523220"/>
          </a:xfrm>
          <a:prstGeom prst="rect">
            <a:avLst/>
          </a:prstGeom>
          <a:noFill/>
        </p:spPr>
        <p:txBody>
          <a:bodyPr wrap="square">
            <a:spAutoFit/>
          </a:bodyPr>
          <a:lstStyle/>
          <a:p>
            <a:pPr algn="l"/>
            <a:r>
              <a:rPr sz="1400" b="0" dirty="0">
                <a:solidFill>
                  <a:srgbClr val="2D2D2D"/>
                </a:solidFill>
                <a:latin typeface="Calibri"/>
              </a:rPr>
              <a:t>Five polytechnics + universities competing</a:t>
            </a:r>
          </a:p>
        </p:txBody>
      </p:sp>
      <p:sp>
        <p:nvSpPr>
          <p:cNvPr id="39" name="Rounded Rectangle 38"/>
          <p:cNvSpPr/>
          <p:nvPr/>
        </p:nvSpPr>
        <p:spPr>
          <a:xfrm>
            <a:off x="4434840" y="5532119"/>
            <a:ext cx="2286000" cy="365760"/>
          </a:xfrm>
          <a:prstGeom prst="round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26280" y="5559551"/>
            <a:ext cx="2103120" cy="307777"/>
          </a:xfrm>
          <a:prstGeom prst="rect">
            <a:avLst/>
          </a:prstGeom>
          <a:noFill/>
        </p:spPr>
        <p:txBody>
          <a:bodyPr wrap="square">
            <a:spAutoFit/>
          </a:bodyPr>
          <a:lstStyle/>
          <a:p>
            <a:pPr algn="l"/>
            <a:r>
              <a:rPr sz="1400" b="1" dirty="0">
                <a:solidFill>
                  <a:srgbClr val="FFFFFF"/>
                </a:solidFill>
                <a:latin typeface="Calibri"/>
              </a:rPr>
              <a:t>↳ Recruitment</a:t>
            </a:r>
          </a:p>
        </p:txBody>
      </p:sp>
      <p:sp>
        <p:nvSpPr>
          <p:cNvPr id="41" name="Rounded Rectangle 40"/>
          <p:cNvSpPr/>
          <p:nvPr/>
        </p:nvSpPr>
        <p:spPr>
          <a:xfrm>
            <a:off x="804672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092440" y="4023359"/>
            <a:ext cx="3474720" cy="64008"/>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8229600" y="4206239"/>
            <a:ext cx="640080" cy="6400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44" name="TextBox 43"/>
          <p:cNvSpPr txBox="1"/>
          <p:nvPr/>
        </p:nvSpPr>
        <p:spPr>
          <a:xfrm>
            <a:off x="9006840" y="4206239"/>
            <a:ext cx="2377440" cy="594360"/>
          </a:xfrm>
          <a:prstGeom prst="rect">
            <a:avLst/>
          </a:prstGeom>
          <a:noFill/>
        </p:spPr>
        <p:txBody>
          <a:bodyPr wrap="square">
            <a:spAutoFit/>
          </a:bodyPr>
          <a:lstStyle/>
          <a:p>
            <a:pPr algn="l"/>
            <a:r>
              <a:rPr sz="1600" b="1" dirty="0">
                <a:solidFill>
                  <a:srgbClr val="002B5C"/>
                </a:solidFill>
                <a:latin typeface="Calibri"/>
              </a:rPr>
              <a:t>Environmental &amp;
Sustainability</a:t>
            </a:r>
          </a:p>
        </p:txBody>
      </p:sp>
      <p:sp>
        <p:nvSpPr>
          <p:cNvPr id="45" name="TextBox 44"/>
          <p:cNvSpPr txBox="1"/>
          <p:nvPr/>
        </p:nvSpPr>
        <p:spPr>
          <a:xfrm>
            <a:off x="8229600" y="4937759"/>
            <a:ext cx="3200400" cy="307777"/>
          </a:xfrm>
          <a:prstGeom prst="rect">
            <a:avLst/>
          </a:prstGeom>
          <a:noFill/>
        </p:spPr>
        <p:txBody>
          <a:bodyPr wrap="square">
            <a:spAutoFit/>
          </a:bodyPr>
          <a:lstStyle/>
          <a:p>
            <a:pPr algn="l"/>
            <a:r>
              <a:rPr sz="1400" b="0" dirty="0">
                <a:solidFill>
                  <a:srgbClr val="2D2D2D"/>
                </a:solidFill>
                <a:latin typeface="Calibri"/>
              </a:rPr>
              <a:t>Carbon footprint, SG Green Plan 2030</a:t>
            </a:r>
          </a:p>
        </p:txBody>
      </p:sp>
      <p:sp>
        <p:nvSpPr>
          <p:cNvPr id="46" name="Rounded Rectangle 45"/>
          <p:cNvSpPr/>
          <p:nvPr/>
        </p:nvSpPr>
        <p:spPr>
          <a:xfrm>
            <a:off x="8229600" y="5532119"/>
            <a:ext cx="2286000" cy="365760"/>
          </a:xfrm>
          <a:prstGeom prst="round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321040" y="5559551"/>
            <a:ext cx="2103120" cy="320040"/>
          </a:xfrm>
          <a:prstGeom prst="rect">
            <a:avLst/>
          </a:prstGeom>
          <a:noFill/>
        </p:spPr>
        <p:txBody>
          <a:bodyPr wrap="square">
            <a:spAutoFit/>
          </a:bodyPr>
          <a:lstStyle/>
          <a:p>
            <a:pPr algn="l"/>
            <a:r>
              <a:rPr sz="1400" b="1" dirty="0">
                <a:solidFill>
                  <a:srgbClr val="FFFFFF"/>
                </a:solidFill>
                <a:latin typeface="Calibri"/>
              </a:rPr>
              <a:t>↳ Campus Operations</a:t>
            </a:r>
          </a:p>
        </p:txBody>
      </p:sp>
      <p:sp>
        <p:nvSpPr>
          <p:cNvPr id="48" name="Rectangle 4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50" name="TextBox 4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dirty="0">
                <a:solidFill>
                  <a:srgbClr val="FFFFFF"/>
                </a:solidFill>
                <a:latin typeface="Calibri Light"/>
              </a:rPr>
              <a:t>Market Size &amp; Revenue Potential</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Singapore education &amp; global EdTech opportunity</a:t>
            </a:r>
          </a:p>
        </p:txBody>
      </p:sp>
      <p:sp>
        <p:nvSpPr>
          <p:cNvPr id="6" name="TextBox 5"/>
          <p:cNvSpPr txBox="1"/>
          <p:nvPr/>
        </p:nvSpPr>
        <p:spPr>
          <a:xfrm>
            <a:off x="640080" y="1554480"/>
            <a:ext cx="2286000" cy="320040"/>
          </a:xfrm>
          <a:prstGeom prst="rect">
            <a:avLst/>
          </a:prstGeom>
          <a:noFill/>
        </p:spPr>
        <p:txBody>
          <a:bodyPr wrap="square">
            <a:spAutoFit/>
          </a:bodyPr>
          <a:lstStyle/>
          <a:p>
            <a:pPr algn="l"/>
            <a:r>
              <a:rPr sz="2000" b="1" dirty="0">
                <a:solidFill>
                  <a:srgbClr val="009FDA"/>
                </a:solidFill>
                <a:latin typeface="Calibri"/>
              </a:rPr>
              <a:t>SGD 13B/yr</a:t>
            </a:r>
          </a:p>
        </p:txBody>
      </p:sp>
      <p:sp>
        <p:nvSpPr>
          <p:cNvPr id="7" name="TextBox 6"/>
          <p:cNvSpPr txBox="1"/>
          <p:nvPr/>
        </p:nvSpPr>
        <p:spPr>
          <a:xfrm>
            <a:off x="640080" y="1874520"/>
            <a:ext cx="5029200" cy="307777"/>
          </a:xfrm>
          <a:prstGeom prst="rect">
            <a:avLst/>
          </a:prstGeom>
          <a:noFill/>
        </p:spPr>
        <p:txBody>
          <a:bodyPr wrap="square">
            <a:spAutoFit/>
          </a:bodyPr>
          <a:lstStyle/>
          <a:p>
            <a:pPr algn="l"/>
            <a:r>
              <a:rPr sz="1400" b="0" dirty="0">
                <a:solidFill>
                  <a:srgbClr val="2D2D2D"/>
                </a:solidFill>
                <a:latin typeface="Calibri"/>
              </a:rPr>
              <a:t>SG government education budget (15–20% of national budget)</a:t>
            </a:r>
          </a:p>
        </p:txBody>
      </p:sp>
      <p:sp>
        <p:nvSpPr>
          <p:cNvPr id="8" name="TextBox 7"/>
          <p:cNvSpPr txBox="1"/>
          <p:nvPr/>
        </p:nvSpPr>
        <p:spPr>
          <a:xfrm>
            <a:off x="640080" y="2423160"/>
            <a:ext cx="2286000" cy="320040"/>
          </a:xfrm>
          <a:prstGeom prst="rect">
            <a:avLst/>
          </a:prstGeom>
          <a:noFill/>
        </p:spPr>
        <p:txBody>
          <a:bodyPr wrap="square">
            <a:spAutoFit/>
          </a:bodyPr>
          <a:lstStyle/>
          <a:p>
            <a:pPr algn="l"/>
            <a:r>
              <a:rPr sz="2000" b="1">
                <a:solidFill>
                  <a:srgbClr val="009FDA"/>
                </a:solidFill>
                <a:latin typeface="Calibri"/>
              </a:rPr>
              <a:t>~70,000</a:t>
            </a:r>
          </a:p>
        </p:txBody>
      </p:sp>
      <p:sp>
        <p:nvSpPr>
          <p:cNvPr id="9" name="TextBox 8"/>
          <p:cNvSpPr txBox="1"/>
          <p:nvPr/>
        </p:nvSpPr>
        <p:spPr>
          <a:xfrm>
            <a:off x="640080" y="2743200"/>
            <a:ext cx="5029200" cy="307777"/>
          </a:xfrm>
          <a:prstGeom prst="rect">
            <a:avLst/>
          </a:prstGeom>
          <a:noFill/>
        </p:spPr>
        <p:txBody>
          <a:bodyPr wrap="square">
            <a:spAutoFit/>
          </a:bodyPr>
          <a:lstStyle/>
          <a:p>
            <a:pPr algn="l"/>
            <a:r>
              <a:rPr sz="1400" b="0" dirty="0">
                <a:solidFill>
                  <a:srgbClr val="2D2D2D"/>
                </a:solidFill>
                <a:latin typeface="Calibri"/>
              </a:rPr>
              <a:t>Full-time polytechnic students across five institutions</a:t>
            </a:r>
          </a:p>
        </p:txBody>
      </p:sp>
      <p:sp>
        <p:nvSpPr>
          <p:cNvPr id="10" name="TextBox 9"/>
          <p:cNvSpPr txBox="1"/>
          <p:nvPr/>
        </p:nvSpPr>
        <p:spPr>
          <a:xfrm>
            <a:off x="640080" y="3291839"/>
            <a:ext cx="2286000" cy="320040"/>
          </a:xfrm>
          <a:prstGeom prst="rect">
            <a:avLst/>
          </a:prstGeom>
          <a:noFill/>
        </p:spPr>
        <p:txBody>
          <a:bodyPr wrap="square">
            <a:spAutoFit/>
          </a:bodyPr>
          <a:lstStyle/>
          <a:p>
            <a:pPr algn="l"/>
            <a:r>
              <a:rPr sz="2000" b="1">
                <a:solidFill>
                  <a:srgbClr val="009FDA"/>
                </a:solidFill>
                <a:latin typeface="Calibri"/>
              </a:rPr>
              <a:t>~21%</a:t>
            </a:r>
          </a:p>
        </p:txBody>
      </p:sp>
      <p:sp>
        <p:nvSpPr>
          <p:cNvPr id="11" name="TextBox 10"/>
          <p:cNvSpPr txBox="1"/>
          <p:nvPr/>
        </p:nvSpPr>
        <p:spPr>
          <a:xfrm>
            <a:off x="640080" y="3611879"/>
            <a:ext cx="5029200" cy="307777"/>
          </a:xfrm>
          <a:prstGeom prst="rect">
            <a:avLst/>
          </a:prstGeom>
          <a:noFill/>
        </p:spPr>
        <p:txBody>
          <a:bodyPr wrap="square">
            <a:spAutoFit/>
          </a:bodyPr>
          <a:lstStyle/>
          <a:p>
            <a:pPr algn="l"/>
            <a:r>
              <a:rPr sz="1400" b="0" dirty="0">
                <a:solidFill>
                  <a:srgbClr val="2D2D2D"/>
                </a:solidFill>
                <a:latin typeface="Calibri"/>
              </a:rPr>
              <a:t>NYP's share of the polytechnic market (~15,000 students)</a:t>
            </a:r>
          </a:p>
        </p:txBody>
      </p:sp>
      <p:sp>
        <p:nvSpPr>
          <p:cNvPr id="12" name="TextBox 11"/>
          <p:cNvSpPr txBox="1"/>
          <p:nvPr/>
        </p:nvSpPr>
        <p:spPr>
          <a:xfrm>
            <a:off x="640080" y="4160520"/>
            <a:ext cx="2286000" cy="320040"/>
          </a:xfrm>
          <a:prstGeom prst="rect">
            <a:avLst/>
          </a:prstGeom>
          <a:noFill/>
        </p:spPr>
        <p:txBody>
          <a:bodyPr wrap="square">
            <a:spAutoFit/>
          </a:bodyPr>
          <a:lstStyle/>
          <a:p>
            <a:pPr algn="l"/>
            <a:r>
              <a:rPr sz="2000" b="1" dirty="0">
                <a:solidFill>
                  <a:srgbClr val="009FDA"/>
                </a:solidFill>
                <a:latin typeface="Calibri"/>
              </a:rPr>
              <a:t>SGD 459B → 817B</a:t>
            </a:r>
          </a:p>
        </p:txBody>
      </p:sp>
      <p:sp>
        <p:nvSpPr>
          <p:cNvPr id="13" name="TextBox 12"/>
          <p:cNvSpPr txBox="1"/>
          <p:nvPr/>
        </p:nvSpPr>
        <p:spPr>
          <a:xfrm>
            <a:off x="640079" y="4480560"/>
            <a:ext cx="6006253" cy="523220"/>
          </a:xfrm>
          <a:prstGeom prst="rect">
            <a:avLst/>
          </a:prstGeom>
          <a:noFill/>
        </p:spPr>
        <p:txBody>
          <a:bodyPr wrap="square">
            <a:spAutoFit/>
          </a:bodyPr>
          <a:lstStyle/>
          <a:p>
            <a:r>
              <a:rPr sz="1400" b="0" dirty="0">
                <a:solidFill>
                  <a:srgbClr val="2D2D2D"/>
                </a:solidFill>
                <a:latin typeface="Calibri"/>
              </a:rPr>
              <a:t>Global EdTech market 2024 → 2027 (16% </a:t>
            </a:r>
            <a:r>
              <a:rPr lang="en-SG" sz="1400" b="0" dirty="0">
                <a:solidFill>
                  <a:srgbClr val="2D2D2D"/>
                </a:solidFill>
                <a:latin typeface="Calibri"/>
              </a:rPr>
              <a:t>C</a:t>
            </a:r>
            <a:r>
              <a:rPr lang="en-SG" sz="1400" dirty="0"/>
              <a:t>ompound Annual Growth Rate - CAGR</a:t>
            </a:r>
            <a:r>
              <a:rPr sz="1400" b="0" dirty="0">
                <a:solidFill>
                  <a:srgbClr val="2D2D2D"/>
                </a:solidFill>
                <a:latin typeface="Calibri"/>
              </a:rPr>
              <a:t>)</a:t>
            </a:r>
          </a:p>
        </p:txBody>
      </p:sp>
      <p:sp>
        <p:nvSpPr>
          <p:cNvPr id="14" name="TextBox 13"/>
          <p:cNvSpPr txBox="1"/>
          <p:nvPr/>
        </p:nvSpPr>
        <p:spPr>
          <a:xfrm>
            <a:off x="640080" y="5029200"/>
            <a:ext cx="2286000" cy="320040"/>
          </a:xfrm>
          <a:prstGeom prst="rect">
            <a:avLst/>
          </a:prstGeom>
          <a:noFill/>
        </p:spPr>
        <p:txBody>
          <a:bodyPr wrap="square">
            <a:spAutoFit/>
          </a:bodyPr>
          <a:lstStyle/>
          <a:p>
            <a:pPr algn="l"/>
            <a:r>
              <a:rPr sz="2000" b="1">
                <a:solidFill>
                  <a:srgbClr val="009FDA"/>
                </a:solidFill>
                <a:latin typeface="Calibri"/>
              </a:rPr>
              <a:t>SGD 1.5–2B</a:t>
            </a:r>
          </a:p>
        </p:txBody>
      </p:sp>
      <p:sp>
        <p:nvSpPr>
          <p:cNvPr id="15" name="TextBox 14"/>
          <p:cNvSpPr txBox="1"/>
          <p:nvPr/>
        </p:nvSpPr>
        <p:spPr>
          <a:xfrm>
            <a:off x="640080" y="5349240"/>
            <a:ext cx="5029200" cy="307777"/>
          </a:xfrm>
          <a:prstGeom prst="rect">
            <a:avLst/>
          </a:prstGeom>
          <a:noFill/>
        </p:spPr>
        <p:txBody>
          <a:bodyPr wrap="square">
            <a:spAutoFit/>
          </a:bodyPr>
          <a:lstStyle/>
          <a:p>
            <a:pPr algn="l"/>
            <a:r>
              <a:rPr sz="1400" b="0" dirty="0">
                <a:solidFill>
                  <a:srgbClr val="2D2D2D"/>
                </a:solidFill>
                <a:latin typeface="Calibri"/>
              </a:rPr>
              <a:t>Singapore EdTech market (</a:t>
            </a:r>
            <a:r>
              <a:rPr sz="1400" b="0" dirty="0" err="1">
                <a:solidFill>
                  <a:srgbClr val="2D2D2D"/>
                </a:solidFill>
                <a:latin typeface="Calibri"/>
              </a:rPr>
              <a:t>SkillsFuture</a:t>
            </a:r>
            <a:r>
              <a:rPr sz="1400" b="0" dirty="0">
                <a:solidFill>
                  <a:srgbClr val="2D2D2D"/>
                </a:solidFill>
                <a:latin typeface="Calibri"/>
              </a:rPr>
              <a:t> &amp; IMDA driven)</a:t>
            </a:r>
          </a:p>
        </p:txBody>
      </p:sp>
      <p:graphicFrame>
        <p:nvGraphicFramePr>
          <p:cNvPr id="16" name="Chart 15"/>
          <p:cNvGraphicFramePr>
            <a:graphicFrameLocks noGrp="1"/>
          </p:cNvGraphicFramePr>
          <p:nvPr>
            <p:extLst>
              <p:ext uri="{D42A27DB-BD31-4B8C-83A1-F6EECF244321}">
                <p14:modId xmlns:p14="http://schemas.microsoft.com/office/powerpoint/2010/main" val="4137156054"/>
              </p:ext>
            </p:extLst>
          </p:nvPr>
        </p:nvGraphicFramePr>
        <p:xfrm>
          <a:off x="6529190" y="1572768"/>
          <a:ext cx="530352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17" name="Rounded Rectangle 16"/>
          <p:cNvSpPr/>
          <p:nvPr/>
        </p:nvSpPr>
        <p:spPr>
          <a:xfrm>
            <a:off x="640080" y="5779234"/>
            <a:ext cx="11064240" cy="667286"/>
          </a:xfrm>
          <a:prstGeom prst="roundRect">
            <a:avLst/>
          </a:prstGeom>
          <a:solidFill>
            <a:srgbClr val="D6E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1005840" y="5938881"/>
            <a:ext cx="10332720" cy="548640"/>
          </a:xfrm>
          <a:prstGeom prst="rect">
            <a:avLst/>
          </a:prstGeom>
          <a:noFill/>
        </p:spPr>
        <p:txBody>
          <a:bodyPr wrap="square">
            <a:spAutoFit/>
          </a:bodyPr>
          <a:lstStyle/>
          <a:p>
            <a:pPr algn="ctr"/>
            <a:r>
              <a:rPr sz="1400" b="1" dirty="0">
                <a:solidFill>
                  <a:srgbClr val="002B5C"/>
                </a:solidFill>
                <a:latin typeface="Calibri"/>
              </a:rPr>
              <a:t>Revenue Streams:  AI-powered CET courses  |  VR content licensing  |  Blockchain verification services  |  Smart-campus consulting</a:t>
            </a:r>
          </a:p>
        </p:txBody>
      </p:sp>
      <p:sp>
        <p:nvSpPr>
          <p:cNvPr id="19" name="Rectangle 18"/>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1" name="TextBox 20"/>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8686800" y="-1371600"/>
            <a:ext cx="5486400" cy="548640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144000" y="-914400"/>
            <a:ext cx="4572000" cy="4572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5029200"/>
            <a:ext cx="274320" cy="27432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5156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7200" y="914400"/>
            <a:ext cx="137160" cy="13716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2926080"/>
            <a:ext cx="91440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200400"/>
            <a:ext cx="8229600" cy="769441"/>
          </a:xfrm>
          <a:prstGeom prst="rect">
            <a:avLst/>
          </a:prstGeom>
          <a:noFill/>
        </p:spPr>
        <p:txBody>
          <a:bodyPr wrap="square">
            <a:spAutoFit/>
          </a:bodyPr>
          <a:lstStyle/>
          <a:p>
            <a:pPr algn="l"/>
            <a:r>
              <a:rPr lang="en-US" sz="4400" b="1" dirty="0">
                <a:solidFill>
                  <a:srgbClr val="FFFFFF"/>
                </a:solidFill>
                <a:latin typeface="Calibri Light"/>
              </a:rPr>
              <a:t>Emerging </a:t>
            </a:r>
            <a:r>
              <a:rPr sz="4400" b="1" dirty="0">
                <a:solidFill>
                  <a:srgbClr val="FFFFFF"/>
                </a:solidFill>
                <a:latin typeface="Calibri Light"/>
              </a:rPr>
              <a:t>Technology Solutions</a:t>
            </a:r>
          </a:p>
        </p:txBody>
      </p:sp>
      <p:sp>
        <p:nvSpPr>
          <p:cNvPr id="9" name="TextBox 8"/>
          <p:cNvSpPr txBox="1"/>
          <p:nvPr/>
        </p:nvSpPr>
        <p:spPr>
          <a:xfrm>
            <a:off x="1371600" y="4297680"/>
            <a:ext cx="8229600" cy="400110"/>
          </a:xfrm>
          <a:prstGeom prst="rect">
            <a:avLst/>
          </a:prstGeom>
          <a:noFill/>
        </p:spPr>
        <p:txBody>
          <a:bodyPr wrap="square">
            <a:spAutoFit/>
          </a:bodyPr>
          <a:lstStyle/>
          <a:p>
            <a:pPr algn="l"/>
            <a:r>
              <a:rPr sz="2000" b="0" dirty="0">
                <a:solidFill>
                  <a:schemeClr val="accent3">
                    <a:lumMod val="60000"/>
                    <a:lumOff val="40000"/>
                  </a:schemeClr>
                </a:solidFill>
                <a:latin typeface="Calibri"/>
              </a:rPr>
              <a:t>Four emerging technologies mapped to NYP's value chain</a:t>
            </a:r>
          </a:p>
        </p:txBody>
      </p:sp>
      <p:sp>
        <p:nvSpPr>
          <p:cNvPr id="10" name="Rectangle 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2" name="TextBox 1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Artificial Intelligence (AI)</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Clifton </a:t>
            </a:r>
            <a:r>
              <a:rPr lang="en-US" sz="1600" b="0" dirty="0">
                <a:solidFill>
                  <a:schemeClr val="accent3">
                    <a:lumMod val="60000"/>
                    <a:lumOff val="40000"/>
                  </a:schemeClr>
                </a:solidFill>
                <a:latin typeface="Calibri"/>
              </a:rPr>
              <a:t>Chen Yi</a:t>
            </a:r>
            <a:endParaRPr sz="1600" b="0" dirty="0">
              <a:solidFill>
                <a:schemeClr val="accent3">
                  <a:lumMod val="60000"/>
                  <a:lumOff val="40000"/>
                </a:schemeClr>
              </a:solidFill>
              <a:latin typeface="Calibri"/>
            </a:endParaRPr>
          </a:p>
        </p:txBody>
      </p:sp>
      <p:sp>
        <p:nvSpPr>
          <p:cNvPr id="6" name="TextBox 5"/>
          <p:cNvSpPr txBox="1"/>
          <p:nvPr/>
        </p:nvSpPr>
        <p:spPr>
          <a:xfrm>
            <a:off x="640080" y="1508760"/>
            <a:ext cx="5029200" cy="365760"/>
          </a:xfrm>
          <a:prstGeom prst="rect">
            <a:avLst/>
          </a:prstGeom>
          <a:noFill/>
        </p:spPr>
        <p:txBody>
          <a:bodyPr wrap="square">
            <a:spAutoFit/>
          </a:bodyPr>
          <a:lstStyle/>
          <a:p>
            <a:pPr algn="l"/>
            <a:r>
              <a:rPr sz="2000" b="1" dirty="0">
                <a:solidFill>
                  <a:srgbClr val="6C5CE7"/>
                </a:solidFill>
                <a:latin typeface="Calibri"/>
              </a:rPr>
              <a:t>AI Technologies for Education</a:t>
            </a:r>
          </a:p>
        </p:txBody>
      </p:sp>
      <p:sp>
        <p:nvSpPr>
          <p:cNvPr id="7" name="TextBox 6"/>
          <p:cNvSpPr txBox="1"/>
          <p:nvPr/>
        </p:nvSpPr>
        <p:spPr>
          <a:xfrm>
            <a:off x="640080" y="2011680"/>
            <a:ext cx="5303520" cy="1692771"/>
          </a:xfrm>
          <a:prstGeom prst="rect">
            <a:avLst/>
          </a:prstGeom>
          <a:noFill/>
        </p:spPr>
        <p:txBody>
          <a:bodyPr wrap="square">
            <a:spAutoFit/>
          </a:bodyPr>
          <a:lstStyle/>
          <a:p>
            <a:pPr>
              <a:spcAft>
                <a:spcPts val="800"/>
              </a:spcAft>
            </a:pPr>
            <a:r>
              <a:rPr sz="1400" b="0" dirty="0">
                <a:solidFill>
                  <a:srgbClr val="2D2D2D"/>
                </a:solidFill>
                <a:latin typeface="Calibri"/>
              </a:rPr>
              <a:t>▸  Machine Learning (ML) — Algorithms that improve through experience</a:t>
            </a:r>
          </a:p>
          <a:p>
            <a:pPr>
              <a:spcAft>
                <a:spcPts val="800"/>
              </a:spcAft>
            </a:pPr>
            <a:r>
              <a:rPr sz="1400" b="0" dirty="0">
                <a:solidFill>
                  <a:srgbClr val="2D2D2D"/>
                </a:solidFill>
                <a:latin typeface="Calibri"/>
              </a:rPr>
              <a:t>▸  Natural Language Processing — Understanding &amp; generating human language</a:t>
            </a:r>
          </a:p>
          <a:p>
            <a:pPr>
              <a:spcAft>
                <a:spcPts val="800"/>
              </a:spcAft>
            </a:pPr>
            <a:r>
              <a:rPr sz="1400" b="0" dirty="0">
                <a:solidFill>
                  <a:srgbClr val="2D2D2D"/>
                </a:solidFill>
                <a:latin typeface="Calibri"/>
              </a:rPr>
              <a:t>▸  Computer Vision — Interpreting visual information</a:t>
            </a:r>
          </a:p>
          <a:p>
            <a:pPr>
              <a:spcAft>
                <a:spcPts val="800"/>
              </a:spcAft>
            </a:pPr>
            <a:r>
              <a:rPr sz="1400" b="0" dirty="0">
                <a:solidFill>
                  <a:srgbClr val="2D2D2D"/>
                </a:solidFill>
                <a:latin typeface="Calibri"/>
              </a:rPr>
              <a:t>▸  Generative AI — Content creation, Q&amp;A, creative tasks</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6C5CE7"/>
                </a:solidFill>
                <a:latin typeface="Calibri"/>
              </a:rPr>
              <a:t>🎯 Adaptive Learning</a:t>
            </a:r>
          </a:p>
        </p:txBody>
      </p:sp>
      <p:sp>
        <p:nvSpPr>
          <p:cNvPr id="11" name="TextBox 10"/>
          <p:cNvSpPr txBox="1"/>
          <p:nvPr/>
        </p:nvSpPr>
        <p:spPr>
          <a:xfrm>
            <a:off x="6583680" y="2103120"/>
            <a:ext cx="2286000" cy="738664"/>
          </a:xfrm>
          <a:prstGeom prst="rect">
            <a:avLst/>
          </a:prstGeom>
          <a:noFill/>
        </p:spPr>
        <p:txBody>
          <a:bodyPr wrap="square">
            <a:spAutoFit/>
          </a:bodyPr>
          <a:lstStyle/>
          <a:p>
            <a:pPr algn="l"/>
            <a:r>
              <a:rPr sz="1400" b="0" dirty="0" err="1">
                <a:solidFill>
                  <a:srgbClr val="2D2D2D"/>
                </a:solidFill>
                <a:latin typeface="Calibri"/>
              </a:rPr>
              <a:t>Personalise</a:t>
            </a:r>
            <a:r>
              <a:rPr sz="1400" b="0" dirty="0">
                <a:solidFill>
                  <a:srgbClr val="2D2D2D"/>
                </a:solidFill>
                <a:latin typeface="Calibri"/>
              </a:rPr>
              <a:t> learning paths;
identify at-risk students early</a:t>
            </a:r>
            <a:r>
              <a:rPr lang="en-US" sz="1400" b="0" dirty="0">
                <a:solidFill>
                  <a:srgbClr val="2D2D2D"/>
                </a:solidFill>
                <a:latin typeface="Calibri"/>
              </a:rPr>
              <a:t> – learning patterns</a:t>
            </a:r>
            <a:endParaRPr sz="1400" b="0" dirty="0">
              <a:solidFill>
                <a:srgbClr val="2D2D2D"/>
              </a:solidFill>
              <a:latin typeface="Calibri"/>
            </a:endParaRP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6C5CE7"/>
                </a:solidFill>
                <a:latin typeface="Calibri"/>
              </a:rPr>
              <a:t>💬 AI Chatbots</a:t>
            </a:r>
          </a:p>
        </p:txBody>
      </p:sp>
      <p:sp>
        <p:nvSpPr>
          <p:cNvPr id="15" name="TextBox 14"/>
          <p:cNvSpPr txBox="1"/>
          <p:nvPr/>
        </p:nvSpPr>
        <p:spPr>
          <a:xfrm>
            <a:off x="9418320" y="2103120"/>
            <a:ext cx="2286000" cy="954107"/>
          </a:xfrm>
          <a:prstGeom prst="rect">
            <a:avLst/>
          </a:prstGeom>
          <a:noFill/>
        </p:spPr>
        <p:txBody>
          <a:bodyPr wrap="square">
            <a:spAutoFit/>
          </a:bodyPr>
          <a:lstStyle/>
          <a:p>
            <a:pPr algn="l"/>
            <a:r>
              <a:rPr sz="1400" b="0" dirty="0">
                <a:solidFill>
                  <a:srgbClr val="2D2D2D"/>
                </a:solidFill>
                <a:latin typeface="Calibri"/>
              </a:rPr>
              <a:t>24/7 student support;
reduce admin workload</a:t>
            </a:r>
            <a:r>
              <a:rPr lang="en-US" sz="1400" b="0" dirty="0">
                <a:solidFill>
                  <a:srgbClr val="2D2D2D"/>
                </a:solidFill>
                <a:latin typeface="Calibri"/>
              </a:rPr>
              <a:t> </a:t>
            </a:r>
          </a:p>
          <a:p>
            <a:pPr algn="l"/>
            <a:r>
              <a:rPr lang="en-US" sz="1400" b="0" dirty="0">
                <a:solidFill>
                  <a:srgbClr val="2D2D2D"/>
                </a:solidFill>
                <a:latin typeface="Calibri"/>
              </a:rPr>
              <a:t>– queries on financial aid/campus facilities</a:t>
            </a:r>
            <a:endParaRPr sz="1400" b="0" dirty="0">
              <a:solidFill>
                <a:srgbClr val="2D2D2D"/>
              </a:solidFill>
              <a:latin typeface="Calibri"/>
            </a:endParaRPr>
          </a:p>
        </p:txBody>
      </p:sp>
      <p:sp>
        <p:nvSpPr>
          <p:cNvPr id="16" name="Rounded Rectangle 15"/>
          <p:cNvSpPr/>
          <p:nvPr/>
        </p:nvSpPr>
        <p:spPr>
          <a:xfrm>
            <a:off x="6400800" y="3566159"/>
            <a:ext cx="2697480" cy="2057401"/>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6C5CE7"/>
                </a:solidFill>
                <a:latin typeface="Calibri"/>
              </a:rPr>
              <a:t>📝 Auto Assessment</a:t>
            </a:r>
          </a:p>
        </p:txBody>
      </p:sp>
      <p:sp>
        <p:nvSpPr>
          <p:cNvPr id="19" name="TextBox 18"/>
          <p:cNvSpPr txBox="1"/>
          <p:nvPr/>
        </p:nvSpPr>
        <p:spPr>
          <a:xfrm>
            <a:off x="6606540" y="4141509"/>
            <a:ext cx="2286000" cy="1384995"/>
          </a:xfrm>
          <a:prstGeom prst="rect">
            <a:avLst/>
          </a:prstGeom>
          <a:noFill/>
        </p:spPr>
        <p:txBody>
          <a:bodyPr wrap="square">
            <a:spAutoFit/>
          </a:bodyPr>
          <a:lstStyle/>
          <a:p>
            <a:pPr algn="l"/>
            <a:r>
              <a:rPr sz="1400" b="0" dirty="0">
                <a:solidFill>
                  <a:srgbClr val="2D2D2D"/>
                </a:solidFill>
                <a:latin typeface="Calibri"/>
              </a:rPr>
              <a:t>N</a:t>
            </a:r>
            <a:r>
              <a:rPr lang="en-US" sz="1400" b="0" dirty="0">
                <a:solidFill>
                  <a:srgbClr val="2D2D2D"/>
                </a:solidFill>
                <a:latin typeface="Calibri"/>
              </a:rPr>
              <a:t>atural Language Processing tools</a:t>
            </a:r>
          </a:p>
          <a:p>
            <a:r>
              <a:rPr lang="en-US" sz="1400" dirty="0">
                <a:solidFill>
                  <a:srgbClr val="2D2D2D"/>
                </a:solidFill>
                <a:latin typeface="Calibri"/>
              </a:rPr>
              <a:t>-</a:t>
            </a:r>
            <a:r>
              <a:rPr sz="1400" b="0" dirty="0">
                <a:solidFill>
                  <a:srgbClr val="2D2D2D"/>
                </a:solidFill>
                <a:latin typeface="Calibri"/>
              </a:rPr>
              <a:t>grading</a:t>
            </a:r>
            <a:r>
              <a:rPr lang="en-US" sz="1400" b="0" dirty="0">
                <a:solidFill>
                  <a:srgbClr val="2D2D2D"/>
                </a:solidFill>
                <a:latin typeface="Calibri"/>
              </a:rPr>
              <a:t> </a:t>
            </a:r>
            <a:r>
              <a:rPr lang="en-US" sz="1400" dirty="0">
                <a:solidFill>
                  <a:srgbClr val="2D2D2D"/>
                </a:solidFill>
              </a:rPr>
              <a:t>of assignments; give detailed feedback</a:t>
            </a:r>
            <a:endParaRPr lang="en-US" sz="1400" dirty="0">
              <a:solidFill>
                <a:srgbClr val="2D2D2D"/>
              </a:solidFill>
              <a:latin typeface="Calibri"/>
            </a:endParaRPr>
          </a:p>
          <a:p>
            <a:pPr algn="l"/>
            <a:r>
              <a:rPr lang="en-US" sz="1400" b="0" dirty="0">
                <a:solidFill>
                  <a:srgbClr val="2D2D2D"/>
                </a:solidFill>
                <a:latin typeface="Calibri"/>
              </a:rPr>
              <a:t>-Free up lecturer for higher-value activities</a:t>
            </a:r>
            <a:endParaRPr sz="1400" b="0" dirty="0">
              <a:solidFill>
                <a:srgbClr val="2D2D2D"/>
              </a:solidFill>
              <a:latin typeface="Calibri"/>
            </a:endParaRPr>
          </a:p>
        </p:txBody>
      </p:sp>
      <p:sp>
        <p:nvSpPr>
          <p:cNvPr id="20" name="Rounded Rectangle 19"/>
          <p:cNvSpPr/>
          <p:nvPr/>
        </p:nvSpPr>
        <p:spPr>
          <a:xfrm>
            <a:off x="9235440" y="3566160"/>
            <a:ext cx="2651760" cy="20574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6C5CE7"/>
                </a:solidFill>
                <a:latin typeface="Calibri"/>
              </a:rPr>
              <a:t>📊 Predictive Analytics</a:t>
            </a:r>
          </a:p>
        </p:txBody>
      </p:sp>
      <p:sp>
        <p:nvSpPr>
          <p:cNvPr id="23" name="TextBox 22"/>
          <p:cNvSpPr txBox="1"/>
          <p:nvPr/>
        </p:nvSpPr>
        <p:spPr>
          <a:xfrm>
            <a:off x="9498530" y="4223084"/>
            <a:ext cx="2286000" cy="1169551"/>
          </a:xfrm>
          <a:prstGeom prst="rect">
            <a:avLst/>
          </a:prstGeom>
          <a:noFill/>
        </p:spPr>
        <p:txBody>
          <a:bodyPr wrap="square">
            <a:spAutoFit/>
          </a:bodyPr>
          <a:lstStyle/>
          <a:p>
            <a:pPr algn="l"/>
            <a:r>
              <a:rPr sz="1400" b="0" dirty="0">
                <a:solidFill>
                  <a:srgbClr val="2D2D2D"/>
                </a:solidFill>
                <a:latin typeface="Calibri"/>
              </a:rPr>
              <a:t>Forecast student success;
target interventions</a:t>
            </a:r>
            <a:endParaRPr lang="en-US" sz="1400" b="0" dirty="0">
              <a:solidFill>
                <a:srgbClr val="2D2D2D"/>
              </a:solidFill>
              <a:latin typeface="Calibri"/>
            </a:endParaRPr>
          </a:p>
          <a:p>
            <a:pPr algn="l"/>
            <a:r>
              <a:rPr lang="en-US" sz="1400" dirty="0">
                <a:solidFill>
                  <a:srgbClr val="2D2D2D"/>
                </a:solidFill>
                <a:latin typeface="Calibri"/>
              </a:rPr>
              <a:t>-historical data: attendance/grades</a:t>
            </a:r>
          </a:p>
          <a:p>
            <a:pPr algn="l"/>
            <a:r>
              <a:rPr lang="en-US" sz="1400" b="0" dirty="0">
                <a:solidFill>
                  <a:srgbClr val="2D2D2D"/>
                </a:solidFill>
                <a:latin typeface="Calibri"/>
              </a:rPr>
              <a:t>-F</a:t>
            </a:r>
            <a:r>
              <a:rPr lang="en-US" sz="1400" dirty="0">
                <a:solidFill>
                  <a:srgbClr val="2D2D2D"/>
                </a:solidFill>
                <a:latin typeface="Calibri"/>
              </a:rPr>
              <a:t>ailing test/drop out</a:t>
            </a:r>
            <a:endParaRPr sz="1400" b="0" dirty="0">
              <a:solidFill>
                <a:srgbClr val="2D2D2D"/>
              </a:solidFill>
              <a:latin typeface="Calibri"/>
            </a:endParaRPr>
          </a:p>
        </p:txBody>
      </p:sp>
      <p:sp>
        <p:nvSpPr>
          <p:cNvPr id="24" name="Rounded Rectangle 23"/>
          <p:cNvSpPr/>
          <p:nvPr/>
        </p:nvSpPr>
        <p:spPr>
          <a:xfrm>
            <a:off x="548640" y="4067949"/>
            <a:ext cx="5394960" cy="118872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4147810"/>
            <a:ext cx="5029200" cy="320040"/>
          </a:xfrm>
          <a:prstGeom prst="rect">
            <a:avLst/>
          </a:prstGeom>
          <a:noFill/>
        </p:spPr>
        <p:txBody>
          <a:bodyPr wrap="square">
            <a:spAutoFit/>
          </a:bodyPr>
          <a:lstStyle/>
          <a:p>
            <a:pPr algn="l"/>
            <a:r>
              <a:rPr sz="1400" b="1" dirty="0">
                <a:solidFill>
                  <a:srgbClr val="FFFFFF"/>
                </a:solidFill>
                <a:latin typeface="Calibri"/>
              </a:rPr>
              <a:t>📌 Real-World Example</a:t>
            </a:r>
          </a:p>
        </p:txBody>
      </p:sp>
      <p:sp>
        <p:nvSpPr>
          <p:cNvPr id="26" name="TextBox 25"/>
          <p:cNvSpPr txBox="1"/>
          <p:nvPr/>
        </p:nvSpPr>
        <p:spPr>
          <a:xfrm>
            <a:off x="731520" y="4503440"/>
            <a:ext cx="5029200" cy="523220"/>
          </a:xfrm>
          <a:prstGeom prst="rect">
            <a:avLst/>
          </a:prstGeom>
          <a:noFill/>
        </p:spPr>
        <p:txBody>
          <a:bodyPr wrap="square">
            <a:spAutoFit/>
          </a:bodyPr>
          <a:lstStyle/>
          <a:p>
            <a:pPr algn="l"/>
            <a:r>
              <a:rPr sz="1400" b="0" dirty="0">
                <a:solidFill>
                  <a:srgbClr val="FFFFFF"/>
                </a:solidFill>
                <a:latin typeface="Calibri"/>
              </a:rPr>
              <a:t>Georgia State University's AI chatbot "Pounce" reduced
summer enrollment melt by 21% through proactive engagement.</a:t>
            </a:r>
          </a:p>
        </p:txBody>
      </p:sp>
      <p:sp>
        <p:nvSpPr>
          <p:cNvPr id="27" name="Rectangle 26"/>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9" name="TextBox 28"/>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AI — Impact, ROI &amp; Challenges</a:t>
            </a:r>
          </a:p>
        </p:txBody>
      </p:sp>
      <p:sp>
        <p:nvSpPr>
          <p:cNvPr id="5" name="TextBox 4"/>
          <p:cNvSpPr txBox="1"/>
          <p:nvPr/>
        </p:nvSpPr>
        <p:spPr>
          <a:xfrm>
            <a:off x="640080" y="1574406"/>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36532"/>
            <a:ext cx="4572000" cy="1795363"/>
          </a:xfrm>
          <a:prstGeom prst="rect">
            <a:avLst/>
          </a:prstGeom>
          <a:noFill/>
        </p:spPr>
        <p:txBody>
          <a:bodyPr wrap="square">
            <a:spAutoFit/>
          </a:bodyPr>
          <a:lstStyle/>
          <a:p>
            <a:pPr>
              <a:spcAft>
                <a:spcPts val="800"/>
              </a:spcAft>
            </a:pPr>
            <a:r>
              <a:rPr sz="1400" b="0" dirty="0">
                <a:solidFill>
                  <a:srgbClr val="2D2D2D"/>
                </a:solidFill>
                <a:latin typeface="Calibri"/>
              </a:rPr>
              <a:t>▸  Improve student retention by 10–15%</a:t>
            </a:r>
          </a:p>
          <a:p>
            <a:pPr>
              <a:spcAft>
                <a:spcPts val="800"/>
              </a:spcAft>
            </a:pPr>
            <a:r>
              <a:rPr sz="1400" b="0" dirty="0">
                <a:solidFill>
                  <a:srgbClr val="2D2D2D"/>
                </a:solidFill>
                <a:latin typeface="Calibri"/>
              </a:rPr>
              <a:t>▸  Reduce admin costs by SGD 2–4M/year</a:t>
            </a:r>
          </a:p>
          <a:p>
            <a:pPr>
              <a:spcAft>
                <a:spcPts val="800"/>
              </a:spcAft>
            </a:pPr>
            <a:r>
              <a:rPr sz="1400" b="0" dirty="0">
                <a:solidFill>
                  <a:srgbClr val="2D2D2D"/>
                </a:solidFill>
                <a:latin typeface="Calibri"/>
              </a:rPr>
              <a:t>▸  New C</a:t>
            </a:r>
            <a:r>
              <a:rPr lang="en-US" sz="1400" b="0" dirty="0">
                <a:solidFill>
                  <a:srgbClr val="2D2D2D"/>
                </a:solidFill>
                <a:latin typeface="Calibri"/>
              </a:rPr>
              <a:t>ontinuing Education and Training (CET)</a:t>
            </a:r>
            <a:r>
              <a:rPr sz="1400" b="0" dirty="0">
                <a:solidFill>
                  <a:srgbClr val="2D2D2D"/>
                </a:solidFill>
                <a:latin typeface="Calibri"/>
              </a:rPr>
              <a:t> revenue</a:t>
            </a:r>
            <a:r>
              <a:rPr lang="en-US" sz="1400" dirty="0">
                <a:solidFill>
                  <a:srgbClr val="2D2D2D"/>
                </a:solidFill>
                <a:latin typeface="Calibri"/>
              </a:rPr>
              <a:t>: </a:t>
            </a:r>
            <a:r>
              <a:rPr sz="1400" b="0" dirty="0">
                <a:solidFill>
                  <a:srgbClr val="2D2D2D"/>
                </a:solidFill>
                <a:latin typeface="Calibri"/>
              </a:rPr>
              <a:t>SGD 5–10M/year</a:t>
            </a:r>
          </a:p>
          <a:p>
            <a:pPr>
              <a:spcAft>
                <a:spcPts val="800"/>
              </a:spcAft>
            </a:pPr>
            <a:r>
              <a:rPr sz="1400" b="0" dirty="0">
                <a:solidFill>
                  <a:srgbClr val="2D2D2D"/>
                </a:solidFill>
                <a:latin typeface="Calibri"/>
              </a:rPr>
              <a:t>▸  </a:t>
            </a:r>
            <a:r>
              <a:rPr sz="1400" b="0" dirty="0" err="1">
                <a:solidFill>
                  <a:srgbClr val="2D2D2D"/>
                </a:solidFill>
                <a:latin typeface="Calibri"/>
              </a:rPr>
              <a:t>Personalised</a:t>
            </a:r>
            <a:r>
              <a:rPr sz="1400" b="0" dirty="0">
                <a:solidFill>
                  <a:srgbClr val="2D2D2D"/>
                </a:solidFill>
                <a:latin typeface="Calibri"/>
              </a:rPr>
              <a:t> 24/7 learning &amp; support</a:t>
            </a:r>
            <a:r>
              <a:rPr lang="en-US" sz="1400" b="0" dirty="0">
                <a:solidFill>
                  <a:srgbClr val="2D2D2D"/>
                </a:solidFill>
                <a:latin typeface="Calibri"/>
              </a:rPr>
              <a:t> – AI chatbots</a:t>
            </a:r>
            <a:endParaRPr sz="1400" b="0" dirty="0">
              <a:solidFill>
                <a:srgbClr val="2D2D2D"/>
              </a:solidFill>
              <a:latin typeface="Calibri"/>
            </a:endParaRPr>
          </a:p>
          <a:p>
            <a:pPr>
              <a:spcAft>
                <a:spcPts val="800"/>
              </a:spcAft>
            </a:pPr>
            <a:r>
              <a:rPr sz="1400" b="0" dirty="0">
                <a:solidFill>
                  <a:srgbClr val="2D2D2D"/>
                </a:solidFill>
                <a:latin typeface="Calibri"/>
              </a:rPr>
              <a:t>▸  Enhanced competitive positioning</a:t>
            </a:r>
          </a:p>
        </p:txBody>
      </p:sp>
      <p:graphicFrame>
        <p:nvGraphicFramePr>
          <p:cNvPr id="7" name="Chart 6"/>
          <p:cNvGraphicFramePr>
            <a:graphicFrameLocks noGrp="1"/>
          </p:cNvGraphicFramePr>
          <p:nvPr>
            <p:extLst>
              <p:ext uri="{D42A27DB-BD31-4B8C-83A1-F6EECF244321}">
                <p14:modId xmlns:p14="http://schemas.microsoft.com/office/powerpoint/2010/main" val="2951288536"/>
              </p:ext>
            </p:extLst>
          </p:nvPr>
        </p:nvGraphicFramePr>
        <p:xfrm>
          <a:off x="6095847" y="1527895"/>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91135"/>
            <a:ext cx="5425135" cy="73897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78727" y="4769429"/>
            <a:ext cx="5303520" cy="307777"/>
          </a:xfrm>
          <a:prstGeom prst="rect">
            <a:avLst/>
          </a:prstGeom>
          <a:noFill/>
        </p:spPr>
        <p:txBody>
          <a:bodyPr wrap="square">
            <a:spAutoFit/>
          </a:bodyPr>
          <a:lstStyle/>
          <a:p>
            <a:pPr algn="ctr"/>
            <a:r>
              <a:rPr sz="1400" b="1" dirty="0">
                <a:solidFill>
                  <a:srgbClr val="FFFFFF"/>
                </a:solidFill>
                <a:latin typeface="Calibri"/>
              </a:rPr>
              <a:t>Five-year net return: ~SGD 15.6M  |  226% ROI  |  Breakeven: Year 2</a:t>
            </a:r>
          </a:p>
        </p:txBody>
      </p:sp>
      <p:sp>
        <p:nvSpPr>
          <p:cNvPr id="10" name="TextBox 9"/>
          <p:cNvSpPr txBox="1"/>
          <p:nvPr/>
        </p:nvSpPr>
        <p:spPr>
          <a:xfrm>
            <a:off x="640080" y="4062138"/>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460634"/>
            <a:ext cx="5029200" cy="1477328"/>
          </a:xfrm>
          <a:prstGeom prst="rect">
            <a:avLst/>
          </a:prstGeom>
          <a:noFill/>
        </p:spPr>
        <p:txBody>
          <a:bodyPr wrap="square">
            <a:spAutoFit/>
          </a:bodyPr>
          <a:lstStyle/>
          <a:p>
            <a:pPr>
              <a:spcAft>
                <a:spcPts val="800"/>
              </a:spcAft>
            </a:pPr>
            <a:r>
              <a:rPr sz="1400" b="0" dirty="0">
                <a:solidFill>
                  <a:srgbClr val="2D2D2D"/>
                </a:solidFill>
                <a:latin typeface="Calibri"/>
              </a:rPr>
              <a:t>▸  Data privacy &amp; PDPA compliance</a:t>
            </a:r>
            <a:r>
              <a:rPr lang="en-US" sz="1400" b="0" dirty="0">
                <a:solidFill>
                  <a:srgbClr val="2D2D2D"/>
                </a:solidFill>
                <a:latin typeface="Calibri"/>
              </a:rPr>
              <a:t> – student data</a:t>
            </a:r>
            <a:endParaRPr sz="1400" b="0" dirty="0">
              <a:solidFill>
                <a:srgbClr val="2D2D2D"/>
              </a:solidFill>
              <a:latin typeface="Calibri"/>
            </a:endParaRPr>
          </a:p>
          <a:p>
            <a:pPr>
              <a:spcAft>
                <a:spcPts val="800"/>
              </a:spcAft>
            </a:pPr>
            <a:r>
              <a:rPr sz="1400" b="0" dirty="0">
                <a:solidFill>
                  <a:srgbClr val="2D2D2D"/>
                </a:solidFill>
                <a:latin typeface="Calibri"/>
              </a:rPr>
              <a:t>▸  Resistance to change from staff</a:t>
            </a:r>
            <a:r>
              <a:rPr lang="en-US" sz="1400" b="0" dirty="0">
                <a:solidFill>
                  <a:srgbClr val="2D2D2D"/>
                </a:solidFill>
                <a:latin typeface="Calibri"/>
              </a:rPr>
              <a:t> – replace their jobs</a:t>
            </a:r>
            <a:endParaRPr sz="1400" b="0" dirty="0">
              <a:solidFill>
                <a:srgbClr val="2D2D2D"/>
              </a:solidFill>
              <a:latin typeface="Calibri"/>
            </a:endParaRPr>
          </a:p>
          <a:p>
            <a:pPr>
              <a:spcAft>
                <a:spcPts val="800"/>
              </a:spcAft>
            </a:pPr>
            <a:r>
              <a:rPr sz="1400" b="0" dirty="0">
                <a:solidFill>
                  <a:srgbClr val="2D2D2D"/>
                </a:solidFill>
                <a:latin typeface="Calibri"/>
              </a:rPr>
              <a:t>▸  Data quality &amp; governance</a:t>
            </a:r>
            <a:r>
              <a:rPr lang="en-US" sz="1400" b="0" dirty="0">
                <a:solidFill>
                  <a:srgbClr val="2D2D2D"/>
                </a:solidFill>
                <a:latin typeface="Calibri"/>
              </a:rPr>
              <a:t> – quality of trained data</a:t>
            </a:r>
            <a:endParaRPr sz="1400" b="0" dirty="0">
              <a:solidFill>
                <a:srgbClr val="2D2D2D"/>
              </a:solidFill>
              <a:latin typeface="Calibri"/>
            </a:endParaRPr>
          </a:p>
          <a:p>
            <a:pPr>
              <a:spcAft>
                <a:spcPts val="800"/>
              </a:spcAft>
            </a:pPr>
            <a:r>
              <a:rPr sz="1400" b="0" dirty="0">
                <a:solidFill>
                  <a:srgbClr val="2D2D2D"/>
                </a:solidFill>
                <a:latin typeface="Calibri"/>
              </a:rPr>
              <a:t>▸  Integration with existing </a:t>
            </a:r>
            <a:r>
              <a:rPr lang="en-US" sz="1400" b="0" dirty="0">
                <a:solidFill>
                  <a:srgbClr val="2D2D2D"/>
                </a:solidFill>
                <a:latin typeface="Calibri"/>
              </a:rPr>
              <a:t>Learning Management System/Information Technology (LMS/IT)</a:t>
            </a:r>
            <a:endParaRPr sz="1400" b="0" dirty="0">
              <a:solidFill>
                <a:srgbClr val="2D2D2D"/>
              </a:solidFill>
              <a:latin typeface="Calibri"/>
            </a:endParaRP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10</a:t>
            </a:r>
          </a:p>
        </p:txBody>
      </p:sp>
      <p:sp>
        <p:nvSpPr>
          <p:cNvPr id="15" name="TextBox 14">
            <a:extLst>
              <a:ext uri="{FF2B5EF4-FFF2-40B4-BE49-F238E27FC236}">
                <a16:creationId xmlns:a16="http://schemas.microsoft.com/office/drawing/2014/main" id="{4F53A968-72A2-8041-5769-F63945114C20}"/>
              </a:ext>
            </a:extLst>
          </p:cNvPr>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Clifton </a:t>
            </a:r>
            <a:r>
              <a:rPr lang="en-US" sz="1600" b="0" dirty="0">
                <a:solidFill>
                  <a:schemeClr val="accent3">
                    <a:lumMod val="60000"/>
                    <a:lumOff val="40000"/>
                  </a:schemeClr>
                </a:solidFill>
                <a:latin typeface="Calibri"/>
              </a:rPr>
              <a:t>Chen Yi</a:t>
            </a:r>
            <a:endParaRPr sz="1600" b="0" dirty="0">
              <a:solidFill>
                <a:schemeClr val="accent3">
                  <a:lumMod val="60000"/>
                  <a:lumOff val="40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20133"/>
            <a:ext cx="11301307" cy="615553"/>
          </a:xfrm>
          <a:prstGeom prst="rect">
            <a:avLst/>
          </a:prstGeom>
          <a:noFill/>
        </p:spPr>
        <p:txBody>
          <a:bodyPr wrap="square">
            <a:spAutoFit/>
          </a:bodyPr>
          <a:lstStyle/>
          <a:p>
            <a:pPr algn="l"/>
            <a:r>
              <a:rPr sz="3400" b="1" dirty="0">
                <a:solidFill>
                  <a:srgbClr val="FFFFFF"/>
                </a:solidFill>
                <a:latin typeface="Calibri Light"/>
              </a:rPr>
              <a:t>Immersive Media (V</a:t>
            </a:r>
            <a:r>
              <a:rPr lang="en-US" sz="3400" b="1" dirty="0">
                <a:solidFill>
                  <a:srgbClr val="FFFFFF"/>
                </a:solidFill>
                <a:latin typeface="Calibri Light"/>
              </a:rPr>
              <a:t>irtual/Augmented Reality</a:t>
            </a:r>
            <a:r>
              <a:rPr sz="3400" b="1" dirty="0">
                <a:solidFill>
                  <a:srgbClr val="FFFFFF"/>
                </a:solidFill>
                <a:latin typeface="Calibri Light"/>
              </a:rPr>
              <a:t>)</a:t>
            </a:r>
            <a:r>
              <a:rPr lang="en-US" sz="3400" b="1" dirty="0">
                <a:solidFill>
                  <a:srgbClr val="FFFFFF"/>
                </a:solidFill>
                <a:latin typeface="Calibri Light"/>
              </a:rPr>
              <a:t> – AR/VR</a:t>
            </a:r>
            <a:endParaRPr sz="3400" b="1" dirty="0">
              <a:solidFill>
                <a:srgbClr val="FFFFFF"/>
              </a:solidFill>
              <a:latin typeface="Calibri Light"/>
            </a:endParaRPr>
          </a:p>
        </p:txBody>
      </p:sp>
      <p:sp>
        <p:nvSpPr>
          <p:cNvPr id="5" name="TextBox 4"/>
          <p:cNvSpPr txBox="1"/>
          <p:nvPr/>
        </p:nvSpPr>
        <p:spPr>
          <a:xfrm>
            <a:off x="777240" y="785368"/>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Collin</a:t>
            </a:r>
            <a:r>
              <a:rPr lang="en-US" sz="1600" b="0" dirty="0">
                <a:solidFill>
                  <a:schemeClr val="accent3">
                    <a:lumMod val="60000"/>
                    <a:lumOff val="40000"/>
                  </a:schemeClr>
                </a:solidFill>
                <a:latin typeface="Calibri"/>
              </a:rPr>
              <a:t> Koh Soon Ming</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dirty="0">
                <a:solidFill>
                  <a:srgbClr val="00B894"/>
                </a:solidFill>
                <a:latin typeface="Calibri"/>
              </a:rPr>
              <a:t>VR/AR Technologies</a:t>
            </a:r>
          </a:p>
        </p:txBody>
      </p:sp>
      <p:sp>
        <p:nvSpPr>
          <p:cNvPr id="7" name="TextBox 6"/>
          <p:cNvSpPr txBox="1"/>
          <p:nvPr/>
        </p:nvSpPr>
        <p:spPr>
          <a:xfrm>
            <a:off x="640080" y="1920240"/>
            <a:ext cx="5303520" cy="1590179"/>
          </a:xfrm>
          <a:prstGeom prst="rect">
            <a:avLst/>
          </a:prstGeom>
          <a:noFill/>
        </p:spPr>
        <p:txBody>
          <a:bodyPr wrap="square">
            <a:spAutoFit/>
          </a:bodyPr>
          <a:lstStyle/>
          <a:p>
            <a:pPr>
              <a:spcAft>
                <a:spcPts val="800"/>
              </a:spcAft>
            </a:pPr>
            <a:r>
              <a:rPr sz="1400" b="0" dirty="0">
                <a:solidFill>
                  <a:srgbClr val="2D2D2D"/>
                </a:solidFill>
                <a:latin typeface="Calibri"/>
              </a:rPr>
              <a:t>▸  Virtual Reality (VR) — Fully immersive 3D environments (Meta Quest, HTC </a:t>
            </a:r>
            <a:r>
              <a:rPr sz="1400" b="0" dirty="0" err="1">
                <a:solidFill>
                  <a:srgbClr val="2D2D2D"/>
                </a:solidFill>
                <a:latin typeface="Calibri"/>
              </a:rPr>
              <a:t>Vive</a:t>
            </a:r>
            <a:r>
              <a:rPr sz="1400" b="0" dirty="0">
                <a:solidFill>
                  <a:srgbClr val="2D2D2D"/>
                </a:solidFill>
                <a:latin typeface="Calibri"/>
              </a:rPr>
              <a:t>)</a:t>
            </a:r>
          </a:p>
          <a:p>
            <a:pPr>
              <a:spcAft>
                <a:spcPts val="800"/>
              </a:spcAft>
            </a:pPr>
            <a:r>
              <a:rPr sz="1400" b="0" dirty="0">
                <a:solidFill>
                  <a:srgbClr val="2D2D2D"/>
                </a:solidFill>
                <a:latin typeface="Calibri"/>
              </a:rPr>
              <a:t>▸  Augmented Reality (AR) — Digital overlays on real world (HoloLens, Vision Pro)</a:t>
            </a:r>
          </a:p>
          <a:p>
            <a:pPr>
              <a:spcAft>
                <a:spcPts val="800"/>
              </a:spcAft>
            </a:pPr>
            <a:r>
              <a:rPr sz="1400" b="0" dirty="0">
                <a:solidFill>
                  <a:srgbClr val="2D2D2D"/>
                </a:solidFill>
                <a:latin typeface="Calibri"/>
              </a:rPr>
              <a:t>▸  Mixed Reality (MR) — Blends physical and digital interaction in real time</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00B894"/>
                </a:solidFill>
                <a:latin typeface="Calibri"/>
              </a:rPr>
              <a:t>🔬 Virtual Labs</a:t>
            </a:r>
          </a:p>
        </p:txBody>
      </p:sp>
      <p:sp>
        <p:nvSpPr>
          <p:cNvPr id="11" name="TextBox 10"/>
          <p:cNvSpPr txBox="1"/>
          <p:nvPr/>
        </p:nvSpPr>
        <p:spPr>
          <a:xfrm>
            <a:off x="6583680" y="2103120"/>
            <a:ext cx="2286000" cy="523220"/>
          </a:xfrm>
          <a:prstGeom prst="rect">
            <a:avLst/>
          </a:prstGeom>
          <a:noFill/>
        </p:spPr>
        <p:txBody>
          <a:bodyPr wrap="square">
            <a:spAutoFit/>
          </a:bodyPr>
          <a:lstStyle/>
          <a:p>
            <a:pPr algn="l"/>
            <a:r>
              <a:rPr sz="1400" b="0" dirty="0">
                <a:solidFill>
                  <a:srgbClr val="2D2D2D"/>
                </a:solidFill>
                <a:latin typeface="Calibri"/>
              </a:rPr>
              <a:t>Safe, repeatable simulations
for engineering &amp; healthcare</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00B894"/>
                </a:solidFill>
                <a:latin typeface="Calibri"/>
              </a:rPr>
              <a:t>🌐 Immersive Learning</a:t>
            </a:r>
          </a:p>
        </p:txBody>
      </p:sp>
      <p:sp>
        <p:nvSpPr>
          <p:cNvPr id="15" name="TextBox 14"/>
          <p:cNvSpPr txBox="1"/>
          <p:nvPr/>
        </p:nvSpPr>
        <p:spPr>
          <a:xfrm>
            <a:off x="9418320" y="2103120"/>
            <a:ext cx="2286000" cy="738664"/>
          </a:xfrm>
          <a:prstGeom prst="rect">
            <a:avLst/>
          </a:prstGeom>
          <a:noFill/>
        </p:spPr>
        <p:txBody>
          <a:bodyPr wrap="square">
            <a:spAutoFit/>
          </a:bodyPr>
          <a:lstStyle/>
          <a:p>
            <a:pPr algn="l"/>
            <a:r>
              <a:rPr sz="1400" b="0" dirty="0">
                <a:solidFill>
                  <a:srgbClr val="2D2D2D"/>
                </a:solidFill>
                <a:latin typeface="Calibri"/>
              </a:rPr>
              <a:t>3D overlays of anatomy,
architecture, machines via AR</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00B894"/>
                </a:solidFill>
                <a:latin typeface="Calibri"/>
              </a:rPr>
              <a:t>🏫 Virtual Campus Tours</a:t>
            </a:r>
          </a:p>
        </p:txBody>
      </p:sp>
      <p:sp>
        <p:nvSpPr>
          <p:cNvPr id="19" name="TextBox 18"/>
          <p:cNvSpPr txBox="1"/>
          <p:nvPr/>
        </p:nvSpPr>
        <p:spPr>
          <a:xfrm>
            <a:off x="6492240" y="4227257"/>
            <a:ext cx="2468880" cy="523220"/>
          </a:xfrm>
          <a:prstGeom prst="rect">
            <a:avLst/>
          </a:prstGeom>
          <a:noFill/>
        </p:spPr>
        <p:txBody>
          <a:bodyPr wrap="square">
            <a:spAutoFit/>
          </a:bodyPr>
          <a:lstStyle/>
          <a:p>
            <a:pPr algn="l"/>
            <a:r>
              <a:rPr sz="1400" b="0" dirty="0">
                <a:solidFill>
                  <a:srgbClr val="2D2D2D"/>
                </a:solidFill>
                <a:latin typeface="Calibri"/>
              </a:rPr>
              <a:t>Attract international students
with 360° experiences</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00B894"/>
                </a:solidFill>
                <a:latin typeface="Calibri"/>
              </a:rPr>
              <a:t>🏭 Industry Training</a:t>
            </a:r>
          </a:p>
        </p:txBody>
      </p:sp>
      <p:sp>
        <p:nvSpPr>
          <p:cNvPr id="23" name="TextBox 22"/>
          <p:cNvSpPr txBox="1"/>
          <p:nvPr/>
        </p:nvSpPr>
        <p:spPr>
          <a:xfrm>
            <a:off x="9392615" y="4206240"/>
            <a:ext cx="2286000" cy="1169551"/>
          </a:xfrm>
          <a:prstGeom prst="rect">
            <a:avLst/>
          </a:prstGeom>
          <a:noFill/>
        </p:spPr>
        <p:txBody>
          <a:bodyPr wrap="square">
            <a:spAutoFit/>
          </a:bodyPr>
          <a:lstStyle/>
          <a:p>
            <a:pPr algn="l"/>
            <a:r>
              <a:rPr sz="1400" b="0" dirty="0">
                <a:solidFill>
                  <a:srgbClr val="2D2D2D"/>
                </a:solidFill>
                <a:latin typeface="Calibri"/>
              </a:rPr>
              <a:t>Aviation, construction, hospitality
VR simulations for C</a:t>
            </a:r>
            <a:r>
              <a:rPr lang="en-US" sz="1400" b="0" dirty="0">
                <a:solidFill>
                  <a:srgbClr val="2D2D2D"/>
                </a:solidFill>
                <a:latin typeface="Calibri"/>
              </a:rPr>
              <a:t>ontinuing Education and Training (CET)</a:t>
            </a:r>
            <a:endParaRPr sz="1400" b="0" dirty="0">
              <a:solidFill>
                <a:srgbClr val="2D2D2D"/>
              </a:solidFill>
              <a:latin typeface="Calibri"/>
            </a:endParaRPr>
          </a:p>
        </p:txBody>
      </p:sp>
      <p:sp>
        <p:nvSpPr>
          <p:cNvPr id="24" name="Rounded Rectangle 23"/>
          <p:cNvSpPr/>
          <p:nvPr/>
        </p:nvSpPr>
        <p:spPr>
          <a:xfrm>
            <a:off x="594360" y="3683677"/>
            <a:ext cx="5394960" cy="82296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dirty="0"/>
          </a:p>
        </p:txBody>
      </p:sp>
      <p:sp>
        <p:nvSpPr>
          <p:cNvPr id="25" name="TextBox 24"/>
          <p:cNvSpPr txBox="1"/>
          <p:nvPr/>
        </p:nvSpPr>
        <p:spPr>
          <a:xfrm>
            <a:off x="777240" y="3814960"/>
            <a:ext cx="5029200" cy="523220"/>
          </a:xfrm>
          <a:prstGeom prst="rect">
            <a:avLst/>
          </a:prstGeom>
          <a:noFill/>
        </p:spPr>
        <p:txBody>
          <a:bodyPr wrap="square">
            <a:spAutoFit/>
          </a:bodyPr>
          <a:lstStyle/>
          <a:p>
            <a:pPr algn="l"/>
            <a:r>
              <a:rPr sz="1400" b="1" dirty="0">
                <a:solidFill>
                  <a:srgbClr val="FFFFFF"/>
                </a:solidFill>
                <a:latin typeface="Calibri"/>
              </a:rPr>
              <a:t>📈  VR/AR training improves knowledge retention by 75%
     compared to traditional methods (PwC, 2022)</a:t>
            </a:r>
          </a:p>
        </p:txBody>
      </p:sp>
      <p:sp>
        <p:nvSpPr>
          <p:cNvPr id="26" name="Rounded Rectangle 25"/>
          <p:cNvSpPr/>
          <p:nvPr/>
        </p:nvSpPr>
        <p:spPr>
          <a:xfrm>
            <a:off x="594360" y="4709160"/>
            <a:ext cx="5394960" cy="1097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 y="4757251"/>
            <a:ext cx="5303520" cy="54864"/>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7240" y="4870366"/>
            <a:ext cx="5029200" cy="320040"/>
          </a:xfrm>
          <a:prstGeom prst="rect">
            <a:avLst/>
          </a:prstGeom>
          <a:noFill/>
        </p:spPr>
        <p:txBody>
          <a:bodyPr wrap="square">
            <a:spAutoFit/>
          </a:bodyPr>
          <a:lstStyle/>
          <a:p>
            <a:pPr algn="l"/>
            <a:r>
              <a:rPr sz="1400" b="1" dirty="0">
                <a:solidFill>
                  <a:srgbClr val="00B894"/>
                </a:solidFill>
                <a:latin typeface="Calibri"/>
              </a:rPr>
              <a:t>📌 Real-World Example</a:t>
            </a:r>
          </a:p>
        </p:txBody>
      </p:sp>
      <p:sp>
        <p:nvSpPr>
          <p:cNvPr id="29" name="TextBox 28"/>
          <p:cNvSpPr txBox="1"/>
          <p:nvPr/>
        </p:nvSpPr>
        <p:spPr>
          <a:xfrm>
            <a:off x="731520" y="5151797"/>
            <a:ext cx="5029200" cy="523220"/>
          </a:xfrm>
          <a:prstGeom prst="rect">
            <a:avLst/>
          </a:prstGeom>
          <a:noFill/>
        </p:spPr>
        <p:txBody>
          <a:bodyPr wrap="square">
            <a:spAutoFit/>
          </a:bodyPr>
          <a:lstStyle/>
          <a:p>
            <a:pPr algn="l"/>
            <a:r>
              <a:rPr sz="1400" b="0" dirty="0" err="1">
                <a:solidFill>
                  <a:srgbClr val="2D2D2D"/>
                </a:solidFill>
                <a:latin typeface="Calibri"/>
              </a:rPr>
              <a:t>Labster</a:t>
            </a:r>
            <a:r>
              <a:rPr sz="1400" b="0" dirty="0">
                <a:solidFill>
                  <a:srgbClr val="2D2D2D"/>
                </a:solidFill>
                <a:latin typeface="Calibri"/>
              </a:rPr>
              <a:t>: 3,000+ institutions, 200+ virtual lab experiments.
Microsoft HoloLens: 3D holographic anatomy in medical schools.</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VR/AR — Impact, ROI &amp; Challenges</a:t>
            </a:r>
          </a:p>
        </p:txBody>
      </p:sp>
      <p:sp>
        <p:nvSpPr>
          <p:cNvPr id="5" name="TextBox 4"/>
          <p:cNvSpPr txBox="1"/>
          <p:nvPr/>
        </p:nvSpPr>
        <p:spPr>
          <a:xfrm>
            <a:off x="640080" y="1554480"/>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88667"/>
            <a:ext cx="5029200" cy="1579920"/>
          </a:xfrm>
          <a:prstGeom prst="rect">
            <a:avLst/>
          </a:prstGeom>
          <a:noFill/>
        </p:spPr>
        <p:txBody>
          <a:bodyPr wrap="square">
            <a:spAutoFit/>
          </a:bodyPr>
          <a:lstStyle/>
          <a:p>
            <a:pPr>
              <a:spcAft>
                <a:spcPts val="800"/>
              </a:spcAft>
            </a:pPr>
            <a:r>
              <a:rPr sz="1400" b="0" dirty="0">
                <a:solidFill>
                  <a:srgbClr val="2D2D2D"/>
                </a:solidFill>
                <a:latin typeface="Calibri"/>
              </a:rPr>
              <a:t>▸  Expand practical training beyond physical lab limits</a:t>
            </a:r>
          </a:p>
          <a:p>
            <a:pPr>
              <a:spcAft>
                <a:spcPts val="800"/>
              </a:spcAft>
            </a:pPr>
            <a:r>
              <a:rPr sz="1400" b="0" dirty="0">
                <a:solidFill>
                  <a:srgbClr val="2D2D2D"/>
                </a:solidFill>
                <a:latin typeface="Calibri"/>
              </a:rPr>
              <a:t>▸  Reduce equipment maintenance costs by 15–25%</a:t>
            </a:r>
          </a:p>
          <a:p>
            <a:pPr>
              <a:spcAft>
                <a:spcPts val="800"/>
              </a:spcAft>
            </a:pPr>
            <a:r>
              <a:rPr sz="1400" b="0" dirty="0">
                <a:solidFill>
                  <a:srgbClr val="2D2D2D"/>
                </a:solidFill>
                <a:latin typeface="Calibri"/>
              </a:rPr>
              <a:t>▸  75% better knowledge retention vs. traditional methods</a:t>
            </a:r>
          </a:p>
          <a:p>
            <a:pPr>
              <a:spcAft>
                <a:spcPts val="800"/>
              </a:spcAft>
            </a:pPr>
            <a:r>
              <a:rPr sz="1400" b="0" dirty="0">
                <a:solidFill>
                  <a:srgbClr val="2D2D2D"/>
                </a:solidFill>
                <a:latin typeface="Calibri"/>
              </a:rPr>
              <a:t>▸  B</a:t>
            </a:r>
            <a:r>
              <a:rPr lang="en-US" sz="1400" b="0" dirty="0">
                <a:solidFill>
                  <a:srgbClr val="2D2D2D"/>
                </a:solidFill>
                <a:latin typeface="Calibri"/>
              </a:rPr>
              <a:t>usiness-to-Business (B2B)</a:t>
            </a:r>
            <a:r>
              <a:rPr sz="1400" b="0" dirty="0">
                <a:solidFill>
                  <a:srgbClr val="2D2D2D"/>
                </a:solidFill>
                <a:latin typeface="Calibri"/>
              </a:rPr>
              <a:t> licensing revenue: SGD 2–5M/year</a:t>
            </a:r>
          </a:p>
          <a:p>
            <a:pPr>
              <a:spcAft>
                <a:spcPts val="800"/>
              </a:spcAft>
            </a:pPr>
            <a:r>
              <a:rPr sz="1400" b="0" dirty="0">
                <a:solidFill>
                  <a:srgbClr val="2D2D2D"/>
                </a:solidFill>
                <a:latin typeface="Calibri"/>
              </a:rPr>
              <a:t>▸  Enhanced student recruitment via virtual tours</a:t>
            </a:r>
          </a:p>
        </p:txBody>
      </p:sp>
      <p:graphicFrame>
        <p:nvGraphicFramePr>
          <p:cNvPr id="7" name="Chart 6"/>
          <p:cNvGraphicFramePr>
            <a:graphicFrameLocks noGrp="1"/>
          </p:cNvGraphicFramePr>
          <p:nvPr>
            <p:extLst>
              <p:ext uri="{D42A27DB-BD31-4B8C-83A1-F6EECF244321}">
                <p14:modId xmlns:p14="http://schemas.microsoft.com/office/powerpoint/2010/main" val="3983550429"/>
              </p:ext>
            </p:extLst>
          </p:nvPr>
        </p:nvGraphicFramePr>
        <p:xfrm>
          <a:off x="6217920" y="1463040"/>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72000"/>
            <a:ext cx="5486400" cy="100584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4754880"/>
            <a:ext cx="5120640" cy="584775"/>
          </a:xfrm>
          <a:prstGeom prst="rect">
            <a:avLst/>
          </a:prstGeom>
          <a:noFill/>
        </p:spPr>
        <p:txBody>
          <a:bodyPr wrap="square">
            <a:spAutoFit/>
          </a:bodyPr>
          <a:lstStyle/>
          <a:p>
            <a:pPr algn="ctr"/>
            <a:r>
              <a:rPr sz="1600" b="1" dirty="0">
                <a:solidFill>
                  <a:srgbClr val="FFFFFF"/>
                </a:solidFill>
                <a:latin typeface="Calibri"/>
              </a:rPr>
              <a:t>Five-year net return: ~SGD 10.3M  |  198% ROI  |  </a:t>
            </a:r>
            <a:r>
              <a:rPr sz="1400" b="1" dirty="0">
                <a:solidFill>
                  <a:srgbClr val="FFFFFF"/>
                </a:solidFill>
                <a:latin typeface="Calibri"/>
              </a:rPr>
              <a:t>Breakeven</a:t>
            </a:r>
            <a:r>
              <a:rPr sz="1600" b="1" dirty="0">
                <a:solidFill>
                  <a:srgbClr val="FFFFFF"/>
                </a:solidFill>
                <a:latin typeface="Calibri"/>
              </a:rPr>
              <a:t>: Year 2</a:t>
            </a:r>
          </a:p>
        </p:txBody>
      </p:sp>
      <p:sp>
        <p:nvSpPr>
          <p:cNvPr id="10" name="TextBox 9"/>
          <p:cNvSpPr txBox="1"/>
          <p:nvPr/>
        </p:nvSpPr>
        <p:spPr>
          <a:xfrm>
            <a:off x="640080" y="4019974"/>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472263"/>
            <a:ext cx="5029200" cy="1261884"/>
          </a:xfrm>
          <a:prstGeom prst="rect">
            <a:avLst/>
          </a:prstGeom>
          <a:noFill/>
        </p:spPr>
        <p:txBody>
          <a:bodyPr wrap="square">
            <a:spAutoFit/>
          </a:bodyPr>
          <a:lstStyle/>
          <a:p>
            <a:pPr>
              <a:spcAft>
                <a:spcPts val="800"/>
              </a:spcAft>
            </a:pPr>
            <a:r>
              <a:rPr sz="1400" b="0" dirty="0">
                <a:solidFill>
                  <a:srgbClr val="2D2D2D"/>
                </a:solidFill>
                <a:latin typeface="Calibri"/>
              </a:rPr>
              <a:t>▸  High initial </a:t>
            </a:r>
            <a:r>
              <a:rPr lang="en-US" sz="1400" dirty="0">
                <a:solidFill>
                  <a:srgbClr val="2D2D2D"/>
                </a:solidFill>
                <a:latin typeface="Calibri"/>
              </a:rPr>
              <a:t>hardware</a:t>
            </a:r>
            <a:r>
              <a:rPr sz="1400" b="0" dirty="0">
                <a:solidFill>
                  <a:srgbClr val="2D2D2D"/>
                </a:solidFill>
                <a:latin typeface="Calibri"/>
              </a:rPr>
              <a:t>/content investment</a:t>
            </a:r>
          </a:p>
          <a:p>
            <a:pPr>
              <a:spcAft>
                <a:spcPts val="800"/>
              </a:spcAft>
            </a:pPr>
            <a:r>
              <a:rPr sz="1400" b="0" dirty="0">
                <a:solidFill>
                  <a:srgbClr val="2D2D2D"/>
                </a:solidFill>
                <a:latin typeface="Calibri"/>
              </a:rPr>
              <a:t>▸  </a:t>
            </a:r>
            <a:r>
              <a:rPr sz="1400" b="0" dirty="0" err="1">
                <a:solidFill>
                  <a:srgbClr val="2D2D2D"/>
                </a:solidFill>
                <a:latin typeface="Calibri"/>
              </a:rPr>
              <a:t>Specialised</a:t>
            </a:r>
            <a:r>
              <a:rPr sz="1400" b="0" dirty="0">
                <a:solidFill>
                  <a:srgbClr val="2D2D2D"/>
                </a:solidFill>
                <a:latin typeface="Calibri"/>
              </a:rPr>
              <a:t> content development skills needed</a:t>
            </a:r>
          </a:p>
          <a:p>
            <a:pPr>
              <a:spcAft>
                <a:spcPts val="800"/>
              </a:spcAft>
            </a:pPr>
            <a:r>
              <a:rPr sz="1400" b="0" dirty="0">
                <a:solidFill>
                  <a:srgbClr val="2D2D2D"/>
                </a:solidFill>
                <a:latin typeface="Calibri"/>
              </a:rPr>
              <a:t>▸  Motion sickness &amp; accessibility concerns</a:t>
            </a:r>
          </a:p>
          <a:p>
            <a:pPr>
              <a:spcAft>
                <a:spcPts val="800"/>
              </a:spcAft>
            </a:pPr>
            <a:r>
              <a:rPr sz="1400" b="0" dirty="0">
                <a:solidFill>
                  <a:srgbClr val="2D2D2D"/>
                </a:solidFill>
                <a:latin typeface="Calibri"/>
              </a:rPr>
              <a:t>▸  Hardware refresh every 2–3 years</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12</a:t>
            </a:r>
          </a:p>
        </p:txBody>
      </p:sp>
      <p:sp>
        <p:nvSpPr>
          <p:cNvPr id="15" name="TextBox 14">
            <a:extLst>
              <a:ext uri="{FF2B5EF4-FFF2-40B4-BE49-F238E27FC236}">
                <a16:creationId xmlns:a16="http://schemas.microsoft.com/office/drawing/2014/main" id="{5C70E185-1499-52FD-41A5-C6F1C49717FF}"/>
              </a:ext>
            </a:extLst>
          </p:cNvPr>
          <p:cNvSpPr txBox="1"/>
          <p:nvPr/>
        </p:nvSpPr>
        <p:spPr>
          <a:xfrm>
            <a:off x="777240" y="785368"/>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Collin</a:t>
            </a:r>
            <a:r>
              <a:rPr lang="en-US" sz="1600" b="0" dirty="0">
                <a:solidFill>
                  <a:schemeClr val="accent3">
                    <a:lumMod val="60000"/>
                    <a:lumOff val="40000"/>
                  </a:schemeClr>
                </a:solidFill>
                <a:latin typeface="Calibri"/>
              </a:rPr>
              <a:t> Koh Soon Ming</a:t>
            </a:r>
            <a:endParaRPr sz="1600" b="0" dirty="0">
              <a:solidFill>
                <a:schemeClr val="accent3">
                  <a:lumMod val="60000"/>
                  <a:lumOff val="40000"/>
                </a:schemeClr>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5G &amp; Edge Computing</a:t>
            </a:r>
          </a:p>
        </p:txBody>
      </p:sp>
      <p:sp>
        <p:nvSpPr>
          <p:cNvPr id="5" name="TextBox 4"/>
          <p:cNvSpPr txBox="1"/>
          <p:nvPr/>
        </p:nvSpPr>
        <p:spPr>
          <a:xfrm>
            <a:off x="822960" y="777240"/>
            <a:ext cx="9144000" cy="338554"/>
          </a:xfrm>
          <a:prstGeom prst="rect">
            <a:avLst/>
          </a:prstGeom>
          <a:noFill/>
        </p:spPr>
        <p:txBody>
          <a:bodyPr wrap="square">
            <a:spAutoFit/>
          </a:bodyPr>
          <a:lstStyle/>
          <a:p>
            <a:pPr algn="l"/>
            <a:r>
              <a:rPr lang="en-US" sz="1600" b="0" dirty="0">
                <a:solidFill>
                  <a:schemeClr val="accent3">
                    <a:lumMod val="60000"/>
                    <a:lumOff val="40000"/>
                  </a:schemeClr>
                </a:solidFill>
                <a:latin typeface="Calibri"/>
              </a:rPr>
              <a:t>Shin Thant Aung Alex </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a:solidFill>
                  <a:srgbClr val="FD7936"/>
                </a:solidFill>
                <a:latin typeface="Calibri"/>
              </a:rPr>
              <a:t>5G Capabilities</a:t>
            </a:r>
          </a:p>
        </p:txBody>
      </p:sp>
      <p:sp>
        <p:nvSpPr>
          <p:cNvPr id="7" name="Rounded Rectangle 6"/>
          <p:cNvSpPr/>
          <p:nvPr/>
        </p:nvSpPr>
        <p:spPr>
          <a:xfrm>
            <a:off x="640080" y="1920240"/>
            <a:ext cx="1783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8580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148840"/>
            <a:ext cx="1600200" cy="365760"/>
          </a:xfrm>
          <a:prstGeom prst="rect">
            <a:avLst/>
          </a:prstGeom>
          <a:noFill/>
        </p:spPr>
        <p:txBody>
          <a:bodyPr wrap="square">
            <a:spAutoFit/>
          </a:bodyPr>
          <a:lstStyle/>
          <a:p>
            <a:pPr algn="ctr"/>
            <a:r>
              <a:rPr sz="1800" b="1">
                <a:solidFill>
                  <a:srgbClr val="FD7936"/>
                </a:solidFill>
                <a:latin typeface="Calibri"/>
              </a:rPr>
              <a:t>⚡ 20 Gbps</a:t>
            </a:r>
          </a:p>
        </p:txBody>
      </p:sp>
      <p:sp>
        <p:nvSpPr>
          <p:cNvPr id="10" name="TextBox 9"/>
          <p:cNvSpPr txBox="1"/>
          <p:nvPr/>
        </p:nvSpPr>
        <p:spPr>
          <a:xfrm>
            <a:off x="731520" y="2560320"/>
            <a:ext cx="1600200" cy="731520"/>
          </a:xfrm>
          <a:prstGeom prst="rect">
            <a:avLst/>
          </a:prstGeom>
          <a:noFill/>
        </p:spPr>
        <p:txBody>
          <a:bodyPr wrap="square">
            <a:spAutoFit/>
          </a:bodyPr>
          <a:lstStyle/>
          <a:p>
            <a:pPr algn="ctr"/>
            <a:r>
              <a:rPr sz="1400" b="0" dirty="0">
                <a:solidFill>
                  <a:srgbClr val="2D2D2D"/>
                </a:solidFill>
                <a:latin typeface="Calibri"/>
              </a:rPr>
              <a:t>Ultra-high speed
(20× faster than 4G)</a:t>
            </a:r>
          </a:p>
        </p:txBody>
      </p:sp>
      <p:sp>
        <p:nvSpPr>
          <p:cNvPr id="11" name="Rounded Rectangle 10"/>
          <p:cNvSpPr/>
          <p:nvPr/>
        </p:nvSpPr>
        <p:spPr>
          <a:xfrm>
            <a:off x="2560320" y="1920240"/>
            <a:ext cx="1783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60604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51760" y="2148840"/>
            <a:ext cx="1600200" cy="365760"/>
          </a:xfrm>
          <a:prstGeom prst="rect">
            <a:avLst/>
          </a:prstGeom>
          <a:noFill/>
        </p:spPr>
        <p:txBody>
          <a:bodyPr wrap="square">
            <a:spAutoFit/>
          </a:bodyPr>
          <a:lstStyle/>
          <a:p>
            <a:pPr algn="ctr"/>
            <a:r>
              <a:rPr sz="1800" b="1">
                <a:solidFill>
                  <a:srgbClr val="FD7936"/>
                </a:solidFill>
                <a:latin typeface="Calibri"/>
              </a:rPr>
              <a:t>⏱️ 1 ms</a:t>
            </a:r>
          </a:p>
        </p:txBody>
      </p:sp>
      <p:sp>
        <p:nvSpPr>
          <p:cNvPr id="14" name="TextBox 13"/>
          <p:cNvSpPr txBox="1"/>
          <p:nvPr/>
        </p:nvSpPr>
        <p:spPr>
          <a:xfrm>
            <a:off x="2651760" y="2560320"/>
            <a:ext cx="1600200" cy="731520"/>
          </a:xfrm>
          <a:prstGeom prst="rect">
            <a:avLst/>
          </a:prstGeom>
          <a:noFill/>
        </p:spPr>
        <p:txBody>
          <a:bodyPr wrap="square">
            <a:spAutoFit/>
          </a:bodyPr>
          <a:lstStyle/>
          <a:p>
            <a:pPr algn="ctr"/>
            <a:r>
              <a:rPr sz="1400" b="0" dirty="0">
                <a:solidFill>
                  <a:srgbClr val="2D2D2D"/>
                </a:solidFill>
                <a:latin typeface="Calibri"/>
              </a:rPr>
              <a:t>Ultra-low latency
(vs 30–50ms for 4G)</a:t>
            </a:r>
          </a:p>
        </p:txBody>
      </p:sp>
      <p:sp>
        <p:nvSpPr>
          <p:cNvPr id="15" name="Rounded Rectangle 14"/>
          <p:cNvSpPr/>
          <p:nvPr/>
        </p:nvSpPr>
        <p:spPr>
          <a:xfrm>
            <a:off x="4480560" y="1920240"/>
            <a:ext cx="18288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2628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95987" y="2172700"/>
            <a:ext cx="2150533" cy="369332"/>
          </a:xfrm>
          <a:prstGeom prst="rect">
            <a:avLst/>
          </a:prstGeom>
          <a:noFill/>
        </p:spPr>
        <p:txBody>
          <a:bodyPr wrap="square">
            <a:spAutoFit/>
          </a:bodyPr>
          <a:lstStyle/>
          <a:p>
            <a:pPr algn="ctr"/>
            <a:r>
              <a:rPr sz="1800" b="1" dirty="0">
                <a:solidFill>
                  <a:srgbClr val="FD7936"/>
                </a:solidFill>
                <a:latin typeface="Calibri"/>
              </a:rPr>
              <a:t>📱 1M devices/km²</a:t>
            </a:r>
          </a:p>
        </p:txBody>
      </p:sp>
      <p:sp>
        <p:nvSpPr>
          <p:cNvPr id="18" name="TextBox 17"/>
          <p:cNvSpPr txBox="1"/>
          <p:nvPr/>
        </p:nvSpPr>
        <p:spPr>
          <a:xfrm>
            <a:off x="4555067" y="2560320"/>
            <a:ext cx="1600200" cy="731520"/>
          </a:xfrm>
          <a:prstGeom prst="rect">
            <a:avLst/>
          </a:prstGeom>
          <a:noFill/>
        </p:spPr>
        <p:txBody>
          <a:bodyPr wrap="square">
            <a:spAutoFit/>
          </a:bodyPr>
          <a:lstStyle/>
          <a:p>
            <a:pPr algn="ctr"/>
            <a:r>
              <a:rPr sz="1400" b="0" dirty="0">
                <a:solidFill>
                  <a:srgbClr val="2D2D2D"/>
                </a:solidFill>
                <a:latin typeface="Calibri"/>
              </a:rPr>
              <a:t>Massive connectivity
&amp; network slicing</a:t>
            </a:r>
          </a:p>
        </p:txBody>
      </p:sp>
      <p:sp>
        <p:nvSpPr>
          <p:cNvPr id="19" name="Rounded Rectangle 18"/>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46520" y="150876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83680" y="1691640"/>
            <a:ext cx="2286000" cy="365760"/>
          </a:xfrm>
          <a:prstGeom prst="rect">
            <a:avLst/>
          </a:prstGeom>
          <a:noFill/>
        </p:spPr>
        <p:txBody>
          <a:bodyPr wrap="square">
            <a:spAutoFit/>
          </a:bodyPr>
          <a:lstStyle/>
          <a:p>
            <a:pPr algn="l"/>
            <a:r>
              <a:rPr sz="1500" b="1">
                <a:solidFill>
                  <a:srgbClr val="FD7936"/>
                </a:solidFill>
                <a:latin typeface="Calibri"/>
              </a:rPr>
              <a:t>🏢 Smart Campus</a:t>
            </a:r>
          </a:p>
        </p:txBody>
      </p:sp>
      <p:sp>
        <p:nvSpPr>
          <p:cNvPr id="22" name="TextBox 21"/>
          <p:cNvSpPr txBox="1"/>
          <p:nvPr/>
        </p:nvSpPr>
        <p:spPr>
          <a:xfrm>
            <a:off x="6583680" y="2103120"/>
            <a:ext cx="2286000" cy="523220"/>
          </a:xfrm>
          <a:prstGeom prst="rect">
            <a:avLst/>
          </a:prstGeom>
          <a:noFill/>
        </p:spPr>
        <p:txBody>
          <a:bodyPr wrap="square">
            <a:spAutoFit/>
          </a:bodyPr>
          <a:lstStyle/>
          <a:p>
            <a:pPr algn="l"/>
            <a:r>
              <a:rPr sz="1400" b="0" dirty="0">
                <a:solidFill>
                  <a:srgbClr val="2D2D2D"/>
                </a:solidFill>
                <a:latin typeface="Calibri"/>
              </a:rPr>
              <a:t>IoT sensors, smart energy,
parking &amp; navigation</a:t>
            </a:r>
          </a:p>
        </p:txBody>
      </p:sp>
      <p:sp>
        <p:nvSpPr>
          <p:cNvPr id="23" name="Rounded Rectangle 22"/>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281160" y="150876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18320" y="1691640"/>
            <a:ext cx="2286000" cy="365760"/>
          </a:xfrm>
          <a:prstGeom prst="rect">
            <a:avLst/>
          </a:prstGeom>
          <a:noFill/>
        </p:spPr>
        <p:txBody>
          <a:bodyPr wrap="square">
            <a:spAutoFit/>
          </a:bodyPr>
          <a:lstStyle/>
          <a:p>
            <a:pPr algn="l"/>
            <a:r>
              <a:rPr sz="1500" b="1">
                <a:solidFill>
                  <a:srgbClr val="FD7936"/>
                </a:solidFill>
                <a:latin typeface="Calibri"/>
              </a:rPr>
              <a:t>📺 Hybrid Learning</a:t>
            </a:r>
          </a:p>
        </p:txBody>
      </p:sp>
      <p:sp>
        <p:nvSpPr>
          <p:cNvPr id="26" name="TextBox 25"/>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4K/8K streaming, real-time
collaboration, remote labs</a:t>
            </a:r>
          </a:p>
        </p:txBody>
      </p:sp>
      <p:sp>
        <p:nvSpPr>
          <p:cNvPr id="27" name="Rounded Rectangle 26"/>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46520" y="361188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3794760"/>
            <a:ext cx="2286000" cy="365760"/>
          </a:xfrm>
          <a:prstGeom prst="rect">
            <a:avLst/>
          </a:prstGeom>
          <a:noFill/>
        </p:spPr>
        <p:txBody>
          <a:bodyPr wrap="square">
            <a:spAutoFit/>
          </a:bodyPr>
          <a:lstStyle/>
          <a:p>
            <a:pPr algn="l"/>
            <a:r>
              <a:rPr sz="1500" b="1">
                <a:solidFill>
                  <a:srgbClr val="FD7936"/>
                </a:solidFill>
                <a:latin typeface="Calibri"/>
              </a:rPr>
              <a:t>🔌 VR/AR &amp; AI Enabler</a:t>
            </a:r>
          </a:p>
        </p:txBody>
      </p:sp>
      <p:sp>
        <p:nvSpPr>
          <p:cNvPr id="30" name="TextBox 29"/>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High-bandwidth backbone
for immersive workloads</a:t>
            </a:r>
          </a:p>
        </p:txBody>
      </p:sp>
      <p:sp>
        <p:nvSpPr>
          <p:cNvPr id="31" name="Rounded Rectangle 30"/>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281160" y="361188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418320" y="3794760"/>
            <a:ext cx="2286000" cy="365760"/>
          </a:xfrm>
          <a:prstGeom prst="rect">
            <a:avLst/>
          </a:prstGeom>
          <a:noFill/>
        </p:spPr>
        <p:txBody>
          <a:bodyPr wrap="square">
            <a:spAutoFit/>
          </a:bodyPr>
          <a:lstStyle/>
          <a:p>
            <a:pPr algn="l"/>
            <a:r>
              <a:rPr sz="1500" b="1">
                <a:solidFill>
                  <a:srgbClr val="FD7936"/>
                </a:solidFill>
                <a:latin typeface="Calibri"/>
              </a:rPr>
              <a:t>🔒 Campus Security</a:t>
            </a:r>
          </a:p>
        </p:txBody>
      </p:sp>
      <p:sp>
        <p:nvSpPr>
          <p:cNvPr id="34" name="TextBox 33"/>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AI surveillance, access
control, emergency alerts</a:t>
            </a:r>
          </a:p>
        </p:txBody>
      </p:sp>
      <p:sp>
        <p:nvSpPr>
          <p:cNvPr id="35" name="Rounded Rectangle 34"/>
          <p:cNvSpPr/>
          <p:nvPr/>
        </p:nvSpPr>
        <p:spPr>
          <a:xfrm>
            <a:off x="548640" y="3840480"/>
            <a:ext cx="5394960" cy="109728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520" y="3931920"/>
            <a:ext cx="5029200" cy="320040"/>
          </a:xfrm>
          <a:prstGeom prst="rect">
            <a:avLst/>
          </a:prstGeom>
          <a:noFill/>
        </p:spPr>
        <p:txBody>
          <a:bodyPr wrap="square">
            <a:spAutoFit/>
          </a:bodyPr>
          <a:lstStyle/>
          <a:p>
            <a:pPr algn="l"/>
            <a:r>
              <a:rPr sz="1400" b="1" dirty="0">
                <a:solidFill>
                  <a:srgbClr val="FFFFFF"/>
                </a:solidFill>
                <a:latin typeface="Calibri"/>
              </a:rPr>
              <a:t>Edge Computing</a:t>
            </a:r>
          </a:p>
        </p:txBody>
      </p:sp>
      <p:sp>
        <p:nvSpPr>
          <p:cNvPr id="37" name="TextBox 36"/>
          <p:cNvSpPr txBox="1"/>
          <p:nvPr/>
        </p:nvSpPr>
        <p:spPr>
          <a:xfrm>
            <a:off x="731520" y="4251960"/>
            <a:ext cx="5029200" cy="523220"/>
          </a:xfrm>
          <a:prstGeom prst="rect">
            <a:avLst/>
          </a:prstGeom>
          <a:noFill/>
        </p:spPr>
        <p:txBody>
          <a:bodyPr wrap="square">
            <a:spAutoFit/>
          </a:bodyPr>
          <a:lstStyle/>
          <a:p>
            <a:pPr algn="l"/>
            <a:r>
              <a:rPr sz="1400" b="0" dirty="0">
                <a:solidFill>
                  <a:srgbClr val="FFFFFF"/>
                </a:solidFill>
                <a:latin typeface="Calibri"/>
              </a:rPr>
              <a:t>Brings computation closer to data sources. Reduces latency,
improves response times, and supports real-time AI &amp; VR apps.</a:t>
            </a:r>
          </a:p>
        </p:txBody>
      </p:sp>
      <p:sp>
        <p:nvSpPr>
          <p:cNvPr id="38" name="Rounded Rectangle 37"/>
          <p:cNvSpPr/>
          <p:nvPr/>
        </p:nvSpPr>
        <p:spPr>
          <a:xfrm>
            <a:off x="548640" y="5120640"/>
            <a:ext cx="5394960" cy="640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94360" y="5166360"/>
            <a:ext cx="5303520" cy="54864"/>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31520" y="5257800"/>
            <a:ext cx="5029200" cy="523220"/>
          </a:xfrm>
          <a:prstGeom prst="rect">
            <a:avLst/>
          </a:prstGeom>
          <a:noFill/>
        </p:spPr>
        <p:txBody>
          <a:bodyPr wrap="square">
            <a:spAutoFit/>
          </a:bodyPr>
          <a:lstStyle/>
          <a:p>
            <a:pPr algn="l"/>
            <a:r>
              <a:rPr sz="1400" b="1" dirty="0">
                <a:solidFill>
                  <a:srgbClr val="2D2D2D"/>
                </a:solidFill>
                <a:latin typeface="Calibri"/>
              </a:rPr>
              <a:t>📌 NUS achieved 15% energy savings via smart building IoT + edge computing</a:t>
            </a:r>
          </a:p>
        </p:txBody>
      </p:sp>
      <p:sp>
        <p:nvSpPr>
          <p:cNvPr id="41" name="Rectangle 40"/>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3" name="TextBox 42"/>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5G &amp; Edge Computing — Impact, ROI &amp; Challenges</a:t>
            </a:r>
          </a:p>
        </p:txBody>
      </p:sp>
      <p:sp>
        <p:nvSpPr>
          <p:cNvPr id="5" name="TextBox 4"/>
          <p:cNvSpPr txBox="1"/>
          <p:nvPr/>
        </p:nvSpPr>
        <p:spPr>
          <a:xfrm>
            <a:off x="640080" y="1532467"/>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04907"/>
            <a:ext cx="5029200" cy="1579920"/>
          </a:xfrm>
          <a:prstGeom prst="rect">
            <a:avLst/>
          </a:prstGeom>
          <a:noFill/>
        </p:spPr>
        <p:txBody>
          <a:bodyPr wrap="square">
            <a:spAutoFit/>
          </a:bodyPr>
          <a:lstStyle/>
          <a:p>
            <a:pPr>
              <a:spcAft>
                <a:spcPts val="800"/>
              </a:spcAft>
            </a:pPr>
            <a:r>
              <a:rPr sz="1400" b="0" dirty="0">
                <a:solidFill>
                  <a:srgbClr val="2D2D2D"/>
                </a:solidFill>
                <a:latin typeface="Calibri"/>
              </a:rPr>
              <a:t>▸  </a:t>
            </a:r>
            <a:r>
              <a:rPr sz="1400" b="0" dirty="0" err="1">
                <a:solidFill>
                  <a:srgbClr val="2D2D2D"/>
                </a:solidFill>
                <a:latin typeface="Calibri"/>
              </a:rPr>
              <a:t>Modernised</a:t>
            </a:r>
            <a:r>
              <a:rPr sz="1400" b="0" dirty="0">
                <a:solidFill>
                  <a:srgbClr val="2D2D2D"/>
                </a:solidFill>
                <a:latin typeface="Calibri"/>
              </a:rPr>
              <a:t> campus infrastructure for next-gen apps</a:t>
            </a:r>
          </a:p>
          <a:p>
            <a:pPr>
              <a:spcAft>
                <a:spcPts val="800"/>
              </a:spcAft>
            </a:pPr>
            <a:r>
              <a:rPr sz="1400" b="0" dirty="0">
                <a:solidFill>
                  <a:srgbClr val="2D2D2D"/>
                </a:solidFill>
                <a:latin typeface="Calibri"/>
              </a:rPr>
              <a:t>▸  10–15% energy cost savings via smart building management</a:t>
            </a:r>
          </a:p>
          <a:p>
            <a:pPr>
              <a:spcAft>
                <a:spcPts val="800"/>
              </a:spcAft>
            </a:pPr>
            <a:r>
              <a:rPr sz="1400" b="0" dirty="0">
                <a:solidFill>
                  <a:srgbClr val="2D2D2D"/>
                </a:solidFill>
                <a:latin typeface="Calibri"/>
              </a:rPr>
              <a:t>▸  Foundation for VR/AR, AI, and IoT initiatives</a:t>
            </a:r>
          </a:p>
          <a:p>
            <a:pPr>
              <a:spcAft>
                <a:spcPts val="800"/>
              </a:spcAft>
            </a:pPr>
            <a:r>
              <a:rPr sz="1400" b="0" dirty="0">
                <a:solidFill>
                  <a:srgbClr val="2D2D2D"/>
                </a:solidFill>
                <a:latin typeface="Calibri"/>
              </a:rPr>
              <a:t>▸  Improved campus safety &amp; security</a:t>
            </a:r>
          </a:p>
          <a:p>
            <a:pPr>
              <a:spcAft>
                <a:spcPts val="800"/>
              </a:spcAft>
            </a:pPr>
            <a:r>
              <a:rPr sz="1400" b="0" dirty="0">
                <a:solidFill>
                  <a:srgbClr val="2D2D2D"/>
                </a:solidFill>
                <a:latin typeface="Calibri"/>
              </a:rPr>
              <a:t>▸  Students gain hands-on 5G experience (employability)</a:t>
            </a:r>
          </a:p>
        </p:txBody>
      </p:sp>
      <p:graphicFrame>
        <p:nvGraphicFramePr>
          <p:cNvPr id="7" name="Chart 6"/>
          <p:cNvGraphicFramePr>
            <a:graphicFrameLocks noGrp="1"/>
          </p:cNvGraphicFramePr>
          <p:nvPr>
            <p:extLst>
              <p:ext uri="{D42A27DB-BD31-4B8C-83A1-F6EECF244321}">
                <p14:modId xmlns:p14="http://schemas.microsoft.com/office/powerpoint/2010/main" val="3117298032"/>
              </p:ext>
            </p:extLst>
          </p:nvPr>
        </p:nvGraphicFramePr>
        <p:xfrm>
          <a:off x="6217920" y="1463040"/>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62856"/>
            <a:ext cx="5486400" cy="100584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344920" y="4724876"/>
            <a:ext cx="5232400" cy="738664"/>
          </a:xfrm>
          <a:prstGeom prst="rect">
            <a:avLst/>
          </a:prstGeom>
          <a:noFill/>
        </p:spPr>
        <p:txBody>
          <a:bodyPr wrap="square">
            <a:spAutoFit/>
          </a:bodyPr>
          <a:lstStyle/>
          <a:p>
            <a:pPr algn="ctr"/>
            <a:r>
              <a:rPr sz="1400" b="1" dirty="0">
                <a:solidFill>
                  <a:srgbClr val="FFFFFF"/>
                </a:solidFill>
                <a:latin typeface="Calibri"/>
              </a:rPr>
              <a:t>Five-year net return: ~SGD 4.8M  |  67% ROI  |  Breakeven: Year 3–4
Infrastructure investment enables &amp; accelerates ROI of other three technologies</a:t>
            </a:r>
          </a:p>
        </p:txBody>
      </p:sp>
      <p:sp>
        <p:nvSpPr>
          <p:cNvPr id="10" name="TextBox 9"/>
          <p:cNvSpPr txBox="1"/>
          <p:nvPr/>
        </p:nvSpPr>
        <p:spPr>
          <a:xfrm>
            <a:off x="640080" y="3951583"/>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389120"/>
            <a:ext cx="5029200" cy="1371600"/>
          </a:xfrm>
          <a:prstGeom prst="rect">
            <a:avLst/>
          </a:prstGeom>
          <a:noFill/>
        </p:spPr>
        <p:txBody>
          <a:bodyPr wrap="square">
            <a:spAutoFit/>
          </a:bodyPr>
          <a:lstStyle/>
          <a:p>
            <a:pPr>
              <a:spcAft>
                <a:spcPts val="800"/>
              </a:spcAft>
            </a:pPr>
            <a:r>
              <a:rPr sz="1400" b="0" dirty="0">
                <a:solidFill>
                  <a:srgbClr val="2D2D2D"/>
                </a:solidFill>
                <a:latin typeface="Calibri"/>
              </a:rPr>
              <a:t>▸  High infrastructure costs; partner with telcos</a:t>
            </a:r>
          </a:p>
          <a:p>
            <a:pPr>
              <a:spcAft>
                <a:spcPts val="800"/>
              </a:spcAft>
            </a:pPr>
            <a:r>
              <a:rPr sz="1400" b="0" dirty="0">
                <a:solidFill>
                  <a:srgbClr val="2D2D2D"/>
                </a:solidFill>
                <a:latin typeface="Calibri"/>
              </a:rPr>
              <a:t>▸  Spectrum allocation (IMDA regulatory approval)</a:t>
            </a:r>
          </a:p>
          <a:p>
            <a:pPr>
              <a:spcAft>
                <a:spcPts val="800"/>
              </a:spcAft>
            </a:pPr>
            <a:r>
              <a:rPr sz="1400" b="0" dirty="0">
                <a:solidFill>
                  <a:srgbClr val="2D2D2D"/>
                </a:solidFill>
                <a:latin typeface="Calibri"/>
              </a:rPr>
              <a:t>▸  Cybersecurity risks with massive device connectivity</a:t>
            </a:r>
          </a:p>
          <a:p>
            <a:pPr>
              <a:spcAft>
                <a:spcPts val="800"/>
              </a:spcAft>
            </a:pPr>
            <a:r>
              <a:rPr sz="1400" b="0" dirty="0">
                <a:solidFill>
                  <a:srgbClr val="2D2D2D"/>
                </a:solidFill>
                <a:latin typeface="Calibri"/>
              </a:rPr>
              <a:t>▸  </a:t>
            </a:r>
            <a:r>
              <a:rPr sz="1400" b="0" dirty="0" err="1">
                <a:solidFill>
                  <a:srgbClr val="2D2D2D"/>
                </a:solidFill>
                <a:latin typeface="Calibri"/>
              </a:rPr>
              <a:t>Specialised</a:t>
            </a:r>
            <a:r>
              <a:rPr sz="1400" b="0" dirty="0">
                <a:solidFill>
                  <a:srgbClr val="2D2D2D"/>
                </a:solidFill>
                <a:latin typeface="Calibri"/>
              </a:rPr>
              <a:t> technical expertise required</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14</a:t>
            </a:r>
          </a:p>
        </p:txBody>
      </p:sp>
      <p:sp>
        <p:nvSpPr>
          <p:cNvPr id="15" name="TextBox 14">
            <a:extLst>
              <a:ext uri="{FF2B5EF4-FFF2-40B4-BE49-F238E27FC236}">
                <a16:creationId xmlns:a16="http://schemas.microsoft.com/office/drawing/2014/main" id="{3FB9369B-AE1A-2C8E-B55A-7A45B35CC5A7}"/>
              </a:ext>
            </a:extLst>
          </p:cNvPr>
          <p:cNvSpPr txBox="1"/>
          <p:nvPr/>
        </p:nvSpPr>
        <p:spPr>
          <a:xfrm>
            <a:off x="822960" y="777240"/>
            <a:ext cx="9144000" cy="338554"/>
          </a:xfrm>
          <a:prstGeom prst="rect">
            <a:avLst/>
          </a:prstGeom>
          <a:noFill/>
        </p:spPr>
        <p:txBody>
          <a:bodyPr wrap="square">
            <a:spAutoFit/>
          </a:bodyPr>
          <a:lstStyle/>
          <a:p>
            <a:pPr algn="l"/>
            <a:r>
              <a:rPr lang="en-US" sz="1600" b="0" dirty="0">
                <a:solidFill>
                  <a:schemeClr val="accent3">
                    <a:lumMod val="60000"/>
                    <a:lumOff val="40000"/>
                  </a:schemeClr>
                </a:solidFill>
                <a:latin typeface="Calibri"/>
              </a:rPr>
              <a:t>Shin Thant Aung Alex </a:t>
            </a:r>
            <a:endParaRPr sz="1600" b="0" dirty="0">
              <a:solidFill>
                <a:schemeClr val="accent3">
                  <a:lumMod val="60000"/>
                  <a:lumOff val="40000"/>
                </a:schemeClr>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Blockchain Certificate Verification</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Declan</a:t>
            </a:r>
            <a:r>
              <a:rPr lang="en-US" sz="1600" b="0" dirty="0">
                <a:solidFill>
                  <a:schemeClr val="accent3">
                    <a:lumMod val="60000"/>
                    <a:lumOff val="40000"/>
                  </a:schemeClr>
                </a:solidFill>
                <a:latin typeface="Calibri"/>
              </a:rPr>
              <a:t> Chua Yuan Lok</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a:solidFill>
                  <a:srgbClr val="00CCD3"/>
                </a:solidFill>
                <a:latin typeface="Calibri"/>
              </a:rPr>
              <a:t>How Blockchain Works</a:t>
            </a:r>
          </a:p>
        </p:txBody>
      </p:sp>
      <p:sp>
        <p:nvSpPr>
          <p:cNvPr id="7" name="TextBox 6"/>
          <p:cNvSpPr txBox="1"/>
          <p:nvPr/>
        </p:nvSpPr>
        <p:spPr>
          <a:xfrm>
            <a:off x="640080" y="1920240"/>
            <a:ext cx="5303520" cy="1828800"/>
          </a:xfrm>
          <a:prstGeom prst="rect">
            <a:avLst/>
          </a:prstGeom>
          <a:noFill/>
        </p:spPr>
        <p:txBody>
          <a:bodyPr wrap="square">
            <a:spAutoFit/>
          </a:bodyPr>
          <a:lstStyle/>
          <a:p>
            <a:pPr>
              <a:spcAft>
                <a:spcPts val="800"/>
              </a:spcAft>
            </a:pPr>
            <a:r>
              <a:rPr sz="1400" b="0" dirty="0">
                <a:solidFill>
                  <a:srgbClr val="2D2D2D"/>
                </a:solidFill>
                <a:latin typeface="Calibri"/>
              </a:rPr>
              <a:t>▸  </a:t>
            </a:r>
            <a:r>
              <a:rPr sz="1400" b="0" dirty="0" err="1">
                <a:solidFill>
                  <a:srgbClr val="2D2D2D"/>
                </a:solidFill>
                <a:latin typeface="Calibri"/>
              </a:rPr>
              <a:t>Decentralised</a:t>
            </a:r>
            <a:r>
              <a:rPr sz="1400" b="0" dirty="0">
                <a:solidFill>
                  <a:srgbClr val="2D2D2D"/>
                </a:solidFill>
                <a:latin typeface="Calibri"/>
              </a:rPr>
              <a:t> ledger across network of nodes</a:t>
            </a:r>
          </a:p>
          <a:p>
            <a:pPr>
              <a:spcAft>
                <a:spcPts val="800"/>
              </a:spcAft>
            </a:pPr>
            <a:r>
              <a:rPr sz="1400" b="0" dirty="0">
                <a:solidFill>
                  <a:srgbClr val="2D2D2D"/>
                </a:solidFill>
                <a:latin typeface="Calibri"/>
              </a:rPr>
              <a:t>▸  Each block contains transactions + hash of previous block</a:t>
            </a:r>
          </a:p>
          <a:p>
            <a:pPr>
              <a:spcAft>
                <a:spcPts val="800"/>
              </a:spcAft>
            </a:pPr>
            <a:r>
              <a:rPr sz="1400" b="0" dirty="0">
                <a:solidFill>
                  <a:srgbClr val="2D2D2D"/>
                </a:solidFill>
                <a:latin typeface="Calibri"/>
              </a:rPr>
              <a:t>▸  Consensus required to add blocks (tamper-proof)</a:t>
            </a:r>
          </a:p>
          <a:p>
            <a:pPr>
              <a:spcAft>
                <a:spcPts val="800"/>
              </a:spcAft>
            </a:pPr>
            <a:r>
              <a:rPr sz="1400" b="0" dirty="0">
                <a:solidFill>
                  <a:srgbClr val="2D2D2D"/>
                </a:solidFill>
                <a:latin typeface="Calibri"/>
              </a:rPr>
              <a:t>▸  Once added, blocks cannot be modified or removed</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00CCD3"/>
                </a:solidFill>
                <a:latin typeface="Calibri"/>
              </a:rPr>
              <a:t>📜 Digital Diplomas</a:t>
            </a:r>
          </a:p>
        </p:txBody>
      </p:sp>
      <p:sp>
        <p:nvSpPr>
          <p:cNvPr id="11" name="TextBox 10"/>
          <p:cNvSpPr txBox="1"/>
          <p:nvPr/>
        </p:nvSpPr>
        <p:spPr>
          <a:xfrm>
            <a:off x="6583680" y="2103120"/>
            <a:ext cx="2286000" cy="738664"/>
          </a:xfrm>
          <a:prstGeom prst="rect">
            <a:avLst/>
          </a:prstGeom>
          <a:noFill/>
        </p:spPr>
        <p:txBody>
          <a:bodyPr wrap="square">
            <a:spAutoFit/>
          </a:bodyPr>
          <a:lstStyle/>
          <a:p>
            <a:pPr algn="l"/>
            <a:r>
              <a:rPr sz="1400" b="0" dirty="0">
                <a:solidFill>
                  <a:srgbClr val="2D2D2D"/>
                </a:solidFill>
                <a:latin typeface="Calibri"/>
              </a:rPr>
              <a:t>Cryptographically signed on
blockchain; instant verification</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00CCD3"/>
                </a:solidFill>
                <a:latin typeface="Calibri"/>
              </a:rPr>
              <a:t>🏅 Micro-Credentials</a:t>
            </a:r>
          </a:p>
        </p:txBody>
      </p:sp>
      <p:sp>
        <p:nvSpPr>
          <p:cNvPr id="15" name="TextBox 14"/>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Stackable skill badges on
LinkedIn (Python, Data, etc.)</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00CCD3"/>
                </a:solidFill>
                <a:latin typeface="Calibri"/>
              </a:rPr>
              <a:t>⚡ Fast Verification</a:t>
            </a:r>
          </a:p>
        </p:txBody>
      </p:sp>
      <p:sp>
        <p:nvSpPr>
          <p:cNvPr id="19" name="TextBox 18"/>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Seconds vs. 3–10 days;
zero manual processing</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00CCD3"/>
                </a:solidFill>
                <a:latin typeface="Calibri"/>
              </a:rPr>
              <a:t>📋 Academic Records</a:t>
            </a:r>
          </a:p>
        </p:txBody>
      </p:sp>
      <p:sp>
        <p:nvSpPr>
          <p:cNvPr id="23" name="TextBox 22"/>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Tamper-proof transcripts;
cross-institution transfers</a:t>
            </a:r>
          </a:p>
        </p:txBody>
      </p:sp>
      <p:sp>
        <p:nvSpPr>
          <p:cNvPr id="24" name="TextBox 23"/>
          <p:cNvSpPr txBox="1"/>
          <p:nvPr/>
        </p:nvSpPr>
        <p:spPr>
          <a:xfrm>
            <a:off x="640080" y="3517428"/>
            <a:ext cx="5486400" cy="365760"/>
          </a:xfrm>
          <a:prstGeom prst="rect">
            <a:avLst/>
          </a:prstGeom>
          <a:noFill/>
        </p:spPr>
        <p:txBody>
          <a:bodyPr wrap="square">
            <a:spAutoFit/>
          </a:bodyPr>
          <a:lstStyle/>
          <a:p>
            <a:pPr algn="l"/>
            <a:r>
              <a:rPr sz="1600" b="1" dirty="0">
                <a:solidFill>
                  <a:srgbClr val="002B5C"/>
                </a:solidFill>
                <a:latin typeface="Calibri"/>
              </a:rPr>
              <a:t>Before vs After: Verification Process</a:t>
            </a:r>
          </a:p>
        </p:txBody>
      </p:sp>
      <p:sp>
        <p:nvSpPr>
          <p:cNvPr id="25" name="Rounded Rectangle 24"/>
          <p:cNvSpPr/>
          <p:nvPr/>
        </p:nvSpPr>
        <p:spPr>
          <a:xfrm>
            <a:off x="662940" y="4002384"/>
            <a:ext cx="2537460" cy="1555437"/>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54380" y="4050792"/>
            <a:ext cx="2354580" cy="54864"/>
          </a:xfrm>
          <a:prstGeom prst="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0120" y="4172783"/>
            <a:ext cx="2194560" cy="307777"/>
          </a:xfrm>
          <a:prstGeom prst="rect">
            <a:avLst/>
          </a:prstGeom>
          <a:noFill/>
        </p:spPr>
        <p:txBody>
          <a:bodyPr wrap="square">
            <a:spAutoFit/>
          </a:bodyPr>
          <a:lstStyle/>
          <a:p>
            <a:pPr algn="l"/>
            <a:r>
              <a:rPr sz="1400" b="1" dirty="0">
                <a:solidFill>
                  <a:srgbClr val="E14D4D"/>
                </a:solidFill>
                <a:latin typeface="Calibri"/>
              </a:rPr>
              <a:t>❌ Before (Manual)</a:t>
            </a:r>
          </a:p>
        </p:txBody>
      </p:sp>
      <p:sp>
        <p:nvSpPr>
          <p:cNvPr id="28" name="TextBox 27"/>
          <p:cNvSpPr txBox="1"/>
          <p:nvPr/>
        </p:nvSpPr>
        <p:spPr>
          <a:xfrm>
            <a:off x="754381" y="4552286"/>
            <a:ext cx="2468879" cy="954107"/>
          </a:xfrm>
          <a:prstGeom prst="rect">
            <a:avLst/>
          </a:prstGeom>
          <a:noFill/>
        </p:spPr>
        <p:txBody>
          <a:bodyPr wrap="square">
            <a:spAutoFit/>
          </a:bodyPr>
          <a:lstStyle/>
          <a:p>
            <a:pPr algn="l"/>
            <a:r>
              <a:rPr sz="1400" b="0" dirty="0">
                <a:solidFill>
                  <a:srgbClr val="2D2D2D"/>
                </a:solidFill>
                <a:latin typeface="Calibri"/>
              </a:rPr>
              <a:t>Email request → Admin</a:t>
            </a:r>
            <a:r>
              <a:rPr lang="en-US" sz="1400" b="0" dirty="0">
                <a:solidFill>
                  <a:srgbClr val="2D2D2D"/>
                </a:solidFill>
                <a:latin typeface="Calibri"/>
              </a:rPr>
              <a:t>istrator</a:t>
            </a:r>
            <a:r>
              <a:rPr sz="1400" b="0" dirty="0">
                <a:solidFill>
                  <a:srgbClr val="2D2D2D"/>
                </a:solidFill>
                <a:latin typeface="Calibri"/>
              </a:rPr>
              <a:t> check</a:t>
            </a:r>
            <a:r>
              <a:rPr lang="en-US" sz="1400" b="0" dirty="0">
                <a:solidFill>
                  <a:srgbClr val="2D2D2D"/>
                </a:solidFill>
                <a:latin typeface="Calibri"/>
              </a:rPr>
              <a:t>s</a:t>
            </a:r>
            <a:r>
              <a:rPr sz="1400" b="0" dirty="0">
                <a:solidFill>
                  <a:srgbClr val="2D2D2D"/>
                </a:solidFill>
                <a:latin typeface="Calibri"/>
              </a:rPr>
              <a:t>
→ Verify records → Send letter
⏱️ 3–10 working days</a:t>
            </a:r>
          </a:p>
        </p:txBody>
      </p:sp>
      <p:sp>
        <p:nvSpPr>
          <p:cNvPr id="29" name="TextBox 28"/>
          <p:cNvSpPr txBox="1"/>
          <p:nvPr/>
        </p:nvSpPr>
        <p:spPr>
          <a:xfrm>
            <a:off x="3234689" y="4552286"/>
            <a:ext cx="457200" cy="365760"/>
          </a:xfrm>
          <a:prstGeom prst="rect">
            <a:avLst/>
          </a:prstGeom>
          <a:noFill/>
        </p:spPr>
        <p:txBody>
          <a:bodyPr wrap="square">
            <a:spAutoFit/>
          </a:bodyPr>
          <a:lstStyle/>
          <a:p>
            <a:pPr algn="ctr"/>
            <a:r>
              <a:rPr sz="2800" b="1" dirty="0">
                <a:solidFill>
                  <a:srgbClr val="009FDA"/>
                </a:solidFill>
                <a:latin typeface="Calibri"/>
              </a:rPr>
              <a:t>→</a:t>
            </a:r>
          </a:p>
        </p:txBody>
      </p:sp>
      <p:sp>
        <p:nvSpPr>
          <p:cNvPr id="30" name="Rounded Rectangle 29"/>
          <p:cNvSpPr/>
          <p:nvPr/>
        </p:nvSpPr>
        <p:spPr>
          <a:xfrm>
            <a:off x="3749039" y="4002384"/>
            <a:ext cx="2346961" cy="168362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825240" y="4053100"/>
            <a:ext cx="2194560" cy="76975"/>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023360" y="4206240"/>
            <a:ext cx="2194560" cy="307777"/>
          </a:xfrm>
          <a:prstGeom prst="rect">
            <a:avLst/>
          </a:prstGeom>
          <a:noFill/>
        </p:spPr>
        <p:txBody>
          <a:bodyPr wrap="square">
            <a:spAutoFit/>
          </a:bodyPr>
          <a:lstStyle/>
          <a:p>
            <a:pPr algn="l"/>
            <a:r>
              <a:rPr sz="1400" b="1" dirty="0">
                <a:solidFill>
                  <a:srgbClr val="00A65A"/>
                </a:solidFill>
                <a:latin typeface="Calibri"/>
              </a:rPr>
              <a:t>✅ After (Blockchain)</a:t>
            </a:r>
          </a:p>
        </p:txBody>
      </p:sp>
      <p:sp>
        <p:nvSpPr>
          <p:cNvPr id="33" name="TextBox 32"/>
          <p:cNvSpPr txBox="1"/>
          <p:nvPr/>
        </p:nvSpPr>
        <p:spPr>
          <a:xfrm>
            <a:off x="3996689" y="4559413"/>
            <a:ext cx="2194560" cy="738664"/>
          </a:xfrm>
          <a:prstGeom prst="rect">
            <a:avLst/>
          </a:prstGeom>
          <a:noFill/>
        </p:spPr>
        <p:txBody>
          <a:bodyPr wrap="square">
            <a:spAutoFit/>
          </a:bodyPr>
          <a:lstStyle/>
          <a:p>
            <a:pPr algn="l"/>
            <a:r>
              <a:rPr sz="1400" b="0" dirty="0">
                <a:solidFill>
                  <a:srgbClr val="2D2D2D"/>
                </a:solidFill>
                <a:latin typeface="Calibri"/>
              </a:rPr>
              <a:t>Input certificate hash
→ Blockchain confirms
⏱️ Seconds</a:t>
            </a:r>
          </a:p>
        </p:txBody>
      </p:sp>
      <p:sp>
        <p:nvSpPr>
          <p:cNvPr id="34" name="Rectangle 33"/>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6" name="TextBox 35"/>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Blockchain — Impact, ROI &amp; Challenges</a:t>
            </a:r>
          </a:p>
        </p:txBody>
      </p:sp>
      <p:sp>
        <p:nvSpPr>
          <p:cNvPr id="5" name="TextBox 4"/>
          <p:cNvSpPr txBox="1"/>
          <p:nvPr/>
        </p:nvSpPr>
        <p:spPr>
          <a:xfrm>
            <a:off x="640080" y="1580896"/>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42498"/>
            <a:ext cx="5029200" cy="2286000"/>
          </a:xfrm>
          <a:prstGeom prst="rect">
            <a:avLst/>
          </a:prstGeom>
          <a:noFill/>
        </p:spPr>
        <p:txBody>
          <a:bodyPr wrap="square">
            <a:spAutoFit/>
          </a:bodyPr>
          <a:lstStyle/>
          <a:p>
            <a:pPr>
              <a:spcAft>
                <a:spcPts val="800"/>
              </a:spcAft>
            </a:pPr>
            <a:r>
              <a:rPr sz="1500" b="0" dirty="0">
                <a:solidFill>
                  <a:srgbClr val="2D2D2D"/>
                </a:solidFill>
                <a:latin typeface="Calibri"/>
              </a:rPr>
              <a:t>▸  Eliminate manual verification (50–70% </a:t>
            </a:r>
            <a:r>
              <a:rPr sz="1500" b="0" dirty="0" err="1">
                <a:solidFill>
                  <a:srgbClr val="2D2D2D"/>
                </a:solidFill>
                <a:latin typeface="Calibri"/>
              </a:rPr>
              <a:t>labour</a:t>
            </a:r>
            <a:r>
              <a:rPr sz="1500" b="0" dirty="0">
                <a:solidFill>
                  <a:srgbClr val="2D2D2D"/>
                </a:solidFill>
                <a:latin typeface="Calibri"/>
              </a:rPr>
              <a:t> cut)</a:t>
            </a:r>
          </a:p>
          <a:p>
            <a:pPr>
              <a:spcAft>
                <a:spcPts val="800"/>
              </a:spcAft>
            </a:pPr>
            <a:r>
              <a:rPr sz="1500" b="0" dirty="0">
                <a:solidFill>
                  <a:srgbClr val="2D2D2D"/>
                </a:solidFill>
                <a:latin typeface="Calibri"/>
              </a:rPr>
              <a:t>▸  Tamper-proof credentials protect institutional reputation</a:t>
            </a:r>
          </a:p>
          <a:p>
            <a:pPr>
              <a:spcAft>
                <a:spcPts val="800"/>
              </a:spcAft>
            </a:pPr>
            <a:r>
              <a:rPr sz="1500" b="0" dirty="0">
                <a:solidFill>
                  <a:srgbClr val="2D2D2D"/>
                </a:solidFill>
                <a:latin typeface="Calibri"/>
              </a:rPr>
              <a:t>▸  Align with SG </a:t>
            </a:r>
            <a:r>
              <a:rPr sz="1500" b="0" dirty="0" err="1">
                <a:solidFill>
                  <a:srgbClr val="2D2D2D"/>
                </a:solidFill>
                <a:latin typeface="Calibri"/>
              </a:rPr>
              <a:t>OpenCerts</a:t>
            </a:r>
            <a:r>
              <a:rPr sz="1500" b="0" dirty="0">
                <a:solidFill>
                  <a:srgbClr val="2D2D2D"/>
                </a:solidFill>
                <a:latin typeface="Calibri"/>
              </a:rPr>
              <a:t> &amp; Smart Nation initiatives</a:t>
            </a:r>
          </a:p>
          <a:p>
            <a:pPr>
              <a:spcAft>
                <a:spcPts val="800"/>
              </a:spcAft>
            </a:pPr>
            <a:r>
              <a:rPr sz="1500" b="0" dirty="0">
                <a:solidFill>
                  <a:srgbClr val="2D2D2D"/>
                </a:solidFill>
                <a:latin typeface="Calibri"/>
              </a:rPr>
              <a:t>▸  Portable, cross-border credentials for graduates</a:t>
            </a:r>
          </a:p>
          <a:p>
            <a:pPr>
              <a:spcAft>
                <a:spcPts val="800"/>
              </a:spcAft>
            </a:pPr>
            <a:r>
              <a:rPr sz="1500" b="0" dirty="0">
                <a:solidFill>
                  <a:srgbClr val="2D2D2D"/>
                </a:solidFill>
                <a:latin typeface="Calibri"/>
              </a:rPr>
              <a:t>▸  Employers verify in seconds, not days</a:t>
            </a:r>
          </a:p>
        </p:txBody>
      </p:sp>
      <p:graphicFrame>
        <p:nvGraphicFramePr>
          <p:cNvPr id="7" name="Chart 6"/>
          <p:cNvGraphicFramePr>
            <a:graphicFrameLocks noGrp="1"/>
          </p:cNvGraphicFramePr>
          <p:nvPr>
            <p:extLst>
              <p:ext uri="{D42A27DB-BD31-4B8C-83A1-F6EECF244321}">
                <p14:modId xmlns:p14="http://schemas.microsoft.com/office/powerpoint/2010/main" val="2409883118"/>
              </p:ext>
            </p:extLst>
          </p:nvPr>
        </p:nvGraphicFramePr>
        <p:xfrm>
          <a:off x="6095847" y="1567011"/>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095847" y="4628728"/>
            <a:ext cx="5486400" cy="100584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278727" y="4747515"/>
            <a:ext cx="5120640" cy="738664"/>
          </a:xfrm>
          <a:prstGeom prst="rect">
            <a:avLst/>
          </a:prstGeom>
          <a:noFill/>
        </p:spPr>
        <p:txBody>
          <a:bodyPr wrap="square">
            <a:spAutoFit/>
          </a:bodyPr>
          <a:lstStyle/>
          <a:p>
            <a:pPr algn="ctr"/>
            <a:r>
              <a:rPr sz="1400" b="1" dirty="0">
                <a:solidFill>
                  <a:srgbClr val="FFFFFF"/>
                </a:solidFill>
                <a:latin typeface="Calibri"/>
              </a:rPr>
              <a:t>Five-year net return: ~SGD 1.59M  |  88% ROI  |  Breakeven: Year </a:t>
            </a:r>
            <a:r>
              <a:rPr lang="en-US" sz="1400" b="1" dirty="0">
                <a:solidFill>
                  <a:srgbClr val="FFFFFF"/>
                </a:solidFill>
                <a:latin typeface="Calibri"/>
              </a:rPr>
              <a:t>4</a:t>
            </a:r>
            <a:r>
              <a:rPr sz="1400" b="1" dirty="0">
                <a:solidFill>
                  <a:srgbClr val="FFFFFF"/>
                </a:solidFill>
                <a:latin typeface="Calibri"/>
              </a:rPr>
              <a:t>
Low cost; strategic value exceeds financial return (credibility, fraud elimination)</a:t>
            </a:r>
          </a:p>
        </p:txBody>
      </p:sp>
      <p:sp>
        <p:nvSpPr>
          <p:cNvPr id="10" name="TextBox 9"/>
          <p:cNvSpPr txBox="1"/>
          <p:nvPr/>
        </p:nvSpPr>
        <p:spPr>
          <a:xfrm>
            <a:off x="640080" y="4128347"/>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585547"/>
            <a:ext cx="5029200" cy="1371600"/>
          </a:xfrm>
          <a:prstGeom prst="rect">
            <a:avLst/>
          </a:prstGeom>
          <a:noFill/>
        </p:spPr>
        <p:txBody>
          <a:bodyPr wrap="square">
            <a:spAutoFit/>
          </a:bodyPr>
          <a:lstStyle/>
          <a:p>
            <a:pPr>
              <a:spcAft>
                <a:spcPts val="800"/>
              </a:spcAft>
            </a:pPr>
            <a:r>
              <a:rPr sz="1400" b="0" dirty="0">
                <a:solidFill>
                  <a:srgbClr val="2D2D2D"/>
                </a:solidFill>
                <a:latin typeface="Calibri"/>
              </a:rPr>
              <a:t>▸  Stakeholder adoption (employers, institutions)</a:t>
            </a:r>
          </a:p>
          <a:p>
            <a:pPr>
              <a:spcAft>
                <a:spcPts val="800"/>
              </a:spcAft>
            </a:pPr>
            <a:r>
              <a:rPr sz="1400" b="0" dirty="0">
                <a:solidFill>
                  <a:srgbClr val="2D2D2D"/>
                </a:solidFill>
                <a:latin typeface="Calibri"/>
              </a:rPr>
              <a:t>▸  Interoperability across blockchain platforms</a:t>
            </a:r>
          </a:p>
          <a:p>
            <a:pPr>
              <a:spcAft>
                <a:spcPts val="800"/>
              </a:spcAft>
            </a:pPr>
            <a:r>
              <a:rPr sz="1400" b="0" dirty="0">
                <a:solidFill>
                  <a:srgbClr val="2D2D2D"/>
                </a:solidFill>
                <a:latin typeface="Calibri"/>
              </a:rPr>
              <a:t>▸  User education for students, staff &amp; employers</a:t>
            </a:r>
          </a:p>
          <a:p>
            <a:pPr>
              <a:spcAft>
                <a:spcPts val="800"/>
              </a:spcAft>
            </a:pPr>
            <a:r>
              <a:rPr sz="1400" b="0" dirty="0">
                <a:solidFill>
                  <a:srgbClr val="2D2D2D"/>
                </a:solidFill>
                <a:latin typeface="Calibri"/>
              </a:rPr>
              <a:t>▸  Secure cryptographic hash implementation</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16</a:t>
            </a:r>
          </a:p>
        </p:txBody>
      </p:sp>
      <p:sp>
        <p:nvSpPr>
          <p:cNvPr id="15" name="TextBox 14">
            <a:extLst>
              <a:ext uri="{FF2B5EF4-FFF2-40B4-BE49-F238E27FC236}">
                <a16:creationId xmlns:a16="http://schemas.microsoft.com/office/drawing/2014/main" id="{8A6C4AF3-D253-DFFF-44E4-E3F6C074D534}"/>
              </a:ext>
            </a:extLst>
          </p:cNvPr>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Declan</a:t>
            </a:r>
            <a:r>
              <a:rPr lang="en-US" sz="1600" b="0" dirty="0">
                <a:solidFill>
                  <a:schemeClr val="accent3">
                    <a:lumMod val="60000"/>
                    <a:lumOff val="40000"/>
                  </a:schemeClr>
                </a:solidFill>
                <a:latin typeface="Calibri"/>
              </a:rPr>
              <a:t> Chua Yuan Lok</a:t>
            </a:r>
            <a:endParaRPr sz="1600" b="0" dirty="0">
              <a:solidFill>
                <a:schemeClr val="accent3">
                  <a:lumMod val="60000"/>
                  <a:lumOff val="40000"/>
                </a:schemeClr>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8686800" y="-1371600"/>
            <a:ext cx="5486400" cy="548640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144000" y="-914400"/>
            <a:ext cx="4572000" cy="4572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5029200"/>
            <a:ext cx="274320" cy="27432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515600" y="5486400"/>
            <a:ext cx="182880" cy="1828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7200" y="914400"/>
            <a:ext cx="137160" cy="13716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2926080"/>
            <a:ext cx="914400" cy="5486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200400"/>
            <a:ext cx="8229600" cy="1097280"/>
          </a:xfrm>
          <a:prstGeom prst="rect">
            <a:avLst/>
          </a:prstGeom>
          <a:noFill/>
        </p:spPr>
        <p:txBody>
          <a:bodyPr wrap="square">
            <a:spAutoFit/>
          </a:bodyPr>
          <a:lstStyle/>
          <a:p>
            <a:pPr algn="l"/>
            <a:r>
              <a:rPr sz="4400" b="1">
                <a:solidFill>
                  <a:srgbClr val="FFFFFF"/>
                </a:solidFill>
                <a:latin typeface="Calibri Light"/>
              </a:rPr>
              <a:t>Investment &amp; Roadmap</a:t>
            </a:r>
          </a:p>
        </p:txBody>
      </p:sp>
      <p:sp>
        <p:nvSpPr>
          <p:cNvPr id="9" name="TextBox 8"/>
          <p:cNvSpPr txBox="1"/>
          <p:nvPr/>
        </p:nvSpPr>
        <p:spPr>
          <a:xfrm>
            <a:off x="1371600" y="4297680"/>
            <a:ext cx="8229600" cy="400110"/>
          </a:xfrm>
          <a:prstGeom prst="rect">
            <a:avLst/>
          </a:prstGeom>
          <a:noFill/>
        </p:spPr>
        <p:txBody>
          <a:bodyPr wrap="square">
            <a:spAutoFit/>
          </a:bodyPr>
          <a:lstStyle/>
          <a:p>
            <a:pPr algn="l"/>
            <a:r>
              <a:rPr sz="2000" b="0">
                <a:solidFill>
                  <a:schemeClr val="accent3">
                    <a:lumMod val="60000"/>
                    <a:lumOff val="40000"/>
                  </a:schemeClr>
                </a:solidFill>
                <a:latin typeface="Calibri"/>
              </a:rPr>
              <a:t>Consolidated financials, phased implementation, and technology synergy</a:t>
            </a:r>
          </a:p>
        </p:txBody>
      </p:sp>
      <p:sp>
        <p:nvSpPr>
          <p:cNvPr id="10" name="Rectangle 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2" name="TextBox 1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Consolidated Investment Summary</a:t>
            </a:r>
          </a:p>
        </p:txBody>
      </p:sp>
      <p:sp>
        <p:nvSpPr>
          <p:cNvPr id="5" name="Rectangle 4"/>
          <p:cNvSpPr/>
          <p:nvPr/>
        </p:nvSpPr>
        <p:spPr>
          <a:xfrm>
            <a:off x="548640" y="1508760"/>
            <a:ext cx="10058400" cy="45720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572768"/>
            <a:ext cx="2743200" cy="307777"/>
          </a:xfrm>
          <a:prstGeom prst="rect">
            <a:avLst/>
          </a:prstGeom>
          <a:noFill/>
        </p:spPr>
        <p:txBody>
          <a:bodyPr wrap="square">
            <a:spAutoFit/>
          </a:bodyPr>
          <a:lstStyle/>
          <a:p>
            <a:pPr algn="l"/>
            <a:r>
              <a:rPr sz="1400" b="1">
                <a:solidFill>
                  <a:srgbClr val="FFFFFF"/>
                </a:solidFill>
                <a:latin typeface="Calibri"/>
              </a:rPr>
              <a:t>Technology</a:t>
            </a:r>
          </a:p>
        </p:txBody>
      </p:sp>
      <p:sp>
        <p:nvSpPr>
          <p:cNvPr id="7" name="TextBox 6"/>
          <p:cNvSpPr txBox="1"/>
          <p:nvPr/>
        </p:nvSpPr>
        <p:spPr>
          <a:xfrm>
            <a:off x="3383280" y="1572768"/>
            <a:ext cx="2011680" cy="307777"/>
          </a:xfrm>
          <a:prstGeom prst="rect">
            <a:avLst/>
          </a:prstGeom>
          <a:noFill/>
        </p:spPr>
        <p:txBody>
          <a:bodyPr wrap="square">
            <a:spAutoFit/>
          </a:bodyPr>
          <a:lstStyle/>
          <a:p>
            <a:pPr algn="l"/>
            <a:r>
              <a:rPr sz="1400" b="1">
                <a:solidFill>
                  <a:srgbClr val="FFFFFF"/>
                </a:solidFill>
                <a:latin typeface="Calibri"/>
              </a:rPr>
              <a:t>Year-1 Investment</a:t>
            </a:r>
          </a:p>
        </p:txBody>
      </p:sp>
      <p:sp>
        <p:nvSpPr>
          <p:cNvPr id="8" name="TextBox 7"/>
          <p:cNvSpPr txBox="1"/>
          <p:nvPr/>
        </p:nvSpPr>
        <p:spPr>
          <a:xfrm>
            <a:off x="5394960" y="1572768"/>
            <a:ext cx="2011680" cy="307777"/>
          </a:xfrm>
          <a:prstGeom prst="rect">
            <a:avLst/>
          </a:prstGeom>
          <a:noFill/>
        </p:spPr>
        <p:txBody>
          <a:bodyPr wrap="square">
            <a:spAutoFit/>
          </a:bodyPr>
          <a:lstStyle/>
          <a:p>
            <a:pPr algn="l"/>
            <a:r>
              <a:rPr sz="1400" b="1">
                <a:solidFill>
                  <a:srgbClr val="FFFFFF"/>
                </a:solidFill>
                <a:latin typeface="Calibri"/>
              </a:rPr>
              <a:t>Annual Returns</a:t>
            </a:r>
          </a:p>
        </p:txBody>
      </p:sp>
      <p:sp>
        <p:nvSpPr>
          <p:cNvPr id="9" name="TextBox 8"/>
          <p:cNvSpPr txBox="1"/>
          <p:nvPr/>
        </p:nvSpPr>
        <p:spPr>
          <a:xfrm>
            <a:off x="7406640" y="1572768"/>
            <a:ext cx="1828800" cy="307777"/>
          </a:xfrm>
          <a:prstGeom prst="rect">
            <a:avLst/>
          </a:prstGeom>
          <a:noFill/>
        </p:spPr>
        <p:txBody>
          <a:bodyPr wrap="square">
            <a:spAutoFit/>
          </a:bodyPr>
          <a:lstStyle/>
          <a:p>
            <a:pPr algn="l"/>
            <a:r>
              <a:rPr sz="1400" b="1">
                <a:solidFill>
                  <a:srgbClr val="FFFFFF"/>
                </a:solidFill>
                <a:latin typeface="Calibri"/>
              </a:rPr>
              <a:t>5-Year Net</a:t>
            </a:r>
          </a:p>
        </p:txBody>
      </p:sp>
      <p:sp>
        <p:nvSpPr>
          <p:cNvPr id="10" name="TextBox 9"/>
          <p:cNvSpPr txBox="1"/>
          <p:nvPr/>
        </p:nvSpPr>
        <p:spPr>
          <a:xfrm>
            <a:off x="9235440" y="1572768"/>
            <a:ext cx="1371600" cy="307777"/>
          </a:xfrm>
          <a:prstGeom prst="rect">
            <a:avLst/>
          </a:prstGeom>
          <a:noFill/>
        </p:spPr>
        <p:txBody>
          <a:bodyPr wrap="square">
            <a:spAutoFit/>
          </a:bodyPr>
          <a:lstStyle/>
          <a:p>
            <a:pPr algn="l"/>
            <a:r>
              <a:rPr sz="1400" b="1">
                <a:solidFill>
                  <a:srgbClr val="FFFFFF"/>
                </a:solidFill>
                <a:latin typeface="Calibri"/>
              </a:rPr>
              <a:t>Breakeven</a:t>
            </a:r>
          </a:p>
        </p:txBody>
      </p:sp>
      <p:sp>
        <p:nvSpPr>
          <p:cNvPr id="11" name="Rectangle 10"/>
          <p:cNvSpPr/>
          <p:nvPr/>
        </p:nvSpPr>
        <p:spPr>
          <a:xfrm>
            <a:off x="548640" y="2011680"/>
            <a:ext cx="10058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2" name="Rectangle 11"/>
          <p:cNvSpPr/>
          <p:nvPr/>
        </p:nvSpPr>
        <p:spPr>
          <a:xfrm>
            <a:off x="548640" y="2011680"/>
            <a:ext cx="73152" cy="4572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3" name="TextBox 12"/>
          <p:cNvSpPr txBox="1"/>
          <p:nvPr/>
        </p:nvSpPr>
        <p:spPr>
          <a:xfrm>
            <a:off x="640080" y="2075688"/>
            <a:ext cx="2743200" cy="307777"/>
          </a:xfrm>
          <a:prstGeom prst="rect">
            <a:avLst/>
          </a:prstGeom>
          <a:noFill/>
        </p:spPr>
        <p:txBody>
          <a:bodyPr wrap="square">
            <a:spAutoFit/>
          </a:bodyPr>
          <a:lstStyle/>
          <a:p>
            <a:pPr algn="l"/>
            <a:r>
              <a:rPr sz="1400" b="1" dirty="0">
                <a:solidFill>
                  <a:srgbClr val="2D2D2D"/>
                </a:solidFill>
                <a:latin typeface="Calibri"/>
              </a:rPr>
              <a:t>🤖 AI</a:t>
            </a:r>
          </a:p>
        </p:txBody>
      </p:sp>
      <p:sp>
        <p:nvSpPr>
          <p:cNvPr id="14" name="TextBox 13"/>
          <p:cNvSpPr txBox="1"/>
          <p:nvPr/>
        </p:nvSpPr>
        <p:spPr>
          <a:xfrm>
            <a:off x="3383280" y="2075688"/>
            <a:ext cx="2011680" cy="307777"/>
          </a:xfrm>
          <a:prstGeom prst="rect">
            <a:avLst/>
          </a:prstGeom>
          <a:noFill/>
        </p:spPr>
        <p:txBody>
          <a:bodyPr wrap="square">
            <a:spAutoFit/>
          </a:bodyPr>
          <a:lstStyle/>
          <a:p>
            <a:pPr algn="l"/>
            <a:r>
              <a:rPr sz="1400" b="0">
                <a:solidFill>
                  <a:srgbClr val="2D2D2D"/>
                </a:solidFill>
                <a:latin typeface="Calibri"/>
              </a:rPr>
              <a:t>SGD 2.5–5M</a:t>
            </a:r>
          </a:p>
        </p:txBody>
      </p:sp>
      <p:sp>
        <p:nvSpPr>
          <p:cNvPr id="15" name="TextBox 14"/>
          <p:cNvSpPr txBox="1"/>
          <p:nvPr/>
        </p:nvSpPr>
        <p:spPr>
          <a:xfrm>
            <a:off x="5394960" y="2075688"/>
            <a:ext cx="2011680" cy="307777"/>
          </a:xfrm>
          <a:prstGeom prst="rect">
            <a:avLst/>
          </a:prstGeom>
          <a:noFill/>
        </p:spPr>
        <p:txBody>
          <a:bodyPr wrap="square">
            <a:spAutoFit/>
          </a:bodyPr>
          <a:lstStyle/>
          <a:p>
            <a:pPr algn="l"/>
            <a:r>
              <a:rPr sz="1400" b="0">
                <a:solidFill>
                  <a:srgbClr val="2D2D2D"/>
                </a:solidFill>
                <a:latin typeface="Calibri"/>
              </a:rPr>
              <a:t>SGD 5–10M</a:t>
            </a:r>
          </a:p>
        </p:txBody>
      </p:sp>
      <p:sp>
        <p:nvSpPr>
          <p:cNvPr id="16" name="TextBox 15"/>
          <p:cNvSpPr txBox="1"/>
          <p:nvPr/>
        </p:nvSpPr>
        <p:spPr>
          <a:xfrm>
            <a:off x="7406640" y="2075688"/>
            <a:ext cx="1828800" cy="307777"/>
          </a:xfrm>
          <a:prstGeom prst="rect">
            <a:avLst/>
          </a:prstGeom>
          <a:noFill/>
        </p:spPr>
        <p:txBody>
          <a:bodyPr wrap="square">
            <a:spAutoFit/>
          </a:bodyPr>
          <a:lstStyle/>
          <a:p>
            <a:pPr algn="l"/>
            <a:r>
              <a:rPr sz="1400" b="0">
                <a:solidFill>
                  <a:srgbClr val="2D2D2D"/>
                </a:solidFill>
                <a:latin typeface="Calibri"/>
              </a:rPr>
              <a:t>SGD 15.6M</a:t>
            </a:r>
          </a:p>
        </p:txBody>
      </p:sp>
      <p:sp>
        <p:nvSpPr>
          <p:cNvPr id="17" name="TextBox 16"/>
          <p:cNvSpPr txBox="1"/>
          <p:nvPr/>
        </p:nvSpPr>
        <p:spPr>
          <a:xfrm>
            <a:off x="9235440" y="2075688"/>
            <a:ext cx="1371600" cy="307777"/>
          </a:xfrm>
          <a:prstGeom prst="rect">
            <a:avLst/>
          </a:prstGeom>
          <a:noFill/>
        </p:spPr>
        <p:txBody>
          <a:bodyPr wrap="square">
            <a:spAutoFit/>
          </a:bodyPr>
          <a:lstStyle/>
          <a:p>
            <a:pPr algn="l"/>
            <a:r>
              <a:rPr sz="1400" b="0">
                <a:solidFill>
                  <a:srgbClr val="2D2D2D"/>
                </a:solidFill>
                <a:latin typeface="Calibri"/>
              </a:rPr>
              <a:t>Year 2</a:t>
            </a:r>
          </a:p>
        </p:txBody>
      </p:sp>
      <p:sp>
        <p:nvSpPr>
          <p:cNvPr id="18" name="Rectangle 17"/>
          <p:cNvSpPr/>
          <p:nvPr/>
        </p:nvSpPr>
        <p:spPr>
          <a:xfrm>
            <a:off x="548640" y="2487168"/>
            <a:ext cx="10058400" cy="457200"/>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9" name="Rectangle 18"/>
          <p:cNvSpPr/>
          <p:nvPr/>
        </p:nvSpPr>
        <p:spPr>
          <a:xfrm>
            <a:off x="548640" y="2487168"/>
            <a:ext cx="73152" cy="457200"/>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0" name="TextBox 19"/>
          <p:cNvSpPr txBox="1"/>
          <p:nvPr/>
        </p:nvSpPr>
        <p:spPr>
          <a:xfrm>
            <a:off x="640080" y="2551176"/>
            <a:ext cx="2743200" cy="307777"/>
          </a:xfrm>
          <a:prstGeom prst="rect">
            <a:avLst/>
          </a:prstGeom>
          <a:noFill/>
        </p:spPr>
        <p:txBody>
          <a:bodyPr wrap="square">
            <a:spAutoFit/>
          </a:bodyPr>
          <a:lstStyle/>
          <a:p>
            <a:pPr algn="l"/>
            <a:r>
              <a:rPr sz="1400" b="1" dirty="0">
                <a:solidFill>
                  <a:srgbClr val="2D2D2D"/>
                </a:solidFill>
                <a:latin typeface="Calibri"/>
              </a:rPr>
              <a:t>🥽 VR/</a:t>
            </a:r>
            <a:r>
              <a:rPr lang="en-US" sz="1400" b="1" dirty="0">
                <a:solidFill>
                  <a:srgbClr val="2D2D2D"/>
                </a:solidFill>
                <a:latin typeface="Calibri"/>
              </a:rPr>
              <a:t>AR </a:t>
            </a:r>
            <a:endParaRPr sz="1400" b="1" dirty="0">
              <a:solidFill>
                <a:srgbClr val="2D2D2D"/>
              </a:solidFill>
              <a:latin typeface="Calibri"/>
            </a:endParaRPr>
          </a:p>
        </p:txBody>
      </p:sp>
      <p:sp>
        <p:nvSpPr>
          <p:cNvPr id="21" name="TextBox 20"/>
          <p:cNvSpPr txBox="1"/>
          <p:nvPr/>
        </p:nvSpPr>
        <p:spPr>
          <a:xfrm>
            <a:off x="3383280" y="2551176"/>
            <a:ext cx="2011680" cy="307777"/>
          </a:xfrm>
          <a:prstGeom prst="rect">
            <a:avLst/>
          </a:prstGeom>
          <a:noFill/>
        </p:spPr>
        <p:txBody>
          <a:bodyPr wrap="square">
            <a:spAutoFit/>
          </a:bodyPr>
          <a:lstStyle/>
          <a:p>
            <a:pPr algn="l"/>
            <a:r>
              <a:rPr sz="1400" b="0">
                <a:solidFill>
                  <a:srgbClr val="2D2D2D"/>
                </a:solidFill>
                <a:latin typeface="Calibri"/>
              </a:rPr>
              <a:t>SGD 2.3–4.6M</a:t>
            </a:r>
          </a:p>
        </p:txBody>
      </p:sp>
      <p:sp>
        <p:nvSpPr>
          <p:cNvPr id="22" name="TextBox 21"/>
          <p:cNvSpPr txBox="1"/>
          <p:nvPr/>
        </p:nvSpPr>
        <p:spPr>
          <a:xfrm>
            <a:off x="5394960" y="2551176"/>
            <a:ext cx="2011680" cy="307777"/>
          </a:xfrm>
          <a:prstGeom prst="rect">
            <a:avLst/>
          </a:prstGeom>
          <a:noFill/>
        </p:spPr>
        <p:txBody>
          <a:bodyPr wrap="square">
            <a:spAutoFit/>
          </a:bodyPr>
          <a:lstStyle/>
          <a:p>
            <a:pPr algn="l"/>
            <a:r>
              <a:rPr sz="1400" b="0">
                <a:solidFill>
                  <a:srgbClr val="2D2D2D"/>
                </a:solidFill>
                <a:latin typeface="Calibri"/>
              </a:rPr>
              <a:t>SGD 2–5M</a:t>
            </a:r>
          </a:p>
        </p:txBody>
      </p:sp>
      <p:sp>
        <p:nvSpPr>
          <p:cNvPr id="23" name="TextBox 22"/>
          <p:cNvSpPr txBox="1"/>
          <p:nvPr/>
        </p:nvSpPr>
        <p:spPr>
          <a:xfrm>
            <a:off x="7406640" y="2551176"/>
            <a:ext cx="1828800" cy="307777"/>
          </a:xfrm>
          <a:prstGeom prst="rect">
            <a:avLst/>
          </a:prstGeom>
          <a:noFill/>
        </p:spPr>
        <p:txBody>
          <a:bodyPr wrap="square">
            <a:spAutoFit/>
          </a:bodyPr>
          <a:lstStyle/>
          <a:p>
            <a:pPr algn="l"/>
            <a:r>
              <a:rPr sz="1400" b="0">
                <a:solidFill>
                  <a:srgbClr val="2D2D2D"/>
                </a:solidFill>
                <a:latin typeface="Calibri"/>
              </a:rPr>
              <a:t>SGD 10.3M</a:t>
            </a:r>
          </a:p>
        </p:txBody>
      </p:sp>
      <p:sp>
        <p:nvSpPr>
          <p:cNvPr id="24" name="TextBox 23"/>
          <p:cNvSpPr txBox="1"/>
          <p:nvPr/>
        </p:nvSpPr>
        <p:spPr>
          <a:xfrm>
            <a:off x="9235440" y="2551176"/>
            <a:ext cx="1371600" cy="307777"/>
          </a:xfrm>
          <a:prstGeom prst="rect">
            <a:avLst/>
          </a:prstGeom>
          <a:noFill/>
        </p:spPr>
        <p:txBody>
          <a:bodyPr wrap="square">
            <a:spAutoFit/>
          </a:bodyPr>
          <a:lstStyle/>
          <a:p>
            <a:pPr algn="l"/>
            <a:r>
              <a:rPr sz="1400" b="0">
                <a:solidFill>
                  <a:srgbClr val="2D2D2D"/>
                </a:solidFill>
                <a:latin typeface="Calibri"/>
              </a:rPr>
              <a:t>Year 2</a:t>
            </a:r>
          </a:p>
        </p:txBody>
      </p:sp>
      <p:sp>
        <p:nvSpPr>
          <p:cNvPr id="25" name="Rectangle 24"/>
          <p:cNvSpPr/>
          <p:nvPr/>
        </p:nvSpPr>
        <p:spPr>
          <a:xfrm>
            <a:off x="548640" y="2962656"/>
            <a:ext cx="10058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6" name="Rectangle 25"/>
          <p:cNvSpPr/>
          <p:nvPr/>
        </p:nvSpPr>
        <p:spPr>
          <a:xfrm>
            <a:off x="548640" y="2962656"/>
            <a:ext cx="73152" cy="457200"/>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7" name="TextBox 26"/>
          <p:cNvSpPr txBox="1"/>
          <p:nvPr/>
        </p:nvSpPr>
        <p:spPr>
          <a:xfrm>
            <a:off x="640080" y="3026664"/>
            <a:ext cx="2743200" cy="307777"/>
          </a:xfrm>
          <a:prstGeom prst="rect">
            <a:avLst/>
          </a:prstGeom>
          <a:noFill/>
        </p:spPr>
        <p:txBody>
          <a:bodyPr wrap="square">
            <a:spAutoFit/>
          </a:bodyPr>
          <a:lstStyle/>
          <a:p>
            <a:pPr algn="l"/>
            <a:r>
              <a:rPr sz="1400" b="1" dirty="0">
                <a:solidFill>
                  <a:srgbClr val="2D2D2D"/>
                </a:solidFill>
                <a:latin typeface="Calibri"/>
              </a:rPr>
              <a:t>📡 5G &amp; </a:t>
            </a:r>
            <a:r>
              <a:rPr lang="en-US" sz="1400" b="1" dirty="0">
                <a:solidFill>
                  <a:srgbClr val="2D2D2D"/>
                </a:solidFill>
                <a:latin typeface="Calibri"/>
              </a:rPr>
              <a:t>Edge Computing</a:t>
            </a:r>
            <a:endParaRPr sz="1400" b="1" dirty="0">
              <a:solidFill>
                <a:srgbClr val="2D2D2D"/>
              </a:solidFill>
              <a:latin typeface="Calibri"/>
            </a:endParaRPr>
          </a:p>
        </p:txBody>
      </p:sp>
      <p:sp>
        <p:nvSpPr>
          <p:cNvPr id="28" name="TextBox 27"/>
          <p:cNvSpPr txBox="1"/>
          <p:nvPr/>
        </p:nvSpPr>
        <p:spPr>
          <a:xfrm>
            <a:off x="3383280" y="3026664"/>
            <a:ext cx="2011680" cy="307777"/>
          </a:xfrm>
          <a:prstGeom prst="rect">
            <a:avLst/>
          </a:prstGeom>
          <a:noFill/>
        </p:spPr>
        <p:txBody>
          <a:bodyPr wrap="square">
            <a:spAutoFit/>
          </a:bodyPr>
          <a:lstStyle/>
          <a:p>
            <a:pPr algn="l"/>
            <a:r>
              <a:rPr sz="1400" b="0">
                <a:solidFill>
                  <a:srgbClr val="2D2D2D"/>
                </a:solidFill>
                <a:latin typeface="Calibri"/>
              </a:rPr>
              <a:t>SGD 3–5.5M</a:t>
            </a:r>
          </a:p>
        </p:txBody>
      </p:sp>
      <p:sp>
        <p:nvSpPr>
          <p:cNvPr id="29" name="TextBox 28"/>
          <p:cNvSpPr txBox="1"/>
          <p:nvPr/>
        </p:nvSpPr>
        <p:spPr>
          <a:xfrm>
            <a:off x="5394960" y="3026664"/>
            <a:ext cx="2011680" cy="307777"/>
          </a:xfrm>
          <a:prstGeom prst="rect">
            <a:avLst/>
          </a:prstGeom>
          <a:noFill/>
        </p:spPr>
        <p:txBody>
          <a:bodyPr wrap="square">
            <a:spAutoFit/>
          </a:bodyPr>
          <a:lstStyle/>
          <a:p>
            <a:pPr algn="l"/>
            <a:r>
              <a:rPr sz="1400" b="0">
                <a:solidFill>
                  <a:srgbClr val="2D2D2D"/>
                </a:solidFill>
                <a:latin typeface="Calibri"/>
              </a:rPr>
              <a:t>SGD 1.5–3M</a:t>
            </a:r>
          </a:p>
        </p:txBody>
      </p:sp>
      <p:sp>
        <p:nvSpPr>
          <p:cNvPr id="30" name="TextBox 29"/>
          <p:cNvSpPr txBox="1"/>
          <p:nvPr/>
        </p:nvSpPr>
        <p:spPr>
          <a:xfrm>
            <a:off x="7406640" y="3026664"/>
            <a:ext cx="1828800" cy="307777"/>
          </a:xfrm>
          <a:prstGeom prst="rect">
            <a:avLst/>
          </a:prstGeom>
          <a:noFill/>
        </p:spPr>
        <p:txBody>
          <a:bodyPr wrap="square">
            <a:spAutoFit/>
          </a:bodyPr>
          <a:lstStyle/>
          <a:p>
            <a:pPr algn="l"/>
            <a:r>
              <a:rPr sz="1400" b="0">
                <a:solidFill>
                  <a:srgbClr val="2D2D2D"/>
                </a:solidFill>
                <a:latin typeface="Calibri"/>
              </a:rPr>
              <a:t>SGD 4.8M</a:t>
            </a:r>
          </a:p>
        </p:txBody>
      </p:sp>
      <p:sp>
        <p:nvSpPr>
          <p:cNvPr id="31" name="TextBox 30"/>
          <p:cNvSpPr txBox="1"/>
          <p:nvPr/>
        </p:nvSpPr>
        <p:spPr>
          <a:xfrm>
            <a:off x="9235440" y="3026664"/>
            <a:ext cx="1371600" cy="307777"/>
          </a:xfrm>
          <a:prstGeom prst="rect">
            <a:avLst/>
          </a:prstGeom>
          <a:noFill/>
        </p:spPr>
        <p:txBody>
          <a:bodyPr wrap="square">
            <a:spAutoFit/>
          </a:bodyPr>
          <a:lstStyle/>
          <a:p>
            <a:pPr algn="l"/>
            <a:r>
              <a:rPr sz="1400" b="0" dirty="0">
                <a:solidFill>
                  <a:srgbClr val="2D2D2D"/>
                </a:solidFill>
                <a:latin typeface="Calibri"/>
              </a:rPr>
              <a:t>Y</a:t>
            </a:r>
            <a:r>
              <a:rPr lang="en-US" sz="1400" b="0" dirty="0">
                <a:solidFill>
                  <a:srgbClr val="2D2D2D"/>
                </a:solidFill>
                <a:latin typeface="Calibri"/>
              </a:rPr>
              <a:t>ea</a:t>
            </a:r>
            <a:r>
              <a:rPr sz="1400" b="0" dirty="0">
                <a:solidFill>
                  <a:srgbClr val="2D2D2D"/>
                </a:solidFill>
                <a:latin typeface="Calibri"/>
              </a:rPr>
              <a:t>r 4</a:t>
            </a:r>
          </a:p>
        </p:txBody>
      </p:sp>
      <p:sp>
        <p:nvSpPr>
          <p:cNvPr id="32" name="Rectangle 31"/>
          <p:cNvSpPr/>
          <p:nvPr/>
        </p:nvSpPr>
        <p:spPr>
          <a:xfrm>
            <a:off x="548640" y="3438144"/>
            <a:ext cx="10058400" cy="457200"/>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3" name="Rectangle 32"/>
          <p:cNvSpPr/>
          <p:nvPr/>
        </p:nvSpPr>
        <p:spPr>
          <a:xfrm>
            <a:off x="548640" y="3438144"/>
            <a:ext cx="73152" cy="457200"/>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4" name="TextBox 33"/>
          <p:cNvSpPr txBox="1"/>
          <p:nvPr/>
        </p:nvSpPr>
        <p:spPr>
          <a:xfrm>
            <a:off x="640080" y="3502152"/>
            <a:ext cx="2743200" cy="307777"/>
          </a:xfrm>
          <a:prstGeom prst="rect">
            <a:avLst/>
          </a:prstGeom>
          <a:noFill/>
        </p:spPr>
        <p:txBody>
          <a:bodyPr wrap="square">
            <a:spAutoFit/>
          </a:bodyPr>
          <a:lstStyle/>
          <a:p>
            <a:pPr algn="l"/>
            <a:r>
              <a:rPr sz="1400" b="1" dirty="0">
                <a:solidFill>
                  <a:srgbClr val="2D2D2D"/>
                </a:solidFill>
                <a:latin typeface="Calibri"/>
              </a:rPr>
              <a:t>🔗 Blockchain</a:t>
            </a:r>
          </a:p>
        </p:txBody>
      </p:sp>
      <p:sp>
        <p:nvSpPr>
          <p:cNvPr id="35" name="TextBox 34"/>
          <p:cNvSpPr txBox="1"/>
          <p:nvPr/>
        </p:nvSpPr>
        <p:spPr>
          <a:xfrm>
            <a:off x="3383280" y="3502152"/>
            <a:ext cx="2011680" cy="307777"/>
          </a:xfrm>
          <a:prstGeom prst="rect">
            <a:avLst/>
          </a:prstGeom>
          <a:noFill/>
        </p:spPr>
        <p:txBody>
          <a:bodyPr wrap="square">
            <a:spAutoFit/>
          </a:bodyPr>
          <a:lstStyle/>
          <a:p>
            <a:pPr algn="l"/>
            <a:r>
              <a:rPr sz="1400" b="0">
                <a:solidFill>
                  <a:srgbClr val="2D2D2D"/>
                </a:solidFill>
                <a:latin typeface="Calibri"/>
              </a:rPr>
              <a:t>SGD 1–2M</a:t>
            </a:r>
          </a:p>
        </p:txBody>
      </p:sp>
      <p:sp>
        <p:nvSpPr>
          <p:cNvPr id="36" name="TextBox 35"/>
          <p:cNvSpPr txBox="1"/>
          <p:nvPr/>
        </p:nvSpPr>
        <p:spPr>
          <a:xfrm>
            <a:off x="5394960" y="3502152"/>
            <a:ext cx="2011680" cy="307777"/>
          </a:xfrm>
          <a:prstGeom prst="rect">
            <a:avLst/>
          </a:prstGeom>
          <a:noFill/>
        </p:spPr>
        <p:txBody>
          <a:bodyPr wrap="square">
            <a:spAutoFit/>
          </a:bodyPr>
          <a:lstStyle/>
          <a:p>
            <a:pPr algn="l"/>
            <a:r>
              <a:rPr sz="1400" b="0">
                <a:solidFill>
                  <a:srgbClr val="2D2D2D"/>
                </a:solidFill>
                <a:latin typeface="Calibri"/>
              </a:rPr>
              <a:t>SGD 0.5–1M</a:t>
            </a:r>
          </a:p>
        </p:txBody>
      </p:sp>
      <p:sp>
        <p:nvSpPr>
          <p:cNvPr id="37" name="TextBox 36"/>
          <p:cNvSpPr txBox="1"/>
          <p:nvPr/>
        </p:nvSpPr>
        <p:spPr>
          <a:xfrm>
            <a:off x="7406640" y="3502152"/>
            <a:ext cx="1828800" cy="307777"/>
          </a:xfrm>
          <a:prstGeom prst="rect">
            <a:avLst/>
          </a:prstGeom>
          <a:noFill/>
        </p:spPr>
        <p:txBody>
          <a:bodyPr wrap="square">
            <a:spAutoFit/>
          </a:bodyPr>
          <a:lstStyle/>
          <a:p>
            <a:pPr algn="l"/>
            <a:r>
              <a:rPr sz="1400" b="0">
                <a:solidFill>
                  <a:srgbClr val="2D2D2D"/>
                </a:solidFill>
                <a:latin typeface="Calibri"/>
              </a:rPr>
              <a:t>SGD 1.59M</a:t>
            </a:r>
          </a:p>
        </p:txBody>
      </p:sp>
      <p:sp>
        <p:nvSpPr>
          <p:cNvPr id="38" name="TextBox 37"/>
          <p:cNvSpPr txBox="1"/>
          <p:nvPr/>
        </p:nvSpPr>
        <p:spPr>
          <a:xfrm>
            <a:off x="9235440" y="3502152"/>
            <a:ext cx="1371600" cy="307777"/>
          </a:xfrm>
          <a:prstGeom prst="rect">
            <a:avLst/>
          </a:prstGeom>
          <a:noFill/>
        </p:spPr>
        <p:txBody>
          <a:bodyPr wrap="square">
            <a:spAutoFit/>
          </a:bodyPr>
          <a:lstStyle/>
          <a:p>
            <a:pPr algn="l"/>
            <a:r>
              <a:rPr sz="1400" b="0" dirty="0">
                <a:solidFill>
                  <a:srgbClr val="2D2D2D"/>
                </a:solidFill>
                <a:latin typeface="Calibri"/>
              </a:rPr>
              <a:t>Year </a:t>
            </a:r>
            <a:r>
              <a:rPr lang="en-US" sz="1400" b="0" dirty="0">
                <a:solidFill>
                  <a:srgbClr val="2D2D2D"/>
                </a:solidFill>
                <a:latin typeface="Calibri"/>
              </a:rPr>
              <a:t>4</a:t>
            </a:r>
            <a:endParaRPr sz="1400" b="0" dirty="0">
              <a:solidFill>
                <a:srgbClr val="2D2D2D"/>
              </a:solidFill>
              <a:latin typeface="Calibri"/>
            </a:endParaRPr>
          </a:p>
        </p:txBody>
      </p:sp>
      <p:sp>
        <p:nvSpPr>
          <p:cNvPr id="39" name="Rectangle 38"/>
          <p:cNvSpPr/>
          <p:nvPr/>
        </p:nvSpPr>
        <p:spPr>
          <a:xfrm>
            <a:off x="548640" y="3913632"/>
            <a:ext cx="10058400" cy="50292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40" name="TextBox 39"/>
          <p:cNvSpPr txBox="1"/>
          <p:nvPr/>
        </p:nvSpPr>
        <p:spPr>
          <a:xfrm>
            <a:off x="640080" y="4005072"/>
            <a:ext cx="2743200" cy="307777"/>
          </a:xfrm>
          <a:prstGeom prst="rect">
            <a:avLst/>
          </a:prstGeom>
          <a:noFill/>
        </p:spPr>
        <p:txBody>
          <a:bodyPr wrap="square">
            <a:spAutoFit/>
          </a:bodyPr>
          <a:lstStyle/>
          <a:p>
            <a:pPr algn="l"/>
            <a:r>
              <a:rPr sz="1400" b="1">
                <a:solidFill>
                  <a:srgbClr val="FFFFFF"/>
                </a:solidFill>
                <a:latin typeface="Calibri"/>
              </a:rPr>
              <a:t>TOTAL</a:t>
            </a:r>
          </a:p>
        </p:txBody>
      </p:sp>
      <p:sp>
        <p:nvSpPr>
          <p:cNvPr id="41" name="TextBox 40"/>
          <p:cNvSpPr txBox="1"/>
          <p:nvPr/>
        </p:nvSpPr>
        <p:spPr>
          <a:xfrm>
            <a:off x="3383280" y="4005072"/>
            <a:ext cx="2011680" cy="307777"/>
          </a:xfrm>
          <a:prstGeom prst="rect">
            <a:avLst/>
          </a:prstGeom>
          <a:noFill/>
        </p:spPr>
        <p:txBody>
          <a:bodyPr wrap="square">
            <a:spAutoFit/>
          </a:bodyPr>
          <a:lstStyle/>
          <a:p>
            <a:pPr algn="l"/>
            <a:r>
              <a:rPr sz="1400" b="1">
                <a:solidFill>
                  <a:srgbClr val="FFFFFF"/>
                </a:solidFill>
                <a:latin typeface="Calibri"/>
              </a:rPr>
              <a:t>SGD 8.8–17.1M</a:t>
            </a:r>
          </a:p>
        </p:txBody>
      </p:sp>
      <p:sp>
        <p:nvSpPr>
          <p:cNvPr id="42" name="TextBox 41"/>
          <p:cNvSpPr txBox="1"/>
          <p:nvPr/>
        </p:nvSpPr>
        <p:spPr>
          <a:xfrm>
            <a:off x="5394960" y="4005072"/>
            <a:ext cx="2011680" cy="307777"/>
          </a:xfrm>
          <a:prstGeom prst="rect">
            <a:avLst/>
          </a:prstGeom>
          <a:noFill/>
        </p:spPr>
        <p:txBody>
          <a:bodyPr wrap="square">
            <a:spAutoFit/>
          </a:bodyPr>
          <a:lstStyle/>
          <a:p>
            <a:pPr algn="l"/>
            <a:r>
              <a:rPr sz="1400" b="1">
                <a:solidFill>
                  <a:srgbClr val="FFFFFF"/>
                </a:solidFill>
                <a:latin typeface="Calibri"/>
              </a:rPr>
              <a:t>SGD 10.5–23M</a:t>
            </a:r>
          </a:p>
        </p:txBody>
      </p:sp>
      <p:sp>
        <p:nvSpPr>
          <p:cNvPr id="43" name="TextBox 42"/>
          <p:cNvSpPr txBox="1"/>
          <p:nvPr/>
        </p:nvSpPr>
        <p:spPr>
          <a:xfrm>
            <a:off x="7406640" y="4005072"/>
            <a:ext cx="1828800" cy="307777"/>
          </a:xfrm>
          <a:prstGeom prst="rect">
            <a:avLst/>
          </a:prstGeom>
          <a:noFill/>
        </p:spPr>
        <p:txBody>
          <a:bodyPr wrap="square">
            <a:spAutoFit/>
          </a:bodyPr>
          <a:lstStyle/>
          <a:p>
            <a:pPr algn="l"/>
            <a:r>
              <a:rPr sz="1400" b="1">
                <a:solidFill>
                  <a:srgbClr val="FFFFFF"/>
                </a:solidFill>
                <a:latin typeface="Calibri"/>
              </a:rPr>
              <a:t>SGD 32.3M</a:t>
            </a:r>
          </a:p>
        </p:txBody>
      </p:sp>
      <p:sp>
        <p:nvSpPr>
          <p:cNvPr id="44" name="TextBox 43"/>
          <p:cNvSpPr txBox="1"/>
          <p:nvPr/>
        </p:nvSpPr>
        <p:spPr>
          <a:xfrm>
            <a:off x="9235440" y="4005072"/>
            <a:ext cx="1371600" cy="307777"/>
          </a:xfrm>
          <a:prstGeom prst="rect">
            <a:avLst/>
          </a:prstGeom>
          <a:noFill/>
        </p:spPr>
        <p:txBody>
          <a:bodyPr wrap="square">
            <a:spAutoFit/>
          </a:bodyPr>
          <a:lstStyle/>
          <a:p>
            <a:pPr algn="l"/>
            <a:r>
              <a:rPr sz="1400" b="1" dirty="0">
                <a:solidFill>
                  <a:srgbClr val="FFFFFF"/>
                </a:solidFill>
                <a:latin typeface="Calibri"/>
              </a:rPr>
              <a:t>Yr </a:t>
            </a:r>
            <a:r>
              <a:rPr lang="en-US" sz="1400" b="1" dirty="0">
                <a:solidFill>
                  <a:srgbClr val="FFFFFF"/>
                </a:solidFill>
                <a:latin typeface="Calibri"/>
              </a:rPr>
              <a:t>3-4</a:t>
            </a:r>
            <a:endParaRPr sz="1400" b="1" dirty="0">
              <a:solidFill>
                <a:srgbClr val="FFFFFF"/>
              </a:solidFill>
              <a:latin typeface="Calibri"/>
            </a:endParaRPr>
          </a:p>
        </p:txBody>
      </p:sp>
      <p:graphicFrame>
        <p:nvGraphicFramePr>
          <p:cNvPr id="45" name="Chart 44"/>
          <p:cNvGraphicFramePr>
            <a:graphicFrameLocks noGrp="1"/>
          </p:cNvGraphicFramePr>
          <p:nvPr>
            <p:extLst>
              <p:ext uri="{D42A27DB-BD31-4B8C-83A1-F6EECF244321}">
                <p14:modId xmlns:p14="http://schemas.microsoft.com/office/powerpoint/2010/main" val="585568803"/>
              </p:ext>
            </p:extLst>
          </p:nvPr>
        </p:nvGraphicFramePr>
        <p:xfrm>
          <a:off x="3430540" y="4483982"/>
          <a:ext cx="4294599" cy="2244005"/>
        </p:xfrm>
        <a:graphic>
          <a:graphicData uri="http://schemas.openxmlformats.org/drawingml/2006/chart">
            <c:chart xmlns:c="http://schemas.openxmlformats.org/drawingml/2006/chart" xmlns:r="http://schemas.openxmlformats.org/officeDocument/2006/relationships" r:id="rId3"/>
          </a:graphicData>
        </a:graphic>
      </p:graphicFrame>
      <p:sp>
        <p:nvSpPr>
          <p:cNvPr id="46" name="TextBox 45"/>
          <p:cNvSpPr txBox="1"/>
          <p:nvPr/>
        </p:nvSpPr>
        <p:spPr>
          <a:xfrm>
            <a:off x="457200" y="5111496"/>
            <a:ext cx="3107267" cy="523220"/>
          </a:xfrm>
          <a:prstGeom prst="rect">
            <a:avLst/>
          </a:prstGeom>
          <a:noFill/>
        </p:spPr>
        <p:txBody>
          <a:bodyPr wrap="square">
            <a:spAutoFit/>
          </a:bodyPr>
          <a:lstStyle/>
          <a:p>
            <a:pPr algn="ctr"/>
            <a:r>
              <a:rPr sz="1400" b="1" dirty="0">
                <a:solidFill>
                  <a:srgbClr val="002B5C"/>
                </a:solidFill>
                <a:latin typeface="Calibri"/>
              </a:rPr>
              <a:t>Five-Year Net Return Distribution</a:t>
            </a:r>
            <a:r>
              <a:rPr lang="en-US" sz="1400" b="1" dirty="0">
                <a:solidFill>
                  <a:srgbClr val="002B5C"/>
                </a:solidFill>
                <a:latin typeface="Calibri"/>
              </a:rPr>
              <a:t> across the 4 technologies</a:t>
            </a:r>
            <a:endParaRPr sz="1400" b="1" dirty="0">
              <a:solidFill>
                <a:srgbClr val="002B5C"/>
              </a:solidFill>
              <a:latin typeface="Calibri"/>
            </a:endParaRPr>
          </a:p>
        </p:txBody>
      </p:sp>
      <p:sp>
        <p:nvSpPr>
          <p:cNvPr id="47" name="Rectangle 46"/>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9" name="TextBox 48"/>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Three-Phase Implementation Roadmap</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A phased approach to manage risk and </a:t>
            </a:r>
            <a:r>
              <a:rPr sz="1600" b="0" dirty="0" err="1">
                <a:solidFill>
                  <a:schemeClr val="accent3">
                    <a:lumMod val="60000"/>
                    <a:lumOff val="40000"/>
                  </a:schemeClr>
                </a:solidFill>
                <a:latin typeface="Calibri"/>
              </a:rPr>
              <a:t>maximise</a:t>
            </a:r>
            <a:r>
              <a:rPr sz="1600" b="0" dirty="0">
                <a:solidFill>
                  <a:schemeClr val="accent3">
                    <a:lumMod val="60000"/>
                    <a:lumOff val="40000"/>
                  </a:schemeClr>
                </a:solidFill>
                <a:latin typeface="Calibri"/>
              </a:rPr>
              <a:t> R</a:t>
            </a:r>
            <a:r>
              <a:rPr lang="en-US" sz="1600" b="0" dirty="0">
                <a:solidFill>
                  <a:schemeClr val="accent3">
                    <a:lumMod val="60000"/>
                    <a:lumOff val="40000"/>
                  </a:schemeClr>
                </a:solidFill>
                <a:latin typeface="Calibri"/>
              </a:rPr>
              <a:t>eturn Of Investment (R</a:t>
            </a:r>
            <a:r>
              <a:rPr sz="1600" b="0" dirty="0">
                <a:solidFill>
                  <a:schemeClr val="accent3">
                    <a:lumMod val="60000"/>
                    <a:lumOff val="40000"/>
                  </a:schemeClr>
                </a:solidFill>
                <a:latin typeface="Calibri"/>
              </a:rPr>
              <a:t>OI</a:t>
            </a:r>
            <a:r>
              <a:rPr lang="en-US" sz="1600" b="0" dirty="0">
                <a:solidFill>
                  <a:schemeClr val="accent3">
                    <a:lumMod val="60000"/>
                    <a:lumOff val="40000"/>
                  </a:schemeClr>
                </a:solidFill>
                <a:latin typeface="Calibri"/>
              </a:rPr>
              <a:t>)</a:t>
            </a:r>
            <a:endParaRPr sz="1600" b="0" dirty="0">
              <a:solidFill>
                <a:schemeClr val="accent3">
                  <a:lumMod val="60000"/>
                  <a:lumOff val="40000"/>
                </a:schemeClr>
              </a:solidFill>
              <a:latin typeface="Calibri"/>
            </a:endParaRPr>
          </a:p>
        </p:txBody>
      </p:sp>
      <p:sp>
        <p:nvSpPr>
          <p:cNvPr id="6" name="Rectangle 5"/>
          <p:cNvSpPr/>
          <p:nvPr/>
        </p:nvSpPr>
        <p:spPr>
          <a:xfrm>
            <a:off x="731520" y="2011680"/>
            <a:ext cx="10698480" cy="54864"/>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011680" y="1828800"/>
            <a:ext cx="411480" cy="4114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29968" y="1856231"/>
            <a:ext cx="374904" cy="365760"/>
          </a:xfrm>
          <a:prstGeom prst="rect">
            <a:avLst/>
          </a:prstGeom>
          <a:noFill/>
        </p:spPr>
        <p:txBody>
          <a:bodyPr wrap="square">
            <a:spAutoFit/>
          </a:bodyPr>
          <a:lstStyle/>
          <a:p>
            <a:pPr algn="ctr"/>
            <a:r>
              <a:rPr sz="1600" b="1">
                <a:solidFill>
                  <a:srgbClr val="FFFFFF"/>
                </a:solidFill>
                <a:latin typeface="Calibri"/>
              </a:rPr>
              <a:t>1</a:t>
            </a:r>
          </a:p>
        </p:txBody>
      </p:sp>
      <p:sp>
        <p:nvSpPr>
          <p:cNvPr id="9" name="Rounded Rectangle 8"/>
          <p:cNvSpPr/>
          <p:nvPr/>
        </p:nvSpPr>
        <p:spPr>
          <a:xfrm>
            <a:off x="45720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2514600"/>
            <a:ext cx="3474720" cy="73152"/>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697480"/>
            <a:ext cx="3200400" cy="365760"/>
          </a:xfrm>
          <a:prstGeom prst="rect">
            <a:avLst/>
          </a:prstGeom>
          <a:noFill/>
        </p:spPr>
        <p:txBody>
          <a:bodyPr wrap="square">
            <a:spAutoFit/>
          </a:bodyPr>
          <a:lstStyle/>
          <a:p>
            <a:pPr algn="l"/>
            <a:r>
              <a:rPr sz="2200" b="1">
                <a:solidFill>
                  <a:srgbClr val="009FDA"/>
                </a:solidFill>
                <a:latin typeface="Calibri"/>
              </a:rPr>
              <a:t>Phase 1</a:t>
            </a:r>
          </a:p>
        </p:txBody>
      </p:sp>
      <p:sp>
        <p:nvSpPr>
          <p:cNvPr id="12" name="TextBox 11"/>
          <p:cNvSpPr txBox="1"/>
          <p:nvPr/>
        </p:nvSpPr>
        <p:spPr>
          <a:xfrm>
            <a:off x="640080" y="3017520"/>
            <a:ext cx="3200400" cy="320040"/>
          </a:xfrm>
          <a:prstGeom prst="rect">
            <a:avLst/>
          </a:prstGeom>
          <a:noFill/>
        </p:spPr>
        <p:txBody>
          <a:bodyPr wrap="square">
            <a:spAutoFit/>
          </a:bodyPr>
          <a:lstStyle/>
          <a:p>
            <a:pPr algn="l"/>
            <a:r>
              <a:rPr sz="1400" b="1">
                <a:solidFill>
                  <a:srgbClr val="6C757D"/>
                </a:solidFill>
                <a:latin typeface="Calibri"/>
              </a:rPr>
              <a:t>Year 1: Foundation</a:t>
            </a:r>
          </a:p>
        </p:txBody>
      </p:sp>
      <p:sp>
        <p:nvSpPr>
          <p:cNvPr id="13" name="TextBox 12"/>
          <p:cNvSpPr txBox="1"/>
          <p:nvPr/>
        </p:nvSpPr>
        <p:spPr>
          <a:xfrm>
            <a:off x="640080" y="3429000"/>
            <a:ext cx="3200400" cy="1831271"/>
          </a:xfrm>
          <a:prstGeom prst="rect">
            <a:avLst/>
          </a:prstGeom>
          <a:noFill/>
        </p:spPr>
        <p:txBody>
          <a:bodyPr wrap="square">
            <a:spAutoFit/>
          </a:bodyPr>
          <a:lstStyle/>
          <a:p>
            <a:pPr>
              <a:spcAft>
                <a:spcPts val="600"/>
              </a:spcAft>
            </a:pPr>
            <a:r>
              <a:rPr sz="1400" b="0" dirty="0">
                <a:solidFill>
                  <a:srgbClr val="2D2D2D"/>
                </a:solidFill>
                <a:latin typeface="Calibri"/>
              </a:rPr>
              <a:t>🤖 Deploy AI chatbot for student services</a:t>
            </a:r>
          </a:p>
          <a:p>
            <a:pPr>
              <a:spcAft>
                <a:spcPts val="600"/>
              </a:spcAft>
            </a:pPr>
            <a:r>
              <a:rPr sz="1400" b="0" dirty="0">
                <a:solidFill>
                  <a:srgbClr val="2D2D2D"/>
                </a:solidFill>
                <a:latin typeface="Calibri"/>
              </a:rPr>
              <a:t>🔗 Implement blockchain credentials (</a:t>
            </a:r>
            <a:r>
              <a:rPr sz="1400" b="0" dirty="0" err="1">
                <a:solidFill>
                  <a:srgbClr val="2D2D2D"/>
                </a:solidFill>
                <a:latin typeface="Calibri"/>
              </a:rPr>
              <a:t>OpenCerts</a:t>
            </a:r>
            <a:r>
              <a:rPr sz="1400" b="0" dirty="0">
                <a:solidFill>
                  <a:srgbClr val="2D2D2D"/>
                </a:solidFill>
                <a:latin typeface="Calibri"/>
              </a:rPr>
              <a:t>)</a:t>
            </a:r>
          </a:p>
          <a:p>
            <a:pPr>
              <a:spcAft>
                <a:spcPts val="600"/>
              </a:spcAft>
            </a:pPr>
            <a:r>
              <a:rPr sz="1400" b="0" dirty="0">
                <a:solidFill>
                  <a:srgbClr val="2D2D2D"/>
                </a:solidFill>
                <a:latin typeface="Calibri"/>
              </a:rPr>
              <a:t>📡 Begin 5G infrastructure planning &amp; pilot</a:t>
            </a:r>
          </a:p>
          <a:p>
            <a:pPr>
              <a:spcAft>
                <a:spcPts val="600"/>
              </a:spcAft>
            </a:pPr>
            <a:r>
              <a:rPr sz="1400" b="0" dirty="0">
                <a:solidFill>
                  <a:srgbClr val="2D2D2D"/>
                </a:solidFill>
                <a:latin typeface="Calibri"/>
              </a:rPr>
              <a:t>🥽 Develop first VR lab prototypes</a:t>
            </a:r>
          </a:p>
        </p:txBody>
      </p:sp>
      <p:sp>
        <p:nvSpPr>
          <p:cNvPr id="14" name="Oval 13"/>
          <p:cNvSpPr/>
          <p:nvPr/>
        </p:nvSpPr>
        <p:spPr>
          <a:xfrm>
            <a:off x="5806440" y="1828800"/>
            <a:ext cx="411480" cy="4114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24728" y="1856231"/>
            <a:ext cx="374904" cy="365760"/>
          </a:xfrm>
          <a:prstGeom prst="rect">
            <a:avLst/>
          </a:prstGeom>
          <a:noFill/>
        </p:spPr>
        <p:txBody>
          <a:bodyPr wrap="square">
            <a:spAutoFit/>
          </a:bodyPr>
          <a:lstStyle/>
          <a:p>
            <a:pPr algn="ctr"/>
            <a:r>
              <a:rPr sz="1600" b="1">
                <a:solidFill>
                  <a:srgbClr val="FFFFFF"/>
                </a:solidFill>
                <a:latin typeface="Calibri"/>
              </a:rPr>
              <a:t>2</a:t>
            </a:r>
          </a:p>
        </p:txBody>
      </p:sp>
      <p:sp>
        <p:nvSpPr>
          <p:cNvPr id="16" name="Rounded Rectangle 15"/>
          <p:cNvSpPr/>
          <p:nvPr/>
        </p:nvSpPr>
        <p:spPr>
          <a:xfrm>
            <a:off x="425196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97680" y="2514600"/>
            <a:ext cx="3474720" cy="73152"/>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34840" y="2697480"/>
            <a:ext cx="3200400" cy="365760"/>
          </a:xfrm>
          <a:prstGeom prst="rect">
            <a:avLst/>
          </a:prstGeom>
          <a:noFill/>
        </p:spPr>
        <p:txBody>
          <a:bodyPr wrap="square">
            <a:spAutoFit/>
          </a:bodyPr>
          <a:lstStyle/>
          <a:p>
            <a:pPr algn="l"/>
            <a:r>
              <a:rPr sz="2200" b="1">
                <a:solidFill>
                  <a:srgbClr val="00A65A"/>
                </a:solidFill>
                <a:latin typeface="Calibri"/>
              </a:rPr>
              <a:t>Phase 2</a:t>
            </a:r>
          </a:p>
        </p:txBody>
      </p:sp>
      <p:sp>
        <p:nvSpPr>
          <p:cNvPr id="19" name="TextBox 18"/>
          <p:cNvSpPr txBox="1"/>
          <p:nvPr/>
        </p:nvSpPr>
        <p:spPr>
          <a:xfrm>
            <a:off x="4434840" y="3017520"/>
            <a:ext cx="3200400" cy="320040"/>
          </a:xfrm>
          <a:prstGeom prst="rect">
            <a:avLst/>
          </a:prstGeom>
          <a:noFill/>
        </p:spPr>
        <p:txBody>
          <a:bodyPr wrap="square">
            <a:spAutoFit/>
          </a:bodyPr>
          <a:lstStyle/>
          <a:p>
            <a:pPr algn="l"/>
            <a:r>
              <a:rPr sz="1400" b="1" dirty="0">
                <a:solidFill>
                  <a:srgbClr val="6C757D"/>
                </a:solidFill>
                <a:latin typeface="Calibri"/>
              </a:rPr>
              <a:t>Year 2: Expansion</a:t>
            </a:r>
          </a:p>
        </p:txBody>
      </p:sp>
      <p:sp>
        <p:nvSpPr>
          <p:cNvPr id="20" name="TextBox 19"/>
          <p:cNvSpPr txBox="1"/>
          <p:nvPr/>
        </p:nvSpPr>
        <p:spPr>
          <a:xfrm>
            <a:off x="4434840" y="3429000"/>
            <a:ext cx="3200400" cy="1615827"/>
          </a:xfrm>
          <a:prstGeom prst="rect">
            <a:avLst/>
          </a:prstGeom>
          <a:noFill/>
        </p:spPr>
        <p:txBody>
          <a:bodyPr wrap="square">
            <a:spAutoFit/>
          </a:bodyPr>
          <a:lstStyle/>
          <a:p>
            <a:pPr>
              <a:spcAft>
                <a:spcPts val="600"/>
              </a:spcAft>
            </a:pPr>
            <a:r>
              <a:rPr sz="1400" b="0" dirty="0">
                <a:solidFill>
                  <a:srgbClr val="2D2D2D"/>
                </a:solidFill>
                <a:latin typeface="Calibri"/>
              </a:rPr>
              <a:t>🤖 Scale AI adaptive learning across all schools</a:t>
            </a:r>
          </a:p>
          <a:p>
            <a:pPr>
              <a:spcAft>
                <a:spcPts val="600"/>
              </a:spcAft>
            </a:pPr>
            <a:r>
              <a:rPr sz="1400" b="0" dirty="0">
                <a:solidFill>
                  <a:srgbClr val="2D2D2D"/>
                </a:solidFill>
                <a:latin typeface="Calibri"/>
              </a:rPr>
              <a:t>🥽 Launch 10+ VR virtual labs</a:t>
            </a:r>
          </a:p>
          <a:p>
            <a:pPr>
              <a:spcAft>
                <a:spcPts val="600"/>
              </a:spcAft>
            </a:pPr>
            <a:r>
              <a:rPr sz="1400" b="0" dirty="0">
                <a:solidFill>
                  <a:srgbClr val="2D2D2D"/>
                </a:solidFill>
                <a:latin typeface="Calibri"/>
              </a:rPr>
              <a:t>📡 Deploy 5G campus-wide</a:t>
            </a:r>
          </a:p>
          <a:p>
            <a:pPr>
              <a:spcAft>
                <a:spcPts val="600"/>
              </a:spcAft>
            </a:pPr>
            <a:r>
              <a:rPr sz="1400" b="0" dirty="0">
                <a:solidFill>
                  <a:srgbClr val="2D2D2D"/>
                </a:solidFill>
                <a:latin typeface="Calibri"/>
              </a:rPr>
              <a:t>🔗 Expand blockchain to micro-credentials</a:t>
            </a:r>
          </a:p>
        </p:txBody>
      </p:sp>
      <p:sp>
        <p:nvSpPr>
          <p:cNvPr id="21" name="Oval 20"/>
          <p:cNvSpPr/>
          <p:nvPr/>
        </p:nvSpPr>
        <p:spPr>
          <a:xfrm>
            <a:off x="9601200" y="1828800"/>
            <a:ext cx="411480" cy="4114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19488" y="1856231"/>
            <a:ext cx="374904" cy="365760"/>
          </a:xfrm>
          <a:prstGeom prst="rect">
            <a:avLst/>
          </a:prstGeom>
          <a:noFill/>
        </p:spPr>
        <p:txBody>
          <a:bodyPr wrap="square">
            <a:spAutoFit/>
          </a:bodyPr>
          <a:lstStyle/>
          <a:p>
            <a:pPr algn="ctr"/>
            <a:r>
              <a:rPr sz="1600" b="1">
                <a:solidFill>
                  <a:srgbClr val="FFFFFF"/>
                </a:solidFill>
                <a:latin typeface="Calibri"/>
              </a:rPr>
              <a:t>3</a:t>
            </a:r>
          </a:p>
        </p:txBody>
      </p:sp>
      <p:sp>
        <p:nvSpPr>
          <p:cNvPr id="23" name="Rounded Rectangle 22"/>
          <p:cNvSpPr/>
          <p:nvPr/>
        </p:nvSpPr>
        <p:spPr>
          <a:xfrm>
            <a:off x="804672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92440" y="2514600"/>
            <a:ext cx="3474720"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0" y="2697480"/>
            <a:ext cx="3200400" cy="365760"/>
          </a:xfrm>
          <a:prstGeom prst="rect">
            <a:avLst/>
          </a:prstGeom>
          <a:noFill/>
        </p:spPr>
        <p:txBody>
          <a:bodyPr wrap="square">
            <a:spAutoFit/>
          </a:bodyPr>
          <a:lstStyle/>
          <a:p>
            <a:pPr algn="l"/>
            <a:r>
              <a:rPr sz="2200" b="1">
                <a:solidFill>
                  <a:srgbClr val="FFB700"/>
                </a:solidFill>
                <a:latin typeface="Calibri"/>
              </a:rPr>
              <a:t>Phase 3</a:t>
            </a:r>
          </a:p>
        </p:txBody>
      </p:sp>
      <p:sp>
        <p:nvSpPr>
          <p:cNvPr id="26" name="TextBox 25"/>
          <p:cNvSpPr txBox="1"/>
          <p:nvPr/>
        </p:nvSpPr>
        <p:spPr>
          <a:xfrm>
            <a:off x="8229600" y="3017520"/>
            <a:ext cx="3200400" cy="320040"/>
          </a:xfrm>
          <a:prstGeom prst="rect">
            <a:avLst/>
          </a:prstGeom>
          <a:noFill/>
        </p:spPr>
        <p:txBody>
          <a:bodyPr wrap="square">
            <a:spAutoFit/>
          </a:bodyPr>
          <a:lstStyle/>
          <a:p>
            <a:pPr algn="l"/>
            <a:r>
              <a:rPr sz="1400" b="1" dirty="0">
                <a:solidFill>
                  <a:srgbClr val="6C757D"/>
                </a:solidFill>
                <a:latin typeface="Calibri"/>
              </a:rPr>
              <a:t>Year 3: </a:t>
            </a:r>
            <a:r>
              <a:rPr sz="1400" b="1" dirty="0" err="1">
                <a:solidFill>
                  <a:srgbClr val="6C757D"/>
                </a:solidFill>
                <a:latin typeface="Calibri"/>
              </a:rPr>
              <a:t>Optimisation</a:t>
            </a:r>
            <a:endParaRPr sz="1400" b="1" dirty="0">
              <a:solidFill>
                <a:srgbClr val="6C757D"/>
              </a:solidFill>
              <a:latin typeface="Calibri"/>
            </a:endParaRPr>
          </a:p>
        </p:txBody>
      </p:sp>
      <p:sp>
        <p:nvSpPr>
          <p:cNvPr id="27" name="TextBox 26"/>
          <p:cNvSpPr txBox="1"/>
          <p:nvPr/>
        </p:nvSpPr>
        <p:spPr>
          <a:xfrm>
            <a:off x="8229600" y="3429000"/>
            <a:ext cx="3200400" cy="1538883"/>
          </a:xfrm>
          <a:prstGeom prst="rect">
            <a:avLst/>
          </a:prstGeom>
          <a:noFill/>
        </p:spPr>
        <p:txBody>
          <a:bodyPr wrap="square">
            <a:spAutoFit/>
          </a:bodyPr>
          <a:lstStyle/>
          <a:p>
            <a:pPr>
              <a:spcAft>
                <a:spcPts val="600"/>
              </a:spcAft>
            </a:pPr>
            <a:r>
              <a:rPr sz="1400" b="0" dirty="0">
                <a:solidFill>
                  <a:srgbClr val="2D2D2D"/>
                </a:solidFill>
                <a:latin typeface="Calibri"/>
              </a:rPr>
              <a:t>🔄 Integrate all tech into smart-campus ecosystem</a:t>
            </a:r>
          </a:p>
          <a:p>
            <a:pPr>
              <a:spcAft>
                <a:spcPts val="600"/>
              </a:spcAft>
            </a:pPr>
            <a:r>
              <a:rPr sz="1400" b="0" dirty="0">
                <a:solidFill>
                  <a:srgbClr val="2D2D2D"/>
                </a:solidFill>
                <a:latin typeface="Calibri"/>
              </a:rPr>
              <a:t>💰 </a:t>
            </a:r>
            <a:r>
              <a:rPr sz="1400" b="0" dirty="0" err="1">
                <a:solidFill>
                  <a:srgbClr val="2D2D2D"/>
                </a:solidFill>
                <a:latin typeface="Calibri"/>
              </a:rPr>
              <a:t>Monetise</a:t>
            </a:r>
            <a:r>
              <a:rPr sz="1400" b="0" dirty="0">
                <a:solidFill>
                  <a:srgbClr val="2D2D2D"/>
                </a:solidFill>
                <a:latin typeface="Calibri"/>
              </a:rPr>
              <a:t> VR content &amp; blockchain services</a:t>
            </a:r>
          </a:p>
          <a:p>
            <a:pPr>
              <a:spcAft>
                <a:spcPts val="600"/>
              </a:spcAft>
            </a:pPr>
            <a:r>
              <a:rPr sz="1400" b="0" dirty="0">
                <a:solidFill>
                  <a:srgbClr val="2D2D2D"/>
                </a:solidFill>
                <a:latin typeface="Calibri"/>
              </a:rPr>
              <a:t>📊 Comprehensive ROI evaluation &amp; strategy adjustment</a:t>
            </a:r>
          </a:p>
        </p:txBody>
      </p:sp>
      <p:sp>
        <p:nvSpPr>
          <p:cNvPr id="28" name="Rectangle 2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0" name="TextBox 2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Technology Synergy Ecosystem</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The four technologies reinforce one another</a:t>
            </a:r>
          </a:p>
        </p:txBody>
      </p:sp>
      <p:sp>
        <p:nvSpPr>
          <p:cNvPr id="6" name="Oval 5"/>
          <p:cNvSpPr/>
          <p:nvPr/>
        </p:nvSpPr>
        <p:spPr>
          <a:xfrm>
            <a:off x="4937760" y="2560320"/>
            <a:ext cx="2286000" cy="2286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20640" y="3200400"/>
            <a:ext cx="1920240" cy="914400"/>
          </a:xfrm>
          <a:prstGeom prst="rect">
            <a:avLst/>
          </a:prstGeom>
          <a:noFill/>
        </p:spPr>
        <p:txBody>
          <a:bodyPr wrap="square">
            <a:spAutoFit/>
          </a:bodyPr>
          <a:lstStyle/>
          <a:p>
            <a:pPr algn="ctr"/>
            <a:r>
              <a:rPr sz="2000" b="1">
                <a:solidFill>
                  <a:srgbClr val="FFFFFF"/>
                </a:solidFill>
                <a:latin typeface="Calibri"/>
              </a:rPr>
              <a:t>Smart
Campus
Ecosystem</a:t>
            </a:r>
          </a:p>
        </p:txBody>
      </p:sp>
      <p:sp>
        <p:nvSpPr>
          <p:cNvPr id="8" name="Oval 7"/>
          <p:cNvSpPr/>
          <p:nvPr/>
        </p:nvSpPr>
        <p:spPr>
          <a:xfrm>
            <a:off x="2499360" y="1915668"/>
            <a:ext cx="1645920" cy="164592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AI</a:t>
            </a:r>
          </a:p>
        </p:txBody>
      </p:sp>
      <p:sp>
        <p:nvSpPr>
          <p:cNvPr id="9" name="Oval 8"/>
          <p:cNvSpPr/>
          <p:nvPr/>
        </p:nvSpPr>
        <p:spPr>
          <a:xfrm>
            <a:off x="8066187" y="1915668"/>
            <a:ext cx="1645920" cy="1645920"/>
          </a:xfrm>
          <a:prstGeom prst="ellipse">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dirty="0">
                <a:solidFill>
                  <a:srgbClr val="FFFFFF"/>
                </a:solidFill>
              </a:rPr>
              <a:t>🥽 VR/AR</a:t>
            </a:r>
          </a:p>
        </p:txBody>
      </p:sp>
      <p:sp>
        <p:nvSpPr>
          <p:cNvPr id="10" name="Oval 9"/>
          <p:cNvSpPr/>
          <p:nvPr/>
        </p:nvSpPr>
        <p:spPr>
          <a:xfrm>
            <a:off x="2499360" y="4434840"/>
            <a:ext cx="1645920" cy="164592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5G &amp;
Edge</a:t>
            </a:r>
          </a:p>
        </p:txBody>
      </p:sp>
      <p:sp>
        <p:nvSpPr>
          <p:cNvPr id="11" name="Oval 10"/>
          <p:cNvSpPr/>
          <p:nvPr/>
        </p:nvSpPr>
        <p:spPr>
          <a:xfrm>
            <a:off x="8046720" y="4430267"/>
            <a:ext cx="1645920" cy="164592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dirty="0">
                <a:solidFill>
                  <a:srgbClr val="FFFFFF"/>
                </a:solidFill>
              </a:rPr>
              <a:t>🔗 Block-
chain</a:t>
            </a:r>
          </a:p>
        </p:txBody>
      </p:sp>
      <p:sp>
        <p:nvSpPr>
          <p:cNvPr id="12" name="Rounded Rectangle 11"/>
          <p:cNvSpPr/>
          <p:nvPr/>
        </p:nvSpPr>
        <p:spPr>
          <a:xfrm>
            <a:off x="304800" y="1920240"/>
            <a:ext cx="2072640" cy="16413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054164"/>
            <a:ext cx="1828800" cy="1384995"/>
          </a:xfrm>
          <a:prstGeom prst="rect">
            <a:avLst/>
          </a:prstGeom>
          <a:noFill/>
        </p:spPr>
        <p:txBody>
          <a:bodyPr wrap="square">
            <a:spAutoFit/>
          </a:bodyPr>
          <a:lstStyle/>
          <a:p>
            <a:pPr algn="l"/>
            <a:r>
              <a:rPr sz="1400" b="0" dirty="0">
                <a:solidFill>
                  <a:srgbClr val="2D2D2D"/>
                </a:solidFill>
                <a:latin typeface="Calibri"/>
              </a:rPr>
              <a:t>5G enables VR/AR:
High-bandwidth, low-latency
connectivity for immersive
experiences</a:t>
            </a:r>
          </a:p>
        </p:txBody>
      </p:sp>
      <p:sp>
        <p:nvSpPr>
          <p:cNvPr id="14" name="Rounded Rectangle 13"/>
          <p:cNvSpPr/>
          <p:nvPr/>
        </p:nvSpPr>
        <p:spPr>
          <a:xfrm>
            <a:off x="9814560" y="1915668"/>
            <a:ext cx="2011680" cy="16413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6000" y="2171576"/>
            <a:ext cx="1828800" cy="954107"/>
          </a:xfrm>
          <a:prstGeom prst="rect">
            <a:avLst/>
          </a:prstGeom>
          <a:noFill/>
        </p:spPr>
        <p:txBody>
          <a:bodyPr wrap="square">
            <a:spAutoFit/>
          </a:bodyPr>
          <a:lstStyle/>
          <a:p>
            <a:pPr algn="l"/>
            <a:r>
              <a:rPr sz="1400" b="0" dirty="0">
                <a:solidFill>
                  <a:srgbClr val="2D2D2D"/>
                </a:solidFill>
                <a:latin typeface="Calibri"/>
              </a:rPr>
              <a:t>AI enhances VR/AR:
</a:t>
            </a:r>
            <a:r>
              <a:rPr sz="1400" b="0" dirty="0" err="1">
                <a:solidFill>
                  <a:srgbClr val="2D2D2D"/>
                </a:solidFill>
                <a:latin typeface="Calibri"/>
              </a:rPr>
              <a:t>Personalises</a:t>
            </a:r>
            <a:r>
              <a:rPr sz="1400" b="0" dirty="0">
                <a:solidFill>
                  <a:srgbClr val="2D2D2D"/>
                </a:solidFill>
                <a:latin typeface="Calibri"/>
              </a:rPr>
              <a:t> learning
scenarios based on
student performance</a:t>
            </a:r>
          </a:p>
        </p:txBody>
      </p:sp>
      <p:sp>
        <p:nvSpPr>
          <p:cNvPr id="16" name="Rounded Rectangle 15"/>
          <p:cNvSpPr/>
          <p:nvPr/>
        </p:nvSpPr>
        <p:spPr>
          <a:xfrm>
            <a:off x="365760" y="4434840"/>
            <a:ext cx="2011680" cy="1691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8452"/>
            <a:ext cx="1828800" cy="1169551"/>
          </a:xfrm>
          <a:prstGeom prst="rect">
            <a:avLst/>
          </a:prstGeom>
          <a:noFill/>
        </p:spPr>
        <p:txBody>
          <a:bodyPr wrap="square">
            <a:spAutoFit/>
          </a:bodyPr>
          <a:lstStyle/>
          <a:p>
            <a:pPr algn="l"/>
            <a:r>
              <a:rPr sz="1400" b="0" dirty="0">
                <a:solidFill>
                  <a:srgbClr val="2D2D2D"/>
                </a:solidFill>
                <a:latin typeface="Calibri"/>
              </a:rPr>
              <a:t>Edge Computing
supports all:
Low-latency processing
for AI, VR &amp; IoT</a:t>
            </a:r>
          </a:p>
        </p:txBody>
      </p:sp>
      <p:sp>
        <p:nvSpPr>
          <p:cNvPr id="18" name="Rounded Rectangle 17"/>
          <p:cNvSpPr/>
          <p:nvPr/>
        </p:nvSpPr>
        <p:spPr>
          <a:xfrm>
            <a:off x="9814561" y="4310040"/>
            <a:ext cx="2011679" cy="1766147"/>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66960" y="4568684"/>
            <a:ext cx="1828800" cy="1188720"/>
          </a:xfrm>
          <a:prstGeom prst="rect">
            <a:avLst/>
          </a:prstGeom>
          <a:noFill/>
        </p:spPr>
        <p:txBody>
          <a:bodyPr wrap="square">
            <a:spAutoFit/>
          </a:bodyPr>
          <a:lstStyle/>
          <a:p>
            <a:pPr algn="l"/>
            <a:r>
              <a:rPr sz="1400" b="0" dirty="0">
                <a:solidFill>
                  <a:srgbClr val="2D2D2D"/>
                </a:solidFill>
                <a:latin typeface="Calibri"/>
              </a:rPr>
              <a:t>Blockchain secures
AI credentials:
Ensures integrity of
AI-generated evaluations</a:t>
            </a:r>
          </a:p>
        </p:txBody>
      </p:sp>
      <p:sp>
        <p:nvSpPr>
          <p:cNvPr id="20" name="Rectangle 1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2" name="TextBox 2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20</a:t>
            </a:r>
          </a:p>
        </p:txBody>
      </p:sp>
      <p:sp>
        <p:nvSpPr>
          <p:cNvPr id="23" name="Arrow: Down 22">
            <a:extLst>
              <a:ext uri="{FF2B5EF4-FFF2-40B4-BE49-F238E27FC236}">
                <a16:creationId xmlns:a16="http://schemas.microsoft.com/office/drawing/2014/main" id="{3534ADE4-48BA-538C-AF24-6CD207CA3A0C}"/>
              </a:ext>
            </a:extLst>
          </p:cNvPr>
          <p:cNvSpPr/>
          <p:nvPr/>
        </p:nvSpPr>
        <p:spPr>
          <a:xfrm rot="14533226">
            <a:off x="7429921" y="2650365"/>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4" name="Arrow: Down 23">
            <a:extLst>
              <a:ext uri="{FF2B5EF4-FFF2-40B4-BE49-F238E27FC236}">
                <a16:creationId xmlns:a16="http://schemas.microsoft.com/office/drawing/2014/main" id="{DF88B6E5-CCDE-3608-0D4F-F0D4FFB8E386}"/>
              </a:ext>
            </a:extLst>
          </p:cNvPr>
          <p:cNvSpPr/>
          <p:nvPr/>
        </p:nvSpPr>
        <p:spPr>
          <a:xfrm rot="18107008">
            <a:off x="7384199" y="4113935"/>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5" name="Arrow: Down 24">
            <a:extLst>
              <a:ext uri="{FF2B5EF4-FFF2-40B4-BE49-F238E27FC236}">
                <a16:creationId xmlns:a16="http://schemas.microsoft.com/office/drawing/2014/main" id="{D009CF5E-3E24-CED5-E4F5-E990ECA7D7F9}"/>
              </a:ext>
            </a:extLst>
          </p:cNvPr>
          <p:cNvSpPr/>
          <p:nvPr/>
        </p:nvSpPr>
        <p:spPr>
          <a:xfrm rot="3271811">
            <a:off x="4375233" y="4115316"/>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6" name="Arrow: Down 25">
            <a:extLst>
              <a:ext uri="{FF2B5EF4-FFF2-40B4-BE49-F238E27FC236}">
                <a16:creationId xmlns:a16="http://schemas.microsoft.com/office/drawing/2014/main" id="{6D3ED736-8F54-F3AB-F087-316C5161C384}"/>
              </a:ext>
            </a:extLst>
          </p:cNvPr>
          <p:cNvSpPr/>
          <p:nvPr/>
        </p:nvSpPr>
        <p:spPr>
          <a:xfrm rot="7344179">
            <a:off x="4372352" y="2648984"/>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Conclusion &amp; Recommendations</a:t>
            </a:r>
          </a:p>
        </p:txBody>
      </p:sp>
      <p:sp>
        <p:nvSpPr>
          <p:cNvPr id="5" name="Oval 4"/>
          <p:cNvSpPr/>
          <p:nvPr/>
        </p:nvSpPr>
        <p:spPr>
          <a:xfrm>
            <a:off x="640080" y="1600200"/>
            <a:ext cx="594360" cy="59436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1</a:t>
            </a:r>
          </a:p>
        </p:txBody>
      </p:sp>
      <p:sp>
        <p:nvSpPr>
          <p:cNvPr id="6" name="TextBox 5"/>
          <p:cNvSpPr txBox="1"/>
          <p:nvPr/>
        </p:nvSpPr>
        <p:spPr>
          <a:xfrm>
            <a:off x="1417320" y="1554480"/>
            <a:ext cx="3657600" cy="365760"/>
          </a:xfrm>
          <a:prstGeom prst="rect">
            <a:avLst/>
          </a:prstGeom>
          <a:noFill/>
        </p:spPr>
        <p:txBody>
          <a:bodyPr wrap="square">
            <a:spAutoFit/>
          </a:bodyPr>
          <a:lstStyle/>
          <a:p>
            <a:pPr algn="l"/>
            <a:r>
              <a:rPr sz="1800" b="1">
                <a:solidFill>
                  <a:srgbClr val="002B5C"/>
                </a:solidFill>
                <a:latin typeface="Calibri"/>
              </a:rPr>
              <a:t>Comprehensive Coverage</a:t>
            </a:r>
          </a:p>
        </p:txBody>
      </p:sp>
      <p:sp>
        <p:nvSpPr>
          <p:cNvPr id="7" name="TextBox 6"/>
          <p:cNvSpPr txBox="1"/>
          <p:nvPr/>
        </p:nvSpPr>
        <p:spPr>
          <a:xfrm>
            <a:off x="1417320" y="1901952"/>
            <a:ext cx="5029200" cy="365760"/>
          </a:xfrm>
          <a:prstGeom prst="rect">
            <a:avLst/>
          </a:prstGeom>
          <a:noFill/>
        </p:spPr>
        <p:txBody>
          <a:bodyPr wrap="square">
            <a:spAutoFit/>
          </a:bodyPr>
          <a:lstStyle/>
          <a:p>
            <a:pPr algn="l"/>
            <a:r>
              <a:rPr sz="1400" b="0">
                <a:solidFill>
                  <a:srgbClr val="2D2D2D"/>
                </a:solidFill>
                <a:latin typeface="Calibri"/>
              </a:rPr>
              <a:t>Four technologies address NYP's core challenges across the entire value chain</a:t>
            </a:r>
          </a:p>
        </p:txBody>
      </p:sp>
      <p:sp>
        <p:nvSpPr>
          <p:cNvPr id="8" name="Oval 7"/>
          <p:cNvSpPr/>
          <p:nvPr/>
        </p:nvSpPr>
        <p:spPr>
          <a:xfrm>
            <a:off x="640080" y="2560320"/>
            <a:ext cx="594360" cy="59436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2</a:t>
            </a:r>
          </a:p>
        </p:txBody>
      </p:sp>
      <p:sp>
        <p:nvSpPr>
          <p:cNvPr id="9" name="TextBox 8"/>
          <p:cNvSpPr txBox="1"/>
          <p:nvPr/>
        </p:nvSpPr>
        <p:spPr>
          <a:xfrm>
            <a:off x="1417320" y="2514600"/>
            <a:ext cx="3657600" cy="365760"/>
          </a:xfrm>
          <a:prstGeom prst="rect">
            <a:avLst/>
          </a:prstGeom>
          <a:noFill/>
        </p:spPr>
        <p:txBody>
          <a:bodyPr wrap="square">
            <a:spAutoFit/>
          </a:bodyPr>
          <a:lstStyle/>
          <a:p>
            <a:pPr algn="l"/>
            <a:r>
              <a:rPr sz="1800" b="1">
                <a:solidFill>
                  <a:srgbClr val="002B5C"/>
                </a:solidFill>
                <a:latin typeface="Calibri"/>
              </a:rPr>
              <a:t>Strong ROI</a:t>
            </a:r>
          </a:p>
        </p:txBody>
      </p:sp>
      <p:sp>
        <p:nvSpPr>
          <p:cNvPr id="10" name="TextBox 9"/>
          <p:cNvSpPr txBox="1"/>
          <p:nvPr/>
        </p:nvSpPr>
        <p:spPr>
          <a:xfrm>
            <a:off x="1417320" y="2862072"/>
            <a:ext cx="5029200" cy="365760"/>
          </a:xfrm>
          <a:prstGeom prst="rect">
            <a:avLst/>
          </a:prstGeom>
          <a:noFill/>
        </p:spPr>
        <p:txBody>
          <a:bodyPr wrap="square">
            <a:spAutoFit/>
          </a:bodyPr>
          <a:lstStyle/>
          <a:p>
            <a:pPr algn="l"/>
            <a:r>
              <a:rPr sz="1400" b="0">
                <a:solidFill>
                  <a:srgbClr val="2D2D2D"/>
                </a:solidFill>
                <a:latin typeface="Calibri"/>
              </a:rPr>
              <a:t>Combined five-year net return of ~SGD 32.3M on SGD 8.8–17.1M investment</a:t>
            </a:r>
          </a:p>
        </p:txBody>
      </p:sp>
      <p:sp>
        <p:nvSpPr>
          <p:cNvPr id="11" name="Oval 10"/>
          <p:cNvSpPr/>
          <p:nvPr/>
        </p:nvSpPr>
        <p:spPr>
          <a:xfrm>
            <a:off x="640080" y="3520440"/>
            <a:ext cx="594360" cy="59436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3</a:t>
            </a:r>
          </a:p>
        </p:txBody>
      </p:sp>
      <p:sp>
        <p:nvSpPr>
          <p:cNvPr id="12" name="TextBox 11"/>
          <p:cNvSpPr txBox="1"/>
          <p:nvPr/>
        </p:nvSpPr>
        <p:spPr>
          <a:xfrm>
            <a:off x="1417320" y="3474720"/>
            <a:ext cx="3657600" cy="365760"/>
          </a:xfrm>
          <a:prstGeom prst="rect">
            <a:avLst/>
          </a:prstGeom>
          <a:noFill/>
        </p:spPr>
        <p:txBody>
          <a:bodyPr wrap="square">
            <a:spAutoFit/>
          </a:bodyPr>
          <a:lstStyle/>
          <a:p>
            <a:pPr algn="l"/>
            <a:r>
              <a:rPr sz="1800" b="1">
                <a:solidFill>
                  <a:srgbClr val="002B5C"/>
                </a:solidFill>
                <a:latin typeface="Calibri"/>
              </a:rPr>
              <a:t>Managed Risk</a:t>
            </a:r>
          </a:p>
        </p:txBody>
      </p:sp>
      <p:sp>
        <p:nvSpPr>
          <p:cNvPr id="13" name="TextBox 12"/>
          <p:cNvSpPr txBox="1"/>
          <p:nvPr/>
        </p:nvSpPr>
        <p:spPr>
          <a:xfrm>
            <a:off x="1417320" y="3822192"/>
            <a:ext cx="5029200" cy="365760"/>
          </a:xfrm>
          <a:prstGeom prst="rect">
            <a:avLst/>
          </a:prstGeom>
          <a:noFill/>
        </p:spPr>
        <p:txBody>
          <a:bodyPr wrap="square">
            <a:spAutoFit/>
          </a:bodyPr>
          <a:lstStyle/>
          <a:p>
            <a:pPr algn="l"/>
            <a:r>
              <a:rPr sz="1400" b="0">
                <a:solidFill>
                  <a:srgbClr val="2D2D2D"/>
                </a:solidFill>
                <a:latin typeface="Calibri"/>
              </a:rPr>
              <a:t>Phased three-year roadmap with quick wins first (AI chatbot, blockchain)</a:t>
            </a:r>
          </a:p>
        </p:txBody>
      </p:sp>
      <p:sp>
        <p:nvSpPr>
          <p:cNvPr id="14" name="Oval 13"/>
          <p:cNvSpPr/>
          <p:nvPr/>
        </p:nvSpPr>
        <p:spPr>
          <a:xfrm>
            <a:off x="640080" y="4480560"/>
            <a:ext cx="594360" cy="59436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4</a:t>
            </a:r>
          </a:p>
        </p:txBody>
      </p:sp>
      <p:sp>
        <p:nvSpPr>
          <p:cNvPr id="15" name="TextBox 14"/>
          <p:cNvSpPr txBox="1"/>
          <p:nvPr/>
        </p:nvSpPr>
        <p:spPr>
          <a:xfrm>
            <a:off x="1417320" y="4434840"/>
            <a:ext cx="3657600" cy="365760"/>
          </a:xfrm>
          <a:prstGeom prst="rect">
            <a:avLst/>
          </a:prstGeom>
          <a:noFill/>
        </p:spPr>
        <p:txBody>
          <a:bodyPr wrap="square">
            <a:spAutoFit/>
          </a:bodyPr>
          <a:lstStyle/>
          <a:p>
            <a:pPr algn="l"/>
            <a:r>
              <a:rPr sz="1800" b="1">
                <a:solidFill>
                  <a:srgbClr val="002B5C"/>
                </a:solidFill>
                <a:latin typeface="Calibri"/>
              </a:rPr>
              <a:t>Synergy Multiplier</a:t>
            </a:r>
          </a:p>
        </p:txBody>
      </p:sp>
      <p:sp>
        <p:nvSpPr>
          <p:cNvPr id="16" name="TextBox 15"/>
          <p:cNvSpPr txBox="1"/>
          <p:nvPr/>
        </p:nvSpPr>
        <p:spPr>
          <a:xfrm>
            <a:off x="1417320" y="4782312"/>
            <a:ext cx="5029200" cy="365760"/>
          </a:xfrm>
          <a:prstGeom prst="rect">
            <a:avLst/>
          </a:prstGeom>
          <a:noFill/>
        </p:spPr>
        <p:txBody>
          <a:bodyPr wrap="square">
            <a:spAutoFit/>
          </a:bodyPr>
          <a:lstStyle/>
          <a:p>
            <a:pPr algn="l"/>
            <a:r>
              <a:rPr sz="1400" b="0" dirty="0">
                <a:solidFill>
                  <a:srgbClr val="2D2D2D"/>
                </a:solidFill>
                <a:latin typeface="Calibri"/>
              </a:rPr>
              <a:t>Technology synergies create a multiplier effect on ROI</a:t>
            </a:r>
          </a:p>
        </p:txBody>
      </p:sp>
      <p:sp>
        <p:nvSpPr>
          <p:cNvPr id="17" name="Oval 16"/>
          <p:cNvSpPr/>
          <p:nvPr/>
        </p:nvSpPr>
        <p:spPr>
          <a:xfrm>
            <a:off x="640080" y="5440680"/>
            <a:ext cx="594360" cy="59436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5</a:t>
            </a:r>
          </a:p>
        </p:txBody>
      </p:sp>
      <p:sp>
        <p:nvSpPr>
          <p:cNvPr id="18" name="TextBox 17"/>
          <p:cNvSpPr txBox="1"/>
          <p:nvPr/>
        </p:nvSpPr>
        <p:spPr>
          <a:xfrm>
            <a:off x="1417320" y="5394960"/>
            <a:ext cx="3657600" cy="365760"/>
          </a:xfrm>
          <a:prstGeom prst="rect">
            <a:avLst/>
          </a:prstGeom>
          <a:noFill/>
        </p:spPr>
        <p:txBody>
          <a:bodyPr wrap="square">
            <a:spAutoFit/>
          </a:bodyPr>
          <a:lstStyle/>
          <a:p>
            <a:pPr algn="l"/>
            <a:r>
              <a:rPr sz="1800" b="1">
                <a:solidFill>
                  <a:srgbClr val="002B5C"/>
                </a:solidFill>
                <a:latin typeface="Calibri"/>
              </a:rPr>
              <a:t>Market Leadership</a:t>
            </a:r>
          </a:p>
        </p:txBody>
      </p:sp>
      <p:sp>
        <p:nvSpPr>
          <p:cNvPr id="19" name="TextBox 18"/>
          <p:cNvSpPr txBox="1"/>
          <p:nvPr/>
        </p:nvSpPr>
        <p:spPr>
          <a:xfrm>
            <a:off x="1417320" y="5742432"/>
            <a:ext cx="5029200" cy="365760"/>
          </a:xfrm>
          <a:prstGeom prst="rect">
            <a:avLst/>
          </a:prstGeom>
          <a:noFill/>
        </p:spPr>
        <p:txBody>
          <a:bodyPr wrap="square">
            <a:spAutoFit/>
          </a:bodyPr>
          <a:lstStyle/>
          <a:p>
            <a:pPr algn="l"/>
            <a:r>
              <a:rPr sz="1400" b="0">
                <a:solidFill>
                  <a:srgbClr val="2D2D2D"/>
                </a:solidFill>
                <a:latin typeface="Calibri"/>
              </a:rPr>
              <a:t>Positions NYP as Singapore's leading polytechnic in the digital age</a:t>
            </a:r>
          </a:p>
        </p:txBody>
      </p:sp>
      <p:sp>
        <p:nvSpPr>
          <p:cNvPr id="20" name="Rounded Rectangle 19"/>
          <p:cNvSpPr/>
          <p:nvPr/>
        </p:nvSpPr>
        <p:spPr>
          <a:xfrm>
            <a:off x="6400800" y="1554480"/>
            <a:ext cx="5303520" cy="4572000"/>
          </a:xfrm>
          <a:prstGeom prst="round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75120" y="1828800"/>
            <a:ext cx="4754880" cy="457200"/>
          </a:xfrm>
          <a:prstGeom prst="rect">
            <a:avLst/>
          </a:prstGeom>
          <a:noFill/>
        </p:spPr>
        <p:txBody>
          <a:bodyPr wrap="square">
            <a:spAutoFit/>
          </a:bodyPr>
          <a:lstStyle/>
          <a:p>
            <a:pPr algn="l"/>
            <a:r>
              <a:rPr sz="2200" b="1">
                <a:solidFill>
                  <a:srgbClr val="009FDA"/>
                </a:solidFill>
                <a:latin typeface="Calibri"/>
              </a:rPr>
              <a:t>📋  Recommendation</a:t>
            </a:r>
          </a:p>
        </p:txBody>
      </p:sp>
      <p:sp>
        <p:nvSpPr>
          <p:cNvPr id="22" name="Rectangle 21"/>
          <p:cNvSpPr/>
          <p:nvPr/>
        </p:nvSpPr>
        <p:spPr>
          <a:xfrm>
            <a:off x="6675120" y="2286000"/>
            <a:ext cx="1828800" cy="45720"/>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675120" y="260604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720840" y="260604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25" name="TextBox 24"/>
          <p:cNvSpPr txBox="1"/>
          <p:nvPr/>
        </p:nvSpPr>
        <p:spPr>
          <a:xfrm>
            <a:off x="7132320" y="2560320"/>
            <a:ext cx="4297680" cy="640080"/>
          </a:xfrm>
          <a:prstGeom prst="rect">
            <a:avLst/>
          </a:prstGeom>
          <a:noFill/>
        </p:spPr>
        <p:txBody>
          <a:bodyPr wrap="square">
            <a:spAutoFit/>
          </a:bodyPr>
          <a:lstStyle/>
          <a:p>
            <a:pPr algn="l"/>
            <a:r>
              <a:rPr sz="1400" b="0" dirty="0">
                <a:solidFill>
                  <a:srgbClr val="FFFFFF"/>
                </a:solidFill>
                <a:latin typeface="Calibri"/>
              </a:rPr>
              <a:t>Approve Phase 1 funding
(SGD 3–5M for AI + Blockchain pilots)</a:t>
            </a:r>
          </a:p>
        </p:txBody>
      </p:sp>
      <p:sp>
        <p:nvSpPr>
          <p:cNvPr id="26" name="Oval 25"/>
          <p:cNvSpPr/>
          <p:nvPr/>
        </p:nvSpPr>
        <p:spPr>
          <a:xfrm>
            <a:off x="6675120" y="3337559"/>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20840" y="3337559"/>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28" name="TextBox 27"/>
          <p:cNvSpPr txBox="1"/>
          <p:nvPr/>
        </p:nvSpPr>
        <p:spPr>
          <a:xfrm>
            <a:off x="7132320" y="3291839"/>
            <a:ext cx="4297680" cy="640080"/>
          </a:xfrm>
          <a:prstGeom prst="rect">
            <a:avLst/>
          </a:prstGeom>
          <a:noFill/>
        </p:spPr>
        <p:txBody>
          <a:bodyPr wrap="square">
            <a:spAutoFit/>
          </a:bodyPr>
          <a:lstStyle/>
          <a:p>
            <a:pPr algn="l"/>
            <a:r>
              <a:rPr sz="1400" b="0" dirty="0">
                <a:solidFill>
                  <a:srgbClr val="FFFFFF"/>
                </a:solidFill>
                <a:latin typeface="Calibri"/>
              </a:rPr>
              <a:t>Establish Technology
Steering Committee</a:t>
            </a:r>
          </a:p>
        </p:txBody>
      </p:sp>
      <p:sp>
        <p:nvSpPr>
          <p:cNvPr id="29" name="Oval 28"/>
          <p:cNvSpPr/>
          <p:nvPr/>
        </p:nvSpPr>
        <p:spPr>
          <a:xfrm>
            <a:off x="6675120" y="406908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720840" y="406908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1" name="TextBox 30"/>
          <p:cNvSpPr txBox="1"/>
          <p:nvPr/>
        </p:nvSpPr>
        <p:spPr>
          <a:xfrm>
            <a:off x="7132320" y="4023360"/>
            <a:ext cx="4297680" cy="640080"/>
          </a:xfrm>
          <a:prstGeom prst="rect">
            <a:avLst/>
          </a:prstGeom>
          <a:noFill/>
        </p:spPr>
        <p:txBody>
          <a:bodyPr wrap="square">
            <a:spAutoFit/>
          </a:bodyPr>
          <a:lstStyle/>
          <a:p>
            <a:pPr algn="l"/>
            <a:r>
              <a:rPr sz="1400" b="0">
                <a:solidFill>
                  <a:srgbClr val="FFFFFF"/>
                </a:solidFill>
                <a:latin typeface="Calibri"/>
              </a:rPr>
              <a:t>Begin 5G partnership
discussions with Singtel/StarHub</a:t>
            </a:r>
          </a:p>
        </p:txBody>
      </p:sp>
      <p:sp>
        <p:nvSpPr>
          <p:cNvPr id="32" name="Oval 31"/>
          <p:cNvSpPr/>
          <p:nvPr/>
        </p:nvSpPr>
        <p:spPr>
          <a:xfrm>
            <a:off x="6675120" y="480060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480060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4" name="TextBox 33"/>
          <p:cNvSpPr txBox="1"/>
          <p:nvPr/>
        </p:nvSpPr>
        <p:spPr>
          <a:xfrm>
            <a:off x="7132320" y="4754880"/>
            <a:ext cx="4297680" cy="640080"/>
          </a:xfrm>
          <a:prstGeom prst="rect">
            <a:avLst/>
          </a:prstGeom>
          <a:noFill/>
        </p:spPr>
        <p:txBody>
          <a:bodyPr wrap="square">
            <a:spAutoFit/>
          </a:bodyPr>
          <a:lstStyle/>
          <a:p>
            <a:pPr algn="l"/>
            <a:r>
              <a:rPr sz="1400" b="0">
                <a:solidFill>
                  <a:srgbClr val="FFFFFF"/>
                </a:solidFill>
                <a:latin typeface="Calibri"/>
              </a:rPr>
              <a:t>Commission VR lab
prototype development</a:t>
            </a:r>
          </a:p>
        </p:txBody>
      </p:sp>
      <p:sp>
        <p:nvSpPr>
          <p:cNvPr id="35" name="Oval 34"/>
          <p:cNvSpPr/>
          <p:nvPr/>
        </p:nvSpPr>
        <p:spPr>
          <a:xfrm>
            <a:off x="6675120" y="553212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20840" y="553212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7" name="TextBox 36"/>
          <p:cNvSpPr txBox="1"/>
          <p:nvPr/>
        </p:nvSpPr>
        <p:spPr>
          <a:xfrm>
            <a:off x="7132320" y="5486400"/>
            <a:ext cx="4297680" cy="640080"/>
          </a:xfrm>
          <a:prstGeom prst="rect">
            <a:avLst/>
          </a:prstGeom>
          <a:noFill/>
        </p:spPr>
        <p:txBody>
          <a:bodyPr wrap="square">
            <a:spAutoFit/>
          </a:bodyPr>
          <a:lstStyle/>
          <a:p>
            <a:pPr algn="l"/>
            <a:r>
              <a:rPr sz="1400" b="0">
                <a:solidFill>
                  <a:srgbClr val="FFFFFF"/>
                </a:solidFill>
                <a:latin typeface="Calibri"/>
              </a:rPr>
              <a:t>Set up data governance
framework (PDPA compliance)</a:t>
            </a:r>
          </a:p>
        </p:txBody>
      </p:sp>
      <p:sp>
        <p:nvSpPr>
          <p:cNvPr id="38" name="Rectangle 3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0" name="TextBox 3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9144000" y="-1828800"/>
            <a:ext cx="7315200" cy="73152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2743200" y="3657600"/>
            <a:ext cx="6400800" cy="64008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828800" y="1371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058400" y="914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45920"/>
            <a:ext cx="10332720" cy="1371600"/>
          </a:xfrm>
          <a:prstGeom prst="rect">
            <a:avLst/>
          </a:prstGeom>
          <a:noFill/>
        </p:spPr>
        <p:txBody>
          <a:bodyPr wrap="square">
            <a:spAutoFit/>
          </a:bodyPr>
          <a:lstStyle/>
          <a:p>
            <a:pPr algn="ctr"/>
            <a:r>
              <a:rPr sz="6000" b="1">
                <a:solidFill>
                  <a:srgbClr val="FFFFFF"/>
                </a:solidFill>
                <a:latin typeface="Calibri Light"/>
              </a:rPr>
              <a:t>Thank You</a:t>
            </a:r>
          </a:p>
        </p:txBody>
      </p:sp>
      <p:sp>
        <p:nvSpPr>
          <p:cNvPr id="9" name="Rectangle 8"/>
          <p:cNvSpPr/>
          <p:nvPr/>
        </p:nvSpPr>
        <p:spPr>
          <a:xfrm>
            <a:off x="5029200" y="3200400"/>
            <a:ext cx="210312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3566160"/>
            <a:ext cx="10332720" cy="523220"/>
          </a:xfrm>
          <a:prstGeom prst="rect">
            <a:avLst/>
          </a:prstGeom>
          <a:noFill/>
        </p:spPr>
        <p:txBody>
          <a:bodyPr wrap="square">
            <a:spAutoFit/>
          </a:bodyPr>
          <a:lstStyle/>
          <a:p>
            <a:pPr algn="ctr"/>
            <a:r>
              <a:rPr sz="2800" b="0" dirty="0">
                <a:solidFill>
                  <a:schemeClr val="accent3">
                    <a:lumMod val="60000"/>
                    <a:lumOff val="40000"/>
                  </a:schemeClr>
                </a:solidFill>
                <a:latin typeface="Calibri Light"/>
              </a:rPr>
              <a:t>Questions &amp; Discussion</a:t>
            </a:r>
          </a:p>
        </p:txBody>
      </p:sp>
      <p:sp>
        <p:nvSpPr>
          <p:cNvPr id="23" name="TextBox 22"/>
          <p:cNvSpPr txBox="1"/>
          <p:nvPr/>
        </p:nvSpPr>
        <p:spPr>
          <a:xfrm>
            <a:off x="914400" y="4206240"/>
            <a:ext cx="10332720" cy="338554"/>
          </a:xfrm>
          <a:prstGeom prst="rect">
            <a:avLst/>
          </a:prstGeom>
          <a:noFill/>
        </p:spPr>
        <p:txBody>
          <a:bodyPr wrap="square">
            <a:spAutoFit/>
          </a:bodyPr>
          <a:lstStyle/>
          <a:p>
            <a:pPr algn="ctr"/>
            <a:r>
              <a:rPr sz="1600" b="0" dirty="0">
                <a:solidFill>
                  <a:srgbClr val="FFFF00"/>
                </a:solidFill>
                <a:latin typeface="Calibri"/>
              </a:rPr>
              <a:t>Nanyang Polytechnic  • </a:t>
            </a:r>
            <a:r>
              <a:rPr lang="en-US" sz="1600" dirty="0">
                <a:solidFill>
                  <a:srgbClr val="FFFF00"/>
                </a:solidFill>
                <a:latin typeface="Calibri"/>
              </a:rPr>
              <a:t> </a:t>
            </a:r>
            <a:r>
              <a:rPr lang="en-US" sz="1600" b="0" dirty="0">
                <a:solidFill>
                  <a:srgbClr val="FFFF00"/>
                </a:solidFill>
                <a:latin typeface="Calibri"/>
              </a:rPr>
              <a:t>19 </a:t>
            </a:r>
            <a:r>
              <a:rPr sz="1600" b="0" dirty="0">
                <a:solidFill>
                  <a:srgbClr val="FFFF00"/>
                </a:solidFill>
                <a:latin typeface="Calibri"/>
              </a:rPr>
              <a:t>February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471</TotalTime>
  <Words>6628</Words>
  <Application>Microsoft Office PowerPoint</Application>
  <PresentationFormat>Widescreen</PresentationFormat>
  <Paragraphs>730</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Clifton Chen</dc:creator>
  <cp:keywords/>
  <dc:description>generated using python-pptx</dc:description>
  <cp:lastModifiedBy>Clifton Chen</cp:lastModifiedBy>
  <cp:revision>13</cp:revision>
  <dcterms:created xsi:type="dcterms:W3CDTF">2013-01-27T09:14:16Z</dcterms:created>
  <dcterms:modified xsi:type="dcterms:W3CDTF">2026-02-22T05:47:43Z</dcterms:modified>
  <cp:category/>
</cp:coreProperties>
</file>