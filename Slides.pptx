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09FD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
(SGD B)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340</c:v>
                </c:pt>
                <c:pt idx="1">
                  <c:v>115</c:v>
                </c:pt>
                <c:pt idx="2">
                  <c:v>1.75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EF-46AE-9E8B-61BBEDAE2F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 (Projected)</c:v>
                </c:pt>
              </c:strCache>
            </c:strRef>
          </c:tx>
          <c:spPr>
            <a:solidFill>
              <a:srgbClr val="0A1F4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
(SGD B)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605</c:v>
                </c:pt>
                <c:pt idx="1">
                  <c:v>230</c:v>
                </c:pt>
                <c:pt idx="2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4EF-46AE-9E8B-61BBEDAE2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 dirty="0"/>
                  <a:t>Market</a:t>
                </a:r>
                <a:endParaRPr lang="en-SG" dirty="0"/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-2113994440"/>
        <c:crossesAt val="0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lang="en-SG" dirty="0"/>
                  <a:t>Market Size</a:t>
                </a:r>
                <a:r>
                  <a:rPr lang="en-SG" baseline="0" dirty="0"/>
                  <a:t> (</a:t>
                </a:r>
                <a:r>
                  <a:rPr lang="en-SG" baseline="0" dirty="0" err="1"/>
                  <a:t>Bilions</a:t>
                </a:r>
                <a:r>
                  <a:rPr lang="en-SG" baseline="0" dirty="0"/>
                  <a:t>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3.75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CC4-4102-BFD8-CFC2CFE3E4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A65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6.5</c:v>
                </c:pt>
                <c:pt idx="2">
                  <c:v>7.5</c:v>
                </c:pt>
                <c:pt idx="3">
                  <c:v>8</c:v>
                </c:pt>
                <c:pt idx="4">
                  <c:v>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CC4-4102-BFD8-CFC2CFE3E4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4762594779819184"/>
          <c:y val="0.88586949092300982"/>
          <c:w val="0.30474810440361622"/>
          <c:h val="8.374856463254593E-2"/>
        </c:manualLayout>
      </c:layout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>
        <c:manualLayout>
          <c:layoutTarget val="inner"/>
          <c:xMode val="edge"/>
          <c:yMode val="edge"/>
          <c:x val="7.848972003499563E-2"/>
          <c:y val="6.9390105533683286E-2"/>
          <c:w val="0.85459463400408286"/>
          <c:h val="0.64763540299650046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3.45</c:v>
                </c:pt>
                <c:pt idx="1">
                  <c:v>1.5</c:v>
                </c:pt>
                <c:pt idx="2">
                  <c:v>1.2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8C8-4293-9602-D2A22DD85F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B89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4</c:v>
                </c:pt>
                <c:pt idx="2">
                  <c:v>5.5</c:v>
                </c:pt>
                <c:pt idx="3">
                  <c:v>6</c:v>
                </c:pt>
                <c:pt idx="4">
                  <c:v>6.5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8C8-4293-9602-D2A22DD85F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34762594779819184"/>
          <c:y val="0.91625143536745401"/>
          <c:w val="0.30474810440361622"/>
          <c:h val="8.374856463254593E-2"/>
        </c:manualLayout>
      </c:layout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4.25</c:v>
                </c:pt>
                <c:pt idx="1">
                  <c:v>2</c:v>
                </c:pt>
                <c:pt idx="2">
                  <c:v>1.5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6D3-478D-92FF-07456B83FA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FD793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2</c:v>
                </c:pt>
                <c:pt idx="2">
                  <c:v>3.5</c:v>
                </c:pt>
                <c:pt idx="3">
                  <c:v>4.5</c:v>
                </c:pt>
                <c:pt idx="4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6D3-478D-92FF-07456B83F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0.4</c:v>
                </c:pt>
                <c:pt idx="2">
                  <c:v>0.3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4-45C9-BCC4-4EBAF731E4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CCD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>1</c:v>
                </c:pt>
                <c:pt idx="4">
                  <c:v>1.2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944-45C9-BCC4-4EBAF731E4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6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en-US" sz="1800" dirty="0"/>
              <a:t>5-Year Net Return (SGD Millions)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5-Year Net Return (SGD M)</c:v>
                </c:pt>
              </c:strCache>
            </c:strRef>
          </c:tx>
          <c:dPt>
            <c:idx val="0"/>
            <c:bubble3D val="0"/>
            <c:spPr>
              <a:solidFill>
                <a:srgbClr val="6C5CE7"/>
              </a:solidFill>
            </c:spPr>
            <c:extLst>
              <c:ext xmlns:c16="http://schemas.microsoft.com/office/drawing/2014/chart" uri="{C3380CC4-5D6E-409C-BE32-E72D297353CC}">
                <c16:uniqueId val="{00000001-C8D8-4657-96EA-9DD18DC683B7}"/>
              </c:ext>
            </c:extLst>
          </c:dPt>
          <c:dPt>
            <c:idx val="1"/>
            <c:bubble3D val="0"/>
            <c:spPr>
              <a:solidFill>
                <a:srgbClr val="00B894"/>
              </a:solidFill>
            </c:spPr>
            <c:extLst>
              <c:ext xmlns:c16="http://schemas.microsoft.com/office/drawing/2014/chart" uri="{C3380CC4-5D6E-409C-BE32-E72D297353CC}">
                <c16:uniqueId val="{00000003-C8D8-4657-96EA-9DD18DC683B7}"/>
              </c:ext>
            </c:extLst>
          </c:dPt>
          <c:dPt>
            <c:idx val="2"/>
            <c:bubble3D val="0"/>
            <c:spPr>
              <a:solidFill>
                <a:srgbClr val="FD7936"/>
              </a:solidFill>
            </c:spPr>
            <c:extLst>
              <c:ext xmlns:c16="http://schemas.microsoft.com/office/drawing/2014/chart" uri="{C3380CC4-5D6E-409C-BE32-E72D297353CC}">
                <c16:uniqueId val="{00000005-C8D8-4657-96EA-9DD18DC683B7}"/>
              </c:ext>
            </c:extLst>
          </c:dPt>
          <c:dPt>
            <c:idx val="3"/>
            <c:bubble3D val="0"/>
            <c:spPr>
              <a:solidFill>
                <a:srgbClr val="00CCD3"/>
              </a:solidFill>
            </c:spPr>
            <c:extLst>
              <c:ext xmlns:c16="http://schemas.microsoft.com/office/drawing/2014/chart" uri="{C3380CC4-5D6E-409C-BE32-E72D297353CC}">
                <c16:uniqueId val="{00000007-C8D8-4657-96EA-9DD18DC683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AI</c:v>
                </c:pt>
                <c:pt idx="1">
                  <c:v>VR/AR</c:v>
                </c:pt>
                <c:pt idx="2">
                  <c:v>5G &amp; Edge</c:v>
                </c:pt>
                <c:pt idx="3">
                  <c:v>Blockchain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</c:v>
                </c:pt>
                <c:pt idx="1">
                  <c:v>10.3</c:v>
                </c:pt>
                <c:pt idx="2">
                  <c:v>4.8</c:v>
                </c:pt>
                <c:pt idx="3">
                  <c:v>1.59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8D8-4657-96EA-9DD18DC683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l"/>
      <c:layout>
        <c:manualLayout>
          <c:xMode val="edge"/>
          <c:yMode val="edge"/>
          <c:x val="2.6614824806693246E-2"/>
          <c:y val="0.2989761609265576"/>
          <c:w val="0.21148540294448911"/>
          <c:h val="0.4641611761114614"/>
        </c:manualLayout>
      </c:layout>
      <c:overlay val="1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488358-CE1D-4105-A4E8-A5EFE35A96D8}" type="datetimeFigureOut">
              <a:rPr lang="en-SG" smtClean="0"/>
              <a:t>18/2/2026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5E3E3-35E6-4890-8A0A-99047F4971E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6455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5E3E3-35E6-4890-8A0A-99047F4971E8}" type="slidenum">
              <a:rPr lang="en-SG" smtClean="0"/>
              <a:t>14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88514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91440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TEAM PROPOSAL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920240"/>
            <a:ext cx="109728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 Light"/>
              </a:rPr>
              <a:t>Emerging Technologies
for Nanyang Polytechnic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E9ECEF"/>
                </a:solidFill>
                <a:latin typeface="Calibri"/>
              </a:rPr>
              <a:t>Competency Unit: Emerging Technologies </a:t>
            </a:r>
            <a:r>
              <a:rPr lang="en-US" sz="1600" b="0" dirty="0">
                <a:solidFill>
                  <a:srgbClr val="E9ECEF"/>
                </a:solidFill>
                <a:latin typeface="Calibri"/>
              </a:rPr>
              <a:t>Synthesis</a:t>
            </a:r>
            <a:endParaRPr sz="1600" b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" y="4937760"/>
            <a:ext cx="2148840" cy="109728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014109"/>
            <a:ext cx="242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🤖  Clifton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Chen Yi-231220B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03020" y="5486383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Artificial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474720" y="4937760"/>
            <a:ext cx="2057400" cy="109728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40184" y="4979257"/>
            <a:ext cx="18004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FFFFF"/>
                </a:solidFill>
                <a:latin typeface="Calibri"/>
              </a:rPr>
              <a:t>🥽  Collin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Koh Soon Ming -253991P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03320" y="55205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Virtual/Augmented Reality – VR/AR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852160" y="4937759"/>
            <a:ext cx="2103120" cy="1105989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4960267"/>
            <a:ext cx="1965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📡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Shin Thant Aung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Alex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– 243816M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57900" y="5609729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5G &amp; Edge Computing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937759"/>
            <a:ext cx="2103120" cy="1105989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49304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🔗  Declan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Chua Yuan Lok - 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12480" y="5576500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Blockchain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65967" y="4114801"/>
            <a:ext cx="344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b="0" dirty="0">
                <a:solidFill>
                  <a:srgbClr val="FFFF00"/>
                </a:solidFill>
                <a:latin typeface="Calibri"/>
              </a:rPr>
              <a:t> 19 </a:t>
            </a:r>
            <a:r>
              <a:rPr sz="1400" b="0" dirty="0">
                <a:solidFill>
                  <a:srgbClr val="FFFF00"/>
                </a:solidFill>
                <a:latin typeface="Calibri"/>
              </a:rPr>
              <a:t>February 2026  |  Sector: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Presentation Overview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Key findings &amp; investment highlights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60020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Organisation &amp; Value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NYP profile, educational value chain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3464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Problems &amp;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Six core challenges mapped to value chain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Market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Market sizing &amp; revenue potential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069080"/>
            <a:ext cx="640080" cy="64008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Technology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C757D"/>
                </a:solidFill>
                <a:latin typeface="Calibri"/>
              </a:rPr>
              <a:t>AI · VR/AR · 5G &amp; Edge · Blockchain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069080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Investment &amp; ROI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Consolidated cost-benefit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30352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Implementation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Three-phase plan &amp; technology synergy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303520"/>
            <a:ext cx="640080" cy="64008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Conclusion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Recommendations &amp; next steps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technologies, one smart campus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560320" cy="64008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423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dirty="0">
                <a:solidFill>
                  <a:srgbClr val="009FDA"/>
                </a:solidFill>
                <a:latin typeface="Calibri"/>
              </a:rPr>
              <a:t>SGD 8.8–17.1M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Year 1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Investment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5603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A65A"/>
                </a:solidFill>
                <a:latin typeface="Calibri"/>
              </a:rPr>
              <a:t>SGD 10.5–23M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Projected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Annual Returns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25603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B700"/>
                </a:solidFill>
                <a:latin typeface="Calibri"/>
              </a:rPr>
              <a:t>1–2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Breakeven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Period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60020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C5CE7"/>
                </a:solidFill>
                <a:latin typeface="Calibri"/>
              </a:rPr>
              <a:t>SGD 32.3M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Five-Year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Net Return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017520"/>
            <a:ext cx="2651760" cy="13716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813" y="3140404"/>
            <a:ext cx="3112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FFFFFF"/>
                </a:solidFill>
                <a:latin typeface="Calibri"/>
              </a:rPr>
              <a:t>🤖  A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rtificial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Intelligence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 (AI)</a:t>
            </a:r>
            <a:endParaRPr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3591851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Reduce admin costs by SGD 2–4M/yr
Improve retention 10–15%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017520"/>
            <a:ext cx="2651760" cy="1371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6160" y="3083560"/>
            <a:ext cx="2529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🥽 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Virtual/Augmented Reality – VR/AR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66160" y="367031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Expand training capacity
SGD 2–5M/yr B2B licensing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017520"/>
            <a:ext cx="2651760" cy="137160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171182"/>
            <a:ext cx="259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📡  5G &amp; Edge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 Computing 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16040" y="3606256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Smart-campus backbone
Lower energy costs 10–15%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3017520"/>
            <a:ext cx="2651760" cy="137160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32004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🔗  Blockchain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61188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Verify credentials in seconds
Cut manual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50–70%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54880"/>
            <a:ext cx="1106424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9487" y="4916896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>
                <a:solidFill>
                  <a:srgbClr val="002B5C"/>
                </a:solidFill>
                <a:latin typeface="Calibri"/>
              </a:rPr>
              <a:t>💡  A phased three-year implementation roadmap manages risk while the four technologies reinforce one another to form a cohesive smart-campus ecosystem — positioning NYP as Singapore's leading polytechnic in the digital age.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Organisation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Nanyang Polytechnic (NYP)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485900" y="17145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289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9FDA"/>
                </a:solidFill>
                <a:latin typeface="Calibri"/>
              </a:rPr>
              <a:t>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1992
Ang Mo Kio, S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ingapore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320540" y="17145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👩‍🎓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426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A65A"/>
                </a:solidFill>
                <a:latin typeface="Calibri"/>
              </a:rPr>
              <a:t>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~15,000 FT
+ CET learners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55180" y="1710154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🏛️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9388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C5CE7"/>
                </a:solidFill>
                <a:latin typeface="Calibri"/>
              </a:rPr>
              <a:t>Schools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6 Schools
across disciplines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89820" y="1710154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59153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B700"/>
                </a:solidFill>
                <a:latin typeface="Calibri"/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SGD 200–300M
(MOE-funded)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11064240" cy="82296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399" y="3799332"/>
            <a:ext cx="103327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chemeClr val="bg1"/>
                </a:solidFill>
                <a:latin typeface="Calibri"/>
              </a:rPr>
              <a:t>🎯  Mission: </a:t>
            </a:r>
            <a:r>
              <a:rPr lang="en-US" sz="1400" dirty="0">
                <a:solidFill>
                  <a:schemeClr val="bg1"/>
                </a:solidFill>
              </a:rPr>
              <a:t>Empowering Learners for Work &amp; Life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Co-creating with Industry for Growth &amp; Sustainability</a:t>
            </a:r>
          </a:p>
          <a:p>
            <a:pPr algn="ctr"/>
            <a:endParaRPr sz="1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Business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Design &amp; Media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Health &amp; Social Sciences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Applied Science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NYP's Educational Value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End-to-end activities delivering value to students, employers &amp; government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21792" y="20574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Recruitment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66544" y="2057400"/>
            <a:ext cx="777240" cy="77724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Curriculum
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11296" y="2057400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098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Teaching &amp;
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6048" y="20574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400800" y="2057400"/>
            <a:ext cx="777240" cy="77724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Assessment &amp;
Certification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845552" y="2057400"/>
            <a:ext cx="777240" cy="77724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Industry
Partnerships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427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90304" y="2057400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CET
Programs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614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902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0735056" y="2057400"/>
            <a:ext cx="777240" cy="77724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474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Campus
Operations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9487" y="4592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002B5C"/>
                </a:solidFill>
                <a:latin typeface="Calibri"/>
              </a:rPr>
              <a:t>Each activity represents an area where emerging technologies can create measurable improvements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Current Problems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Six core challenges mapped to the value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474720" cy="64008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78308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Scalability of
Personalised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Large class sizes limit individual 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2286000" cy="365760"/>
          </a:xfrm>
          <a:prstGeom prst="round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600200"/>
            <a:ext cx="34747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434840" y="178308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Limited Hands-On
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Physical lab constraints &amp; costly equipment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108960"/>
            <a:ext cx="2286000" cy="36576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2440" y="1600200"/>
            <a:ext cx="3474720" cy="64008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0" y="178308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Campus Connectivity
Limitations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Bandwidth bottlenecks during peak hours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108960"/>
            <a:ext cx="2286000" cy="365760"/>
          </a:xfrm>
          <a:prstGeom prst="round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4023359"/>
            <a:ext cx="34747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" y="4206239"/>
            <a:ext cx="640080" cy="64008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Certificate Fraud &amp;
Verification Delays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3–10 working days for manual verification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532119"/>
            <a:ext cx="2286000" cy="36576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Assessment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97680" y="4023359"/>
            <a:ext cx="34747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434840" y="4206239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Rising Competition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Five polytechnics + universities competing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5532119"/>
            <a:ext cx="2286000" cy="36576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26280" y="5559551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Recruitment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92440" y="4023359"/>
            <a:ext cx="34747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600" y="4206239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Environmental &amp;
Sustainability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37759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Carbon footprint, SG Green Plan 2030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5532119"/>
            <a:ext cx="2286000" cy="365760"/>
          </a:xfrm>
          <a:prstGeom prst="round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Market Size &amp; Revenue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Singapore education &amp; global EdTech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SGD 13B/yr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SG government education budget (15–20% of national budget)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Full-time polytechnic students across five institutions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~21%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79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NYP's share of the polytechnic market (~15,000 students)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USD 340B → 605B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" y="4480560"/>
            <a:ext cx="60062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2D2D2D"/>
                </a:solidFill>
                <a:latin typeface="Calibri"/>
              </a:rPr>
              <a:t>Global EdTech market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2024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→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2027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(16% </a:t>
            </a:r>
            <a:r>
              <a:rPr lang="en-SG" sz="1400" b="0" dirty="0">
                <a:solidFill>
                  <a:srgbClr val="2D2D2D"/>
                </a:solidFill>
                <a:latin typeface="Calibri"/>
              </a:rPr>
              <a:t>C</a:t>
            </a:r>
            <a:r>
              <a:rPr lang="en-SG" sz="1400" dirty="0"/>
              <a:t>ompound Annual Growth Rate - CAGR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SGD 1.5–2B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Calibri"/>
              </a:rPr>
              <a:t>Singapore EdTech market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SkillsFuture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&amp; IMDA driven)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305276"/>
              </p:ext>
            </p:extLst>
          </p:nvPr>
        </p:nvGraphicFramePr>
        <p:xfrm>
          <a:off x="6339535" y="1609344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" y="571500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929487" y="5888736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Revenue Streams:  AI-powered CET courses  |  VR content licensing  |  Blockchain verification services  |  Smart-campus consulting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Technology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emerging technologies mapped to NYP's value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Artificial Intelligence (AI)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Clifton 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Chen Yi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|  Team Lead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6C5CE7"/>
                </a:solidFill>
                <a:latin typeface="Calibri"/>
              </a:rPr>
              <a:t>AI Technologies for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Machine Learning (ML) — Algorithms that improve through experience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Natural Language Processing — Understanding &amp; generating human language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Computer Vision — Interpreting visual information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Generative AI — Content creation, Q&amp;A, creative 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🎯 Adaptive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 paths;
identify at-risk students early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💬 AI Chatbots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24/7 student support;
reduce admin workload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📝 Auto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NLP grading; auto-grade
coding assignments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📊 Predictive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Forecast student success;
target interventions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7949"/>
            <a:ext cx="5394960" cy="11887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14781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📌 Real-World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0344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Georgia State University's AI chatbot "Pounce" reduced
summer enrollment melt by 21% through proactive engagement.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AI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440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32"/>
            <a:ext cx="4572000" cy="1795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 student retention by 10–15%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Reduce admin costs by SGD 2–4M/year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New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revenue</a:t>
            </a:r>
            <a:r>
              <a:rPr lang="en-US" sz="1400" dirty="0">
                <a:solidFill>
                  <a:srgbClr val="2D2D2D"/>
                </a:solidFill>
                <a:latin typeface="Calibri"/>
              </a:rPr>
              <a:t>: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SGD 5–10M/year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24/7 learning &amp; support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Enhanced competitive positioning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948644"/>
              </p:ext>
            </p:extLst>
          </p:nvPr>
        </p:nvGraphicFramePr>
        <p:xfrm>
          <a:off x="6095847" y="1527895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91135"/>
            <a:ext cx="5425135" cy="73897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4769429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15.6M  |  226% ROI  |  Breakeven: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213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60634"/>
            <a:ext cx="5029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privacy &amp; PDPA compliance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Resistance to change from staff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quality &amp; governance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Integration with existing 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Learning Management System/Information Technology (LMS/IT)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0133"/>
            <a:ext cx="1130130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 Light"/>
              </a:rPr>
              <a:t>Immersive Media (V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irtual Reality/Augmented Reality </a:t>
            </a:r>
            <a:r>
              <a:rPr sz="3400" b="1" dirty="0">
                <a:solidFill>
                  <a:srgbClr val="FFFFFF"/>
                </a:solidFill>
                <a:latin typeface="Calibri Light"/>
              </a:rPr>
              <a:t>)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 – AR/VR</a:t>
            </a:r>
            <a:endParaRPr sz="3400" b="1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785368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Collin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Koh Soon Ming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B894"/>
                </a:solidFill>
                <a:latin typeface="Calibri"/>
              </a:rPr>
              <a:t>VR/AR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Virtual Reality (VR) — Fully immersive 3D environments (Meta Quest, HTC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Vive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Augmented Reality (AR) — Digital overlays on real world (HoloLens, Vision Pro)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Mixed Reality (MR) — Blends physical and digital interaction in real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🔬 Virtual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Safe, repeatable simulations
for engineering &amp;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🌐 Immersive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3D overlays of anatomy,
architecture, machines via 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🏫 Virtual Campus Tours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27257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Attract international students
with 360°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🏭 Industry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2615" y="4206240"/>
            <a:ext cx="228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Aviation, construction, hospitality
VR simulations for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94360" y="3683677"/>
            <a:ext cx="5394960" cy="82296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777240" y="3814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📈  VR/AR training improves knowledge retention by 75%
     compared to traditional methods (PwC, 2022)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709160"/>
            <a:ext cx="5394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757251"/>
            <a:ext cx="5303520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87036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B894"/>
                </a:solidFill>
                <a:latin typeface="Calibri"/>
              </a:rPr>
              <a:t>📌 Real-World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51797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Labster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: 3,000+ institutions, 200+ virtual lab experiments.
Microsoft HoloLens: 3D holographic anatomy in medical schools.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VR/AR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9987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Expand practical training beyond physical lab limits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Reduce equipment maintenance costs by 15–25%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75% better knowledge retention vs. traditional methods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B2B licensing revenue: SGD 2–5M/year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Enhanced student recruitment via virtual tours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280403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72000"/>
            <a:ext cx="548640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754880"/>
            <a:ext cx="5120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Five-year net return: ~SGD 10.3M  |  198% ROI  | 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Breakeven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1997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72263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initial HW/content investment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content development skills needed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Motion sickness &amp; accessibility concerns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Hardware refresh every 2–3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Shint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Thant Aung Alex 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D7936"/>
                </a:solidFill>
                <a:latin typeface="Calibri"/>
              </a:rPr>
              <a:t>5G Capabilities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⚡ 20 Gbps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Ultra-high speed
(20× faster than 4G)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0604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5176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⏱️ 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Ultra-low latency
(vs 30–50ms for 4G)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92024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2628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5987" y="2172700"/>
            <a:ext cx="2150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FD7936"/>
                </a:solidFill>
                <a:latin typeface="Calibri"/>
              </a:rPr>
              <a:t>📱 1M devices/km²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5067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Massive connectivity
&amp; network slicing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🏢 Smart Campus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IoT sensors, smart energy,
parking &amp; navigation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📺 Hybrid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4K/8K streaming, real-time
collaboration, remote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🔌 VR/AR &amp; AI Enabler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High-bandwidth backbone
for immersive workloads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🔒 Campus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surveillance, access
control, emergency alerts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40480"/>
            <a:ext cx="5394960" cy="109728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Edge Computing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251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Brings computation closer to data sources. Reduces latency,
improves response times, and supports real-time AI &amp; VR apps.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20640"/>
            <a:ext cx="53949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" y="5166360"/>
            <a:ext cx="5303520" cy="54864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25780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📌 NUS achieved 15% energy savings via smart building IoT + edge computing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246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4907"/>
            <a:ext cx="502920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Modernised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campus infrastructure for next-gen apps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10–15% energy cost savings via smart building management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Foundation for VR/AR, AI, and IoT initiatives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Improved campus safety &amp; security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Students gain hands-on 5G experience (employability)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912957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62856"/>
            <a:ext cx="548640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344920" y="4724876"/>
            <a:ext cx="5232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4.8M  |  67% ROI  |  Breakeven: Year 3–4
Infrastructure investment enables &amp; accelerates ROI of other three technologies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515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infrastructure costs; partner with telcos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Spectrum allocation (IMDA regulatory approval)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Cybersecurity risks with massive device connectivity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technical expertise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Certificate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Declan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Chua Yuan Lok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CCD3"/>
                </a:solidFill>
                <a:latin typeface="Calibri"/>
              </a:rPr>
              <a:t>How Blockchain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Decentralised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ledger across network of nodes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Each block contains transactions + hash of previous block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Consensus required to add blocks (tamper-proof)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Once added, blocks cannot be modified or removed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📜 Digital Diplomas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Cryptographically signed on
blockchain; instant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🏅 Micro-Credentials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Stackable skill badges on
LinkedIn (Python, Data, etc.)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⚡ Fast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Seconds vs. 3–10 days;
zero manual processing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📋 Academic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Tamper-proof transcripts;
cross-institution transfers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74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Before vs After: Verification Process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" y="4002384"/>
            <a:ext cx="2537460" cy="155543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54380" y="4050792"/>
            <a:ext cx="2354580" cy="54864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172783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14D4D"/>
                </a:solidFill>
                <a:latin typeface="Calibri"/>
              </a:rPr>
              <a:t>❌ Before (Manual)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1" y="4552286"/>
            <a:ext cx="24688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Email request → Admin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istrator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check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
→ Verify records → Send letter
⏱️ 3–10 working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4689" y="455228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39" y="4002384"/>
            <a:ext cx="2346961" cy="168362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825240" y="4053100"/>
            <a:ext cx="2194560" cy="76975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60" y="420624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A65A"/>
                </a:solidFill>
                <a:latin typeface="Calibri"/>
              </a:rPr>
              <a:t>✅ After (Blockchain)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6689" y="4559413"/>
            <a:ext cx="21945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Input certificate hash
→ Blockchain confirms
⏱️ Seconds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808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42498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Eliminate manual verification (50–70%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labour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cut)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Tamper-proof credentials protect institutional reputation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Align with SG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&amp; Smart Nation initiatives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Portable, cross-border credentials for graduates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Employers verify in seconds, not days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059783"/>
              </p:ext>
            </p:extLst>
          </p:nvPr>
        </p:nvGraphicFramePr>
        <p:xfrm>
          <a:off x="6095847" y="1567011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095847" y="4628728"/>
            <a:ext cx="548640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278727" y="4747515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1.59M  |  88% ROI  |  Breakeven: Year 3
Low cost; strategic value exceeds financial return (credibility, fraud elimination)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28347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85547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Stakeholder adoption (employers, institutions)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Interoperability across blockchain platforms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User education for students, staff &amp; employers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Secure cryptographic hash implementation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Investment &amp;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Consolidated financials, phased implementation, and technology synergy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Consolidated Investment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Year-1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Annual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57276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5-Year 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57276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Breakeven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73152" cy="4572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640080" y="207568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🤖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2.5–5M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5–10M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07568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15.6M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07568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87168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548640" y="2487168"/>
            <a:ext cx="73152" cy="45720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TextBox 19"/>
          <p:cNvSpPr txBox="1"/>
          <p:nvPr/>
        </p:nvSpPr>
        <p:spPr>
          <a:xfrm>
            <a:off x="640080" y="255117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🥽 VR/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AR 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8328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2.3–4.6M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2–5M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551176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10.3M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551176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62656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6" name="Rectangle 25"/>
          <p:cNvSpPr/>
          <p:nvPr/>
        </p:nvSpPr>
        <p:spPr>
          <a:xfrm>
            <a:off x="548640" y="2962656"/>
            <a:ext cx="73152" cy="457200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7" name="TextBox 26"/>
          <p:cNvSpPr txBox="1"/>
          <p:nvPr/>
        </p:nvSpPr>
        <p:spPr>
          <a:xfrm>
            <a:off x="640080" y="3026664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📡 5G &amp; 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Edge Computing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8328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3–5.5M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1.5–3M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26664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4.8M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26664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Yr 3–4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38144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3" name="Rectangle 32"/>
          <p:cNvSpPr/>
          <p:nvPr/>
        </p:nvSpPr>
        <p:spPr>
          <a:xfrm>
            <a:off x="548640" y="3438144"/>
            <a:ext cx="73152" cy="457200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4" name="TextBox 33"/>
          <p:cNvSpPr txBox="1"/>
          <p:nvPr/>
        </p:nvSpPr>
        <p:spPr>
          <a:xfrm>
            <a:off x="640080" y="350215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🔗 Blockchain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1–2M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0.5–1M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50215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1.59M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0215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13632"/>
            <a:ext cx="10058400" cy="5029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0" name="TextBox 39"/>
          <p:cNvSpPr txBox="1"/>
          <p:nvPr/>
        </p:nvSpPr>
        <p:spPr>
          <a:xfrm>
            <a:off x="640080" y="400507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8.8–17.1M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10.5–23M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00507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32.3M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00507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Yr 1–2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954522"/>
              </p:ext>
            </p:extLst>
          </p:nvPr>
        </p:nvGraphicFramePr>
        <p:xfrm>
          <a:off x="3430540" y="4483982"/>
          <a:ext cx="4294599" cy="22440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457200" y="5111496"/>
            <a:ext cx="3107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Five-Year Net Return Distribution</a:t>
            </a:r>
            <a:r>
              <a:rPr lang="en-US" sz="1400" b="1" dirty="0">
                <a:solidFill>
                  <a:srgbClr val="002B5C"/>
                </a:solidFill>
                <a:latin typeface="Calibri"/>
              </a:rPr>
              <a:t> across the 4 technologies</a:t>
            </a:r>
            <a:endParaRPr sz="1400" b="1" dirty="0">
              <a:solidFill>
                <a:srgbClr val="002B5C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Three-Phase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A phased approach to manage risk and </a:t>
            </a:r>
            <a:r>
              <a:rPr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maximise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R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eturn Of Investment (R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OI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)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698480" cy="54864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011680" y="1828800"/>
            <a:ext cx="411480" cy="4114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2996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3474720" cy="73152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Calibri"/>
              </a:rPr>
              <a:t>Year 1: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3200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Deploy AI chatbot for student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Implement blockchain credentials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Begin 5G infrastructure planning &amp; pilot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Develop first VR lab prototypes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1828800"/>
            <a:ext cx="411480" cy="4114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2472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2514600"/>
            <a:ext cx="3474720" cy="73152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A65A"/>
                </a:solidFill>
                <a:latin typeface="Calibri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2: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429000"/>
            <a:ext cx="32004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Scale AI adaptive learning across all schools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Launch 10+ VR virtual labs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Deploy 5G campus-wide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Expand blockchain to micro-credentials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0" y="1828800"/>
            <a:ext cx="411480" cy="4114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1948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2514600"/>
            <a:ext cx="3474720" cy="7315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3: </a:t>
            </a:r>
            <a:r>
              <a:rPr sz="1400" b="1" dirty="0" err="1">
                <a:solidFill>
                  <a:srgbClr val="6C757D"/>
                </a:solidFill>
                <a:latin typeface="Calibri"/>
              </a:rPr>
              <a:t>Optimisation</a:t>
            </a:r>
            <a:endParaRPr sz="1400" b="1" dirty="0">
              <a:solidFill>
                <a:srgbClr val="6C757D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0" y="3429000"/>
            <a:ext cx="32004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🔄 Integrate all tech into smart-campus ecosystem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💰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Monetise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VR content &amp; blockchain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📊 Comprehensive ROI evaluation &amp; strategy adjustment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Technology Synergy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The four technologies reinforce one another</a:t>
            </a:r>
          </a:p>
        </p:txBody>
      </p:sp>
      <p:sp>
        <p:nvSpPr>
          <p:cNvPr id="6" name="Oval 5"/>
          <p:cNvSpPr/>
          <p:nvPr/>
        </p:nvSpPr>
        <p:spPr>
          <a:xfrm>
            <a:off x="4937760" y="2560320"/>
            <a:ext cx="2286000" cy="2286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20640" y="32004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Smart
Campus
Ecosystem</a:t>
            </a:r>
          </a:p>
        </p:txBody>
      </p:sp>
      <p:sp>
        <p:nvSpPr>
          <p:cNvPr id="8" name="Oval 7"/>
          <p:cNvSpPr/>
          <p:nvPr/>
        </p:nvSpPr>
        <p:spPr>
          <a:xfrm>
            <a:off x="2499360" y="1915668"/>
            <a:ext cx="1645920" cy="164592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🤖 AI</a:t>
            </a:r>
          </a:p>
        </p:txBody>
      </p:sp>
      <p:sp>
        <p:nvSpPr>
          <p:cNvPr id="9" name="Oval 8"/>
          <p:cNvSpPr/>
          <p:nvPr/>
        </p:nvSpPr>
        <p:spPr>
          <a:xfrm>
            <a:off x="8066187" y="1915668"/>
            <a:ext cx="1645920" cy="164592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🥽 VR/AR</a:t>
            </a:r>
          </a:p>
        </p:txBody>
      </p:sp>
      <p:sp>
        <p:nvSpPr>
          <p:cNvPr id="10" name="Oval 9"/>
          <p:cNvSpPr/>
          <p:nvPr/>
        </p:nvSpPr>
        <p:spPr>
          <a:xfrm>
            <a:off x="2499360" y="4434840"/>
            <a:ext cx="1645920" cy="164592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📡 5G &amp;
Edge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0" y="4430267"/>
            <a:ext cx="1645920" cy="164592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🔗 Block-
chain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" y="1920240"/>
            <a:ext cx="207264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54164"/>
            <a:ext cx="1828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5G enables VR/AR:
High-bandwidth, low-latency
connectivity for immersive
experiences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4560" y="1915668"/>
            <a:ext cx="201168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6000" y="2171576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enhances VR/AR:
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
scenarios based on
student 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201168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8452"/>
            <a:ext cx="18288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Edge Computing
supports all:
Low-latency processing
for AI, VR &amp; IoT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14561" y="4310040"/>
            <a:ext cx="2011679" cy="176614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66960" y="4568684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Blockchain secures
AI credentials:
Ensures integrity of
AI-generated evaluations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20</a:t>
            </a:r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3534ADE4-48BA-538C-AF24-6CD207CA3A0C}"/>
              </a:ext>
            </a:extLst>
          </p:cNvPr>
          <p:cNvSpPr/>
          <p:nvPr/>
        </p:nvSpPr>
        <p:spPr>
          <a:xfrm rot="14533226">
            <a:off x="7429921" y="265036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DF88B6E5-CCDE-3608-0D4F-F0D4FFB8E386}"/>
              </a:ext>
            </a:extLst>
          </p:cNvPr>
          <p:cNvSpPr/>
          <p:nvPr/>
        </p:nvSpPr>
        <p:spPr>
          <a:xfrm rot="18107008">
            <a:off x="7384199" y="411393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D009CF5E-3E24-CED5-E4F5-E990ECA7D7F9}"/>
              </a:ext>
            </a:extLst>
          </p:cNvPr>
          <p:cNvSpPr/>
          <p:nvPr/>
        </p:nvSpPr>
        <p:spPr>
          <a:xfrm rot="3271811">
            <a:off x="4375233" y="4115316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6D3ED736-8F54-F3AB-F087-316C5161C384}"/>
              </a:ext>
            </a:extLst>
          </p:cNvPr>
          <p:cNvSpPr/>
          <p:nvPr/>
        </p:nvSpPr>
        <p:spPr>
          <a:xfrm rot="7344179">
            <a:off x="4372352" y="2648984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Conclusion &amp; Recommendations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Comprehensive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Four technologies address NYP's core challenges across the entire value chain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60320"/>
            <a:ext cx="594360" cy="59436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Strong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62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Combined five-year net return of ~SGD 32.3M on SGD 8.8–17.1M investment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20440"/>
            <a:ext cx="594360" cy="5943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Managed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22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Phased three-year roadmap with quick wins first (AI chatbot, blockchain)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594360" cy="5943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Synergy Multiplier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823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Technology synergies create a multiplier effect on ROI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440680"/>
            <a:ext cx="594360" cy="59436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Market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742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Positions NYP as Singapore's leading polytechnic in the digital 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554480"/>
            <a:ext cx="5303520" cy="45720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📋  Recommendation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2286000"/>
            <a:ext cx="1828800" cy="45720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75120" y="260604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2606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5603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Approve Phase 1 funding
(SGD 3–5M for AI + Blockchain pilots)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3337559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29183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Establish Technology
Steering Committee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406908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0233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Begin 5G partnership
discussions with Singtel/StarHub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480060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0840" y="4800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548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Commission VR lab
prototype development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553212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532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4864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Set up data governance
framework (PDPA compliance)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3200400"/>
            <a:ext cx="210312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0332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54880"/>
            <a:ext cx="2103120" cy="100584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🤖  Clifton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57800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4720" y="4754880"/>
            <a:ext cx="210312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🥽  Collin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57800"/>
            <a:ext cx="2057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irtual Reality / Augmented Reality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852160" y="4754880"/>
            <a:ext cx="210312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📡  Alex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5G &amp; Edge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 Computing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29600" y="4754880"/>
            <a:ext cx="210312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🔗  Declan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Blockchain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FFFF00"/>
                </a:solidFill>
                <a:latin typeface="Calibri"/>
              </a:rPr>
              <a:t>Nanyang Polytechnic  • </a:t>
            </a:r>
            <a:r>
              <a:rPr lang="en-US" sz="16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600" b="0" dirty="0">
                <a:solidFill>
                  <a:srgbClr val="FFFF00"/>
                </a:solidFill>
                <a:latin typeface="Calibri"/>
              </a:rPr>
              <a:t>19 </a:t>
            </a:r>
            <a:r>
              <a:rPr sz="1600" b="0" dirty="0">
                <a:solidFill>
                  <a:srgbClr val="FFFF00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2244</Words>
  <Application>Microsoft Office PowerPoint</Application>
  <PresentationFormat>Widescreen</PresentationFormat>
  <Paragraphs>422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Clifton Chen</dc:creator>
  <cp:keywords/>
  <dc:description>generated using python-pptx</dc:description>
  <cp:lastModifiedBy>Clifton Chen</cp:lastModifiedBy>
  <cp:revision>7</cp:revision>
  <dcterms:created xsi:type="dcterms:W3CDTF">2013-01-27T09:14:16Z</dcterms:created>
  <dcterms:modified xsi:type="dcterms:W3CDTF">2026-02-18T16:34:10Z</dcterms:modified>
  <cp:category/>
</cp:coreProperties>
</file>